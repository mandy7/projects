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5d7c31-a6cb-0b74-ba81-2c5e9ceb304c}">
          <p14:sldIdLst>
            <p14:sldId id="256"/>
          </p14:sldIdLst>
        </p14:section>
        <p14:section name="Analytics" id="{ea02c70e-1f1d-b205-705a-f620ed681518}">
          <p14:sldIdLst>
            <p14:sldId id="257"/>
            <p14:sldId id="258"/>
            <p14:sldId id="259"/>
          </p14:sldIdLst>
        </p14:section>
        <p14:section name="Market and competitors" id="{81f28274-6b7e-b7fd-26d5-4dc135c2089e}">
          <p14:sldIdLst>
            <p14:sldId id="260"/>
            <p14:sldId id="261"/>
          </p14:sldIdLst>
        </p14:section>
        <p14:section name="Tests" id="{d4f59bf8-9983-7f30-c593-84c67c9f9352}">
          <p14:sldIdLst>
            <p14:sldId id="262"/>
            <p14:sldId id="263"/>
            <p14:sldId id="264"/>
          </p14:sldIdLst>
        </p14:section>
        <p14:section name="Plan" id="{e353f7ea-7819-1519-a05e-4c4da5be48f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D2E"/>
                </a:solidFill>
                <a:latin typeface="+mn-lt"/>
              </a:defRPr>
            </a:pPr>
            <a:r>
              <a:rPr sz="1400" b="0" i="0" u="none" strike="noStrike">
                <a:solidFill>
                  <a:srgbClr val="1A1D2E"/>
                </a:solidFill>
                <a:latin typeface="+mn-lt"/>
              </a:rPr>
              <a:t>Login rate by platform (%)</a:t>
            </a:r>
          </a:p>
        </c:rich>
      </c:tx>
      <c:layout/>
      <c:overlay val="0"/>
    </c:title>
    <c:autoTitleDeleted val="0"/>
    <c:plotArea>
      <c:layout/>
      <c:barChart>
        <c:barDir val="col"/>
        <c:grouping val="clustered"/>
        <c:varyColors val="0"/>
        <c:ser>
          <c:idx val="0"/>
          <c:order val="0"/>
          <c:tx>
            <c:strRef>
              <c:f>Sheet1!$B$1</c:f>
              <c:strCache>
                <c:ptCount val="1"/>
                <c:pt idx="0">
                  <c:v>Login rate</c:v>
                </c:pt>
              </c:strCache>
            </c:strRef>
          </c:tx>
          <c:spPr>
            <a:solidFill>
              <a:srgbClr val="9CA3AF"/>
            </a:solidFill>
            <a:effectLst/>
          </c:spPr>
          <c:invertIfNegative val="0"/>
          <c:dLbls>
            <c:numFmt formatCode="0.0&quot;%&quot;" sourceLinked="0"/>
            <c:txPr>
              <a:bodyPr/>
              <a:lstStyle/>
              <a:p>
                <a:pPr>
                  <a:defRPr b="0" i="0" strike="noStrike" sz="1300" u="none">
                    <a:solidFill>
                      <a:srgbClr val="1A1D2E"/>
                    </a:solidFill>
                    <a:latin typeface="+mn-lt"/>
                  </a:defRPr>
                </a:pPr>
              </a:p>
            </c:txPr>
            <c:showLegendKey val="0"/>
            <c:showVal val="1"/>
            <c:showCatName val="0"/>
            <c:showSerName val="0"/>
            <c:showPercent val="0"/>
            <c:showBubbleSize val="0"/>
            <c:showLeaderLines val="0"/>
          </c:dLbls>
          <c:dPt>
            <c:idx val="0"/>
            <c:invertIfNegative val="0"/>
            <c:bubble3D val="0"/>
            <c:spPr>
              <a:solidFill>
                <a:srgbClr val="9CA3AF"/>
              </a:solidFill>
              <a:effectLst/>
            </c:spPr>
          </c:dPt>
          <c:dPt>
            <c:idx val="1"/>
            <c:invertIfNegative val="0"/>
            <c:bubble3D val="0"/>
            <c:spPr>
              <a:solidFill>
                <a:srgbClr val="F26B21"/>
              </a:solidFill>
              <a:effectLst/>
            </c:spPr>
          </c:dPt>
          <c:cat>
            <c:multiLvlStrRef>
              <c:f>Sheet1!$A$2:$A$3</c:f>
              <c:multiLvlStrCache>
                <c:ptCount val="2"/>
                <c:lvl>
                  <c:pt idx="0">
                    <c:v>Desktop web</c:v>
                  </c:pt>
                  <c:pt idx="1">
                    <c:v>Mobile web</c:v>
                  </c:pt>
                </c:lvl>
              </c:multiLvlStrCache>
            </c:multiLvlStrRef>
          </c:cat>
          <c:val>
            <c:numRef>
              <c:f>Sheet1!$B$2:$B$3</c:f>
              <c:numCache>
                <c:formatCode>General</c:formatCode>
                <c:ptCount val="2"/>
                <c:pt idx="0">
                  <c:v>16.64</c:v>
                </c:pt>
                <c:pt idx="1">
                  <c:v>2.39</c:v>
                </c:pt>
              </c:numCache>
            </c:numRef>
          </c:val>
        </c:ser>
        <c:dLbls>
          <c:numFmt formatCode="0.0&quot;%&quot;" sourceLinked="0"/>
          <c:txPr>
            <a:bodyPr/>
            <a:lstStyle/>
            <a:p>
              <a:pPr>
                <a:defRPr b="0" i="0" strike="noStrike" sz="1300" u="none">
                  <a:solidFill>
                    <a:srgbClr val="1A1D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D2E"/>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D2E"/>
                </a:solidFill>
                <a:latin typeface="+mn-lt"/>
              </a:defRPr>
            </a:pPr>
            <a:r>
              <a:rPr sz="1400" b="0" i="0" u="none" strike="noStrike">
                <a:solidFill>
                  <a:srgbClr val="1A1D2E"/>
                </a:solidFill>
                <a:latin typeface="+mn-lt"/>
              </a:rPr>
              <a:t>Login rate by the page the user viewed (%)</a:t>
            </a:r>
          </a:p>
        </c:rich>
      </c:tx>
      <c:layout/>
      <c:overlay val="0"/>
    </c:title>
    <c:autoTitleDeleted val="0"/>
    <c:plotArea>
      <c:layout/>
      <c:barChart>
        <c:barDir val="bar"/>
        <c:grouping val="clustered"/>
        <c:varyColors val="0"/>
        <c:ser>
          <c:idx val="0"/>
          <c:order val="0"/>
          <c:tx>
            <c:strRef>
              <c:f>Sheet1!$B$1</c:f>
              <c:strCache>
                <c:ptCount val="1"/>
                <c:pt idx="0">
                  <c:v>Login rate</c:v>
                </c:pt>
              </c:strCache>
            </c:strRef>
          </c:tx>
          <c:spPr>
            <a:solidFill>
              <a:srgbClr val="9CA3AF"/>
            </a:solidFill>
            <a:effectLst/>
          </c:spPr>
          <c:invertIfNegative val="0"/>
          <c:dLbls>
            <c:numFmt formatCode="0.00&quot;%&quot;" sourceLinked="0"/>
            <c:txPr>
              <a:bodyPr/>
              <a:lstStyle/>
              <a:p>
                <a:pPr>
                  <a:defRPr b="0" i="0" strike="noStrike" sz="1300" u="none">
                    <a:solidFill>
                      <a:srgbClr val="1A1D2E"/>
                    </a:solidFill>
                    <a:latin typeface="+mn-lt"/>
                  </a:defRPr>
                </a:pPr>
              </a:p>
            </c:txPr>
            <c:showLegendKey val="0"/>
            <c:showVal val="1"/>
            <c:showCatName val="0"/>
            <c:showSerName val="0"/>
            <c:showPercent val="0"/>
            <c:showBubbleSize val="0"/>
            <c:showLeaderLines val="0"/>
          </c:dLbls>
          <c:dPt>
            <c:idx val="0"/>
            <c:invertIfNegative val="0"/>
            <c:bubble3D val="0"/>
            <c:spPr>
              <a:solidFill>
                <a:srgbClr val="9CA3AF"/>
              </a:solidFill>
              <a:effectLst/>
            </c:spPr>
          </c:dPt>
          <c:dPt>
            <c:idx val="1"/>
            <c:invertIfNegative val="0"/>
            <c:bubble3D val="0"/>
            <c:spPr>
              <a:solidFill>
                <a:srgbClr val="9CA3AF"/>
              </a:solidFill>
              <a:effectLst/>
            </c:spPr>
          </c:dPt>
          <c:dPt>
            <c:idx val="2"/>
            <c:invertIfNegative val="0"/>
            <c:bubble3D val="0"/>
            <c:spPr>
              <a:solidFill>
                <a:srgbClr val="F26B21"/>
              </a:solidFill>
              <a:effectLst/>
            </c:spPr>
          </c:dPt>
          <c:dPt>
            <c:idx val="3"/>
            <c:invertIfNegative val="0"/>
            <c:bubble3D val="0"/>
            <c:spPr>
              <a:solidFill>
                <a:srgbClr val="F26B21"/>
              </a:solidFill>
              <a:effectLst/>
            </c:spPr>
          </c:dPt>
          <c:dPt>
            <c:idx val="4"/>
            <c:invertIfNegative val="0"/>
            <c:bubble3D val="0"/>
            <c:spPr>
              <a:solidFill>
                <a:srgbClr val="F26B21"/>
              </a:solidFill>
              <a:effectLst/>
            </c:spPr>
          </c:dPt>
          <c:cat>
            <c:multiLvlStrRef>
              <c:f>Sheet1!$A$2:$A$6</c:f>
              <c:multiLvlStrCache>
                <c:ptCount val="5"/>
                <c:lvl>
                  <c:pt idx="0">
                    <c:v>Homepage</c:v>
                  </c:pt>
                  <c:pt idx="1">
                    <c:v>Register page</c:v>
                  </c:pt>
                  <c:pt idx="2">
                    <c:v>Contra NFO page</c:v>
                  </c:pt>
                  <c:pt idx="3">
                    <c:v>Flexicap fund page</c:v>
                  </c:pt>
                  <c:pt idx="4">
                    <c:v>Flexicap campaign page</c:v>
                  </c:pt>
                </c:lvl>
              </c:multiLvlStrCache>
            </c:multiLvlStrRef>
          </c:cat>
          <c:val>
            <c:numRef>
              <c:f>Sheet1!$B$2:$B$6</c:f>
              <c:numCache>
                <c:formatCode>General</c:formatCode>
                <c:ptCount val="5"/>
                <c:pt idx="0">
                  <c:v>17.07</c:v>
                </c:pt>
                <c:pt idx="1">
                  <c:v>9.34</c:v>
                </c:pt>
                <c:pt idx="2">
                  <c:v>0.21</c:v>
                </c:pt>
                <c:pt idx="3">
                  <c:v>0.19</c:v>
                </c:pt>
                <c:pt idx="4">
                  <c:v>0.01</c:v>
                </c:pt>
              </c:numCache>
            </c:numRef>
          </c:val>
        </c:ser>
        <c:dLbls>
          <c:numFmt formatCode="0.00&quot;%&quot;" sourceLinked="0"/>
          <c:txPr>
            <a:bodyPr/>
            <a:lstStyle/>
            <a:p>
              <a:pPr>
                <a:defRPr b="0" i="0" strike="noStrike" sz="1300" u="none">
                  <a:solidFill>
                    <a:srgbClr val="1A1D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D2E"/>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for discussion. All analytics are from the ICICI Prudential AMC NVECTA account. Funnels 3563 and 3545, platform and page breakdowns, login messages, failures and NFO page views use the explicit window 14 Sep - 13 Oct 2026. Other saved funnels and reports are quoted with their stored date ranges, so only their rates are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rate = users who viewed a page and later fired Login within the window (funnel 3563). Login is a lead proxy, not a purchase: guest checkout exists at /pre-login/transaction, so the 0.21% understates purchase intent. Payment-to-success step conversion: 70.1%, 71.3%, 76.9%, 76.7% across the four saved funnels. 5,053 failure events are web and m-site Transaction Failed events; 3,754 are UPI payment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3563 is named 'Untitled' in NVECTA; rename it. Page users: Homepage 136,852 to 23,363 logins; /sign-in/register 184,250 to 17,206; Contra NFO page 264,253 to 565; Flexicap fund detail 134,795 to 258; /flexicap-funds 61,311 to 5. Step-1 users overlap across pages. Contra page traffic: Google cpc 213,838 users; Meta 39,602; Zee Business roadblock 5,662; Netcore WhatsApp 2,143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Homepage users 182,274 (page_view) with 17.07% reaching Login in funnel 3563. Sign-up completion 41.3% (funnel 3086: 7,318 to 3,022; steps 1 to 2 lose 34.6%). Web folio creation 72.8% complete, bank step loses 16.0%. Credential recovery: 16,196 users on forgot-password plus 10,415 on forgot-login-id against 111,856 on /sign-in. 'In PoC' pages are assumed to be within reach (NFO/fund pages via content team or NVECTA on-site tools, homepage, post-login surfaces): confirm in Week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SEBI Investor Survey 2025 (Kantar, 90,000+ households): awareness 53%, penetration 6.7%. The 74/73/51 barrier percentages appear in one secondary summary (Finnovate) and need checking against SEBI's report. NFO collections Jan-Jun 2026 Rs 12,420 crore, down 35% (Cafemutual); Apr-Jun quarter a five-year low (Upstox). B-30 registrations from SEBI data via Upstox. UPI cap Rs 5 lakh per transaction from 15 Sep 2025, bank rollout uneven (Cafemutual, Angel One). Women are 29% of active SIPs (CAMS), a distinct audience for goal-led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ICICI column is anchored on NVECTA evidence: NFO page 0.21% login and 87.8% bounce (saved report); NFO listing /mutual-fund/nfo has 2,601 users; mobile-web login 2.39% vs 16.64%; iAssist voice and text search events and a Generate AI Overview event exist. The peer columns are an analyst judgement from public patterns up to mid-2026: competitor sites could not be opened from our environment, so re-score them in a live mobile walkthrough, and overlay the Axis MF and HDFC MF designs already made. Nippon India MF reported moving to persona-led journeys with Adobe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after the scoping call: tests that need OTP or Google sign-in integration, onboarding changes or the transaction page are parked for ICICI Pru engineering (see last slide). T1 keeps the sticky CTA and drops inline OTP capture; lead capture moves to T3 using NVECTA forms, WhatsApp or web push. T2 is a content test made sharper by matching the page to the traffic source. Post-login tests T5 and T6 follow the age-cohort swap pattern used with Motilal Oswal. Traffic: Contra page Google cpc 213,838 users and Meta 39,602 in 30 days; 87.8% bounce is from a saved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sizes use n = 15.68 x p(1-p) / delta squared per arm. T1: 0.21% to 0.32%. T2: bounce 87.8% to 84.8% (saved report, window not shown). T4: 17.07% to 18.4%. T5: baselines are Fund Details to Transaction Investment Details 37.2% (funnel 2862) and Our Funds to Transaction Investment Details 39.6% (funnel 2860), saved ranges. T6: SIP share is 5,670 SIP users vs 27,791 lumpsum users in 30 days; users overlap. T3 has no baseline: success threshold of 1% of visitors opting in, then purchases against a 10% holdout using NVECTA's campaign control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already exist in NVECTA: age bands (0-25, 25-35, 35-50, 50 plus), R1, R5 and HNI cohorts by asset class, SIP flags, lifecycle (Hyper_Active, Casual, Dormant, Lapsed), Lumpsum_Only_To_SIP, SIP_Only_To_Lumpsum, Debt_Fund_To_Equity, Investors_Without_ELSS, RFM. The Our_Funds_Dynamic_Deeplink_Live journey (77,838 entries) is a base for T5. Journey health: Add_to_cart_app has 1,544,103 entries and no goal; Transaction_Type_Selected_Dropoff 549,867 entries and 995 goal conversions; NFO Midweek 141,023 entries, stopped, no goal. Use the Axis MF and HDFC MF NFO page and banner designs as starting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0 tracking fixes: CTA click and notify-me events on /info/ and fund pages (Fund Details fires on only 21 web users against 31,279 in the apps); a step attribute on Sign_Up events; campaign ID carried through login and checkout (99.4% of transactions in the saved ROAS report carry no paid attribution); exclude staging hosts (betatest, localhost, marketing-content) from production data; set a Transaction Success goal on every running journey; pin each saved funnel to an explicit date range. Proposed success criteria: T1 and at least two of T2 to T6 significant on their primary metric with no guardrail breached.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60120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400" b="1" dirty="0">
                <a:solidFill>
                  <a:schemeClr val="bg1"/>
                </a:solidFill>
              </a:rPr>
              <a:t>Conversion PoC for ICICI Prudential AMC</a:t>
            </a:r>
            <a:endParaRPr lang="en-US" sz="4400" dirty="0"/>
          </a:p>
        </p:txBody>
      </p:sp>
      <p:sp>
        <p:nvSpPr>
          <p:cNvPr id="3" name="Text 0"/>
          <p:cNvSpPr/>
          <p:nvPr>
            <p:ph idx="101" type="body" hasCustomPrompt="1"/>
          </p:nvPr>
        </p:nvSpPr>
        <p:spPr>
          <a:xfrm>
            <a:off x="731520" y="3657600"/>
            <a:ext cx="9601200" cy="914400"/>
          </a:xfrm>
          <a:prstGeom prst="rect">
            <a:avLst/>
          </a:prstGeom>
          <a:noFill/>
          <a:ln/>
        </p:spPr>
        <p:txBody>
          <a:bodyPr wrap="square" lIns="0" tIns="0" rIns="0" bIns="0" rtlCol="0" anchor="t"/>
          <a:lstStyle/>
          <a:p>
            <a:pPr algn="l" indent="0" marL="0">
              <a:buNone/>
            </a:pPr>
            <a:r>
              <a:rPr lang="en-US" sz="2000" dirty="0">
                <a:solidFill>
                  <a:schemeClr val="bg2"/>
                </a:solidFill>
              </a:rPr>
              <a:t>What the analytics says, what investors and peers do, and the tests we propose to start</a:t>
            </a:r>
            <a:endParaRPr lang="en-US" sz="2000" dirty="0"/>
          </a:p>
        </p:txBody>
      </p:sp>
      <p:sp>
        <p:nvSpPr>
          <p:cNvPr id="4" name="Date line"/>
          <p:cNvSpPr txBox="1"/>
          <p:nvPr/>
        </p:nvSpPr>
        <p:spPr>
          <a:xfrm>
            <a:off x="731520" y="5943600"/>
            <a:ext cx="10058400" cy="365760"/>
          </a:xfrm>
          <a:prstGeom prst="rect">
            <a:avLst/>
          </a:prstGeom>
          <a:noFill/>
          <a:ln/>
        </p:spPr>
        <p:txBody>
          <a:bodyPr wrap="square" lIns="0" tIns="0" rIns="0" bIns="0" rtlCol="0" anchor="ctr"/>
          <a:lstStyle/>
          <a:p>
            <a:pPr indent="0" marL="0">
              <a:buNone/>
            </a:pPr>
            <a:r>
              <a:rPr lang="en-US" sz="1400" dirty="0">
                <a:solidFill>
                  <a:srgbClr val="9CA3AF"/>
                </a:solidFill>
              </a:rPr>
              <a:t>NVECTA data 14 Sep - 13 Oct 2026  |  Draft for discussion  |  14 Oct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Most of the conversion gap sits on mobile web and campaign pages</a:t>
            </a:r>
            <a:endParaRPr lang="en-US" sz="2800" dirty="0"/>
          </a:p>
        </p:txBody>
      </p:sp>
      <p:sp>
        <p:nvSpPr>
          <p:cNvPr id="3" name="Stat card 1"/>
          <p:cNvSpPr/>
          <p:nvPr/>
        </p:nvSpPr>
        <p:spPr>
          <a:xfrm>
            <a:off x="548640" y="1463040"/>
            <a:ext cx="5440680" cy="1783080"/>
          </a:xfrm>
          <a:prstGeom prst="roundRect">
            <a:avLst>
              <a:gd name="adj" fmla="val 6154"/>
            </a:avLst>
          </a:prstGeom>
          <a:solidFill>
            <a:schemeClr val="bg2"/>
          </a:solidFill>
          <a:ln w="12700">
            <a:solidFill>
              <a:schemeClr val="bg2"/>
            </a:solidFill>
            <a:prstDash val="solid"/>
          </a:ln>
        </p:spPr>
      </p:sp>
      <p:sp>
        <p:nvSpPr>
          <p:cNvPr id="4" name="Stat 1"/>
          <p:cNvSpPr txBox="1"/>
          <p:nvPr/>
        </p:nvSpPr>
        <p:spPr>
          <a:xfrm>
            <a:off x="822960" y="1645920"/>
            <a:ext cx="2468880" cy="1417320"/>
          </a:xfrm>
          <a:prstGeom prst="rect">
            <a:avLst/>
          </a:prstGeom>
          <a:noFill/>
          <a:ln/>
        </p:spPr>
        <p:txBody>
          <a:bodyPr wrap="square" lIns="0" tIns="0" rIns="0" bIns="0" rtlCol="0" anchor="ctr"/>
          <a:lstStyle/>
          <a:p>
            <a:pPr indent="0" marL="0">
              <a:buNone/>
            </a:pPr>
            <a:r>
              <a:rPr lang="en-US" sz="4400" b="1" dirty="0">
                <a:solidFill>
                  <a:schemeClr val="accent2"/>
                </a:solidFill>
              </a:rPr>
              <a:t>6.5%</a:t>
            </a:r>
            <a:endParaRPr lang="en-US" sz="4400" dirty="0"/>
          </a:p>
        </p:txBody>
      </p:sp>
      <p:sp>
        <p:nvSpPr>
          <p:cNvPr id="5" name="Stat label 1"/>
          <p:cNvSpPr txBox="1"/>
          <p:nvPr/>
        </p:nvSpPr>
        <p:spPr>
          <a:xfrm>
            <a:off x="3383280" y="1645920"/>
            <a:ext cx="2423160" cy="1417320"/>
          </a:xfrm>
          <a:prstGeom prst="rect">
            <a:avLst/>
          </a:prstGeom>
          <a:noFill/>
          <a:ln/>
        </p:spPr>
        <p:txBody>
          <a:bodyPr wrap="square" lIns="0" tIns="0" rIns="0" bIns="0" rtlCol="0" anchor="ctr"/>
          <a:lstStyle/>
          <a:p>
            <a:pPr indent="0" marL="0">
              <a:buNone/>
            </a:pPr>
            <a:r>
              <a:rPr lang="en-US" sz="1500" dirty="0">
                <a:solidFill>
                  <a:schemeClr val="tx1"/>
                </a:solidFill>
              </a:rPr>
              <a:t>of 1.0M web users logged in within 30 days (64,958 of 1,001,828)</a:t>
            </a:r>
            <a:endParaRPr lang="en-US" sz="1500" dirty="0"/>
          </a:p>
        </p:txBody>
      </p:sp>
      <p:sp>
        <p:nvSpPr>
          <p:cNvPr id="6" name="Stat card 2"/>
          <p:cNvSpPr/>
          <p:nvPr/>
        </p:nvSpPr>
        <p:spPr>
          <a:xfrm>
            <a:off x="6172200" y="1463040"/>
            <a:ext cx="5440680" cy="1783080"/>
          </a:xfrm>
          <a:prstGeom prst="roundRect">
            <a:avLst>
              <a:gd name="adj" fmla="val 6154"/>
            </a:avLst>
          </a:prstGeom>
          <a:solidFill>
            <a:schemeClr val="bg2"/>
          </a:solidFill>
          <a:ln w="12700">
            <a:solidFill>
              <a:schemeClr val="bg2"/>
            </a:solidFill>
            <a:prstDash val="solid"/>
          </a:ln>
        </p:spPr>
      </p:sp>
      <p:sp>
        <p:nvSpPr>
          <p:cNvPr id="7" name="Stat 2"/>
          <p:cNvSpPr txBox="1"/>
          <p:nvPr/>
        </p:nvSpPr>
        <p:spPr>
          <a:xfrm>
            <a:off x="6446520" y="1645920"/>
            <a:ext cx="2468880" cy="1417320"/>
          </a:xfrm>
          <a:prstGeom prst="rect">
            <a:avLst/>
          </a:prstGeom>
          <a:noFill/>
          <a:ln/>
        </p:spPr>
        <p:txBody>
          <a:bodyPr wrap="square" lIns="0" tIns="0" rIns="0" bIns="0" rtlCol="0" anchor="ctr"/>
          <a:lstStyle/>
          <a:p>
            <a:pPr indent="0" marL="0">
              <a:buNone/>
            </a:pPr>
            <a:r>
              <a:rPr lang="en-US" sz="4400" b="1" dirty="0">
                <a:solidFill>
                  <a:schemeClr val="accent2"/>
                </a:solidFill>
              </a:rPr>
              <a:t>2.4%</a:t>
            </a:r>
            <a:endParaRPr lang="en-US" sz="4400" dirty="0"/>
          </a:p>
        </p:txBody>
      </p:sp>
      <p:sp>
        <p:nvSpPr>
          <p:cNvPr id="8" name="Stat label 2"/>
          <p:cNvSpPr txBox="1"/>
          <p:nvPr/>
        </p:nvSpPr>
        <p:spPr>
          <a:xfrm>
            <a:off x="9006840" y="1645920"/>
            <a:ext cx="2423160" cy="1417320"/>
          </a:xfrm>
          <a:prstGeom prst="rect">
            <a:avLst/>
          </a:prstGeom>
          <a:noFill/>
          <a:ln/>
        </p:spPr>
        <p:txBody>
          <a:bodyPr wrap="square" lIns="0" tIns="0" rIns="0" bIns="0" rtlCol="0" anchor="ctr"/>
          <a:lstStyle/>
          <a:p>
            <a:pPr indent="0" marL="0">
              <a:buNone/>
            </a:pPr>
            <a:r>
              <a:rPr lang="en-US" sz="1500" dirty="0">
                <a:solidFill>
                  <a:schemeClr val="tx1"/>
                </a:solidFill>
              </a:rPr>
              <a:t>mobile-web login rate against 16.6% on desktop; mobile is 72% of users</a:t>
            </a:r>
            <a:endParaRPr lang="en-US" sz="1500" dirty="0"/>
          </a:p>
        </p:txBody>
      </p:sp>
      <p:sp>
        <p:nvSpPr>
          <p:cNvPr id="9" name="Stat card 3"/>
          <p:cNvSpPr/>
          <p:nvPr/>
        </p:nvSpPr>
        <p:spPr>
          <a:xfrm>
            <a:off x="548640" y="3429000"/>
            <a:ext cx="5440680" cy="1783080"/>
          </a:xfrm>
          <a:prstGeom prst="roundRect">
            <a:avLst>
              <a:gd name="adj" fmla="val 6154"/>
            </a:avLst>
          </a:prstGeom>
          <a:solidFill>
            <a:schemeClr val="bg2"/>
          </a:solidFill>
          <a:ln w="12700">
            <a:solidFill>
              <a:schemeClr val="bg2"/>
            </a:solidFill>
            <a:prstDash val="solid"/>
          </a:ln>
        </p:spPr>
      </p:sp>
      <p:sp>
        <p:nvSpPr>
          <p:cNvPr id="10" name="Stat 3"/>
          <p:cNvSpPr txBox="1"/>
          <p:nvPr/>
        </p:nvSpPr>
        <p:spPr>
          <a:xfrm>
            <a:off x="822960" y="3611880"/>
            <a:ext cx="2468880" cy="1417320"/>
          </a:xfrm>
          <a:prstGeom prst="rect">
            <a:avLst/>
          </a:prstGeom>
          <a:noFill/>
          <a:ln/>
        </p:spPr>
        <p:txBody>
          <a:bodyPr wrap="square" lIns="0" tIns="0" rIns="0" bIns="0" rtlCol="0" anchor="ctr"/>
          <a:lstStyle/>
          <a:p>
            <a:pPr indent="0" marL="0">
              <a:buNone/>
            </a:pPr>
            <a:r>
              <a:rPr lang="en-US" sz="4400" b="1" dirty="0">
                <a:solidFill>
                  <a:schemeClr val="accent2"/>
                </a:solidFill>
              </a:rPr>
              <a:t>0.21%</a:t>
            </a:r>
            <a:endParaRPr lang="en-US" sz="4400" dirty="0"/>
          </a:p>
        </p:txBody>
      </p:sp>
      <p:sp>
        <p:nvSpPr>
          <p:cNvPr id="11" name="Stat label 3"/>
          <p:cNvSpPr txBox="1"/>
          <p:nvPr/>
        </p:nvSpPr>
        <p:spPr>
          <a:xfrm>
            <a:off x="3383280" y="3611880"/>
            <a:ext cx="2423160" cy="1417320"/>
          </a:xfrm>
          <a:prstGeom prst="rect">
            <a:avLst/>
          </a:prstGeom>
          <a:noFill/>
          <a:ln/>
        </p:spPr>
        <p:txBody>
          <a:bodyPr wrap="square" lIns="0" tIns="0" rIns="0" bIns="0" rtlCol="0" anchor="ctr"/>
          <a:lstStyle/>
          <a:p>
            <a:pPr indent="0" marL="0">
              <a:buNone/>
            </a:pPr>
            <a:r>
              <a:rPr lang="en-US" sz="1500" dirty="0">
                <a:solidFill>
                  <a:schemeClr val="tx1"/>
                </a:solidFill>
              </a:rPr>
              <a:t>of 267,740 users on the Contra NFO page reached login; 96% mobile, 80% from Google paid search</a:t>
            </a:r>
            <a:endParaRPr lang="en-US" sz="1500" dirty="0"/>
          </a:p>
        </p:txBody>
      </p:sp>
      <p:sp>
        <p:nvSpPr>
          <p:cNvPr id="12" name="Stat card 4"/>
          <p:cNvSpPr/>
          <p:nvPr/>
        </p:nvSpPr>
        <p:spPr>
          <a:xfrm>
            <a:off x="6172200" y="3429000"/>
            <a:ext cx="5440680" cy="1783080"/>
          </a:xfrm>
          <a:prstGeom prst="roundRect">
            <a:avLst>
              <a:gd name="adj" fmla="val 6154"/>
            </a:avLst>
          </a:prstGeom>
          <a:solidFill>
            <a:schemeClr val="bg2"/>
          </a:solidFill>
          <a:ln w="12700">
            <a:solidFill>
              <a:schemeClr val="bg2"/>
            </a:solidFill>
            <a:prstDash val="solid"/>
          </a:ln>
        </p:spPr>
      </p:sp>
      <p:sp>
        <p:nvSpPr>
          <p:cNvPr id="13" name="Stat 4"/>
          <p:cNvSpPr txBox="1"/>
          <p:nvPr/>
        </p:nvSpPr>
        <p:spPr>
          <a:xfrm>
            <a:off x="6446520" y="3611880"/>
            <a:ext cx="2468880" cy="1417320"/>
          </a:xfrm>
          <a:prstGeom prst="rect">
            <a:avLst/>
          </a:prstGeom>
          <a:noFill/>
          <a:ln/>
        </p:spPr>
        <p:txBody>
          <a:bodyPr wrap="square" lIns="0" tIns="0" rIns="0" bIns="0" rtlCol="0" anchor="ctr"/>
          <a:lstStyle/>
          <a:p>
            <a:pPr indent="0" marL="0">
              <a:buNone/>
            </a:pPr>
            <a:r>
              <a:rPr lang="en-US" sz="4400" b="1" dirty="0">
                <a:solidFill>
                  <a:schemeClr val="accent2"/>
                </a:solidFill>
              </a:rPr>
              <a:t>70-77%</a:t>
            </a:r>
            <a:endParaRPr lang="en-US" sz="4400" dirty="0"/>
          </a:p>
        </p:txBody>
      </p:sp>
      <p:sp>
        <p:nvSpPr>
          <p:cNvPr id="14" name="Stat label 4"/>
          <p:cNvSpPr txBox="1"/>
          <p:nvPr/>
        </p:nvSpPr>
        <p:spPr>
          <a:xfrm>
            <a:off x="9006840" y="3611880"/>
            <a:ext cx="2423160" cy="1417320"/>
          </a:xfrm>
          <a:prstGeom prst="rect">
            <a:avLst/>
          </a:prstGeom>
          <a:noFill/>
          <a:ln/>
        </p:spPr>
        <p:txBody>
          <a:bodyPr wrap="square" lIns="0" tIns="0" rIns="0" bIns="0" rtlCol="0" anchor="ctr"/>
          <a:lstStyle/>
          <a:p>
            <a:pPr indent="0" marL="0">
              <a:buNone/>
            </a:pPr>
            <a:r>
              <a:rPr lang="en-US" sz="1500" dirty="0">
                <a:solidFill>
                  <a:schemeClr val="tx1"/>
                </a:solidFill>
              </a:rPr>
              <a:t>payment-to-success in every saved funnel; UPI is 74% of 5,053 failure events</a:t>
            </a:r>
            <a:endParaRPr lang="en-US" sz="1500" dirty="0"/>
          </a:p>
        </p:txBody>
      </p:sp>
      <p:sp>
        <p:nvSpPr>
          <p:cNvPr id="15" name="So what box"/>
          <p:cNvSpPr/>
          <p:nvPr/>
        </p:nvSpPr>
        <p:spPr>
          <a:xfrm>
            <a:off x="548640" y="5349240"/>
            <a:ext cx="11109960" cy="868680"/>
          </a:xfrm>
          <a:prstGeom prst="roundRect">
            <a:avLst>
              <a:gd name="adj" fmla="val 10526"/>
            </a:avLst>
          </a:prstGeom>
          <a:solidFill>
            <a:schemeClr val="tx1"/>
          </a:solidFill>
          <a:ln w="12700">
            <a:solidFill>
              <a:schemeClr val="tx1"/>
            </a:solidFill>
            <a:prstDash val="solid"/>
          </a:ln>
        </p:spPr>
      </p:sp>
      <p:sp>
        <p:nvSpPr>
          <p:cNvPr id="16" name="So what text"/>
          <p:cNvSpPr txBox="1"/>
          <p:nvPr/>
        </p:nvSpPr>
        <p:spPr>
          <a:xfrm>
            <a:off x="777240" y="5394960"/>
            <a:ext cx="10652760" cy="777240"/>
          </a:xfrm>
          <a:prstGeom prst="rect">
            <a:avLst/>
          </a:prstGeom>
          <a:noFill/>
          <a:ln/>
        </p:spPr>
        <p:txBody>
          <a:bodyPr wrap="square" lIns="0" tIns="0" rIns="0" bIns="0" rtlCol="0" anchor="ctr"/>
          <a:lstStyle/>
          <a:p>
            <a:pPr indent="0" marL="0">
              <a:buNone/>
            </a:pPr>
            <a:r>
              <a:rPr lang="en-US" sz="1500" b="1" dirty="0">
                <a:solidFill>
                  <a:srgbClr val="F26B21"/>
                </a:solidFill>
              </a:rPr>
              <a:t>So what: </a:t>
            </a:r>
            <a:pPr indent="0" marL="0">
              <a:buNone/>
            </a:pPr>
            <a:r>
              <a:rPr lang="en-US" sz="1500" dirty="0">
                <a:solidFill>
                  <a:srgbClr val="FFFFFF"/>
                </a:solidFill>
              </a:rPr>
              <a:t>start the PoC on the pages that carry the audience (NFO and fund pages, homepage) and add personalisation after login; sign-in and payment fixes go to the ICICI Pru engineering backlog.</a:t>
            </a:r>
            <a:endParaRPr lang="en-US" sz="1500" dirty="0"/>
          </a:p>
        </p:txBody>
      </p:sp>
      <p:sp>
        <p:nvSpPr>
          <p:cNvPr id="17"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Source: NVECTA, ICICI Pru AMC account, 14 Sep - 13 Oct 2026; payment-to-success from saved funnels 3041, 2823, 3203, 3202 (stored ranges).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Login rate collapses on mobile web and on campaign and fund pages</a:t>
            </a:r>
            <a:endParaRPr lang="en-US" sz="2800" dirty="0"/>
          </a:p>
        </p:txBody>
      </p:sp>
      <p:graphicFrame>
        <p:nvGraphicFramePr>
          <p:cNvPr id="3" name="Chart platform" descr=""/>
          <p:cNvGraphicFramePr/>
          <p:nvPr/>
        </p:nvGraphicFramePr>
        <p:xfrm>
          <a:off x="548640" y="1463040"/>
          <a:ext cx="42062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pages" descr=""/>
          <p:cNvGraphicFramePr/>
          <p:nvPr/>
        </p:nvGraphicFramePr>
        <p:xfrm>
          <a:off x="5029200" y="1463040"/>
          <a:ext cx="6629400" cy="3657600"/>
        </p:xfrm>
        <a:graphic xmlns:a="http://schemas.openxmlformats.org/drawingml/2006/main">
          <a:graphicData uri="http://schemas.openxmlformats.org/drawingml/2006/chart">
            <c:chart xmlns:c="http://schemas.openxmlformats.org/drawingml/2006/chart" r:id="rId2"/>
          </a:graphicData>
        </a:graphic>
      </p:graphicFrame>
      <p:sp>
        <p:nvSpPr>
          <p:cNvPr id="5" name="Callout box"/>
          <p:cNvSpPr/>
          <p:nvPr/>
        </p:nvSpPr>
        <p:spPr>
          <a:xfrm>
            <a:off x="548640" y="5349240"/>
            <a:ext cx="11109960" cy="868680"/>
          </a:xfrm>
          <a:prstGeom prst="roundRect">
            <a:avLst>
              <a:gd name="adj" fmla="val 10526"/>
            </a:avLst>
          </a:prstGeom>
          <a:solidFill>
            <a:schemeClr val="bg2"/>
          </a:solidFill>
          <a:ln w="12700">
            <a:solidFill>
              <a:schemeClr val="bg2"/>
            </a:solidFill>
            <a:prstDash val="solid"/>
          </a:ln>
        </p:spPr>
      </p:sp>
      <p:sp>
        <p:nvSpPr>
          <p:cNvPr id="6" name="Callout text"/>
          <p:cNvSpPr txBox="1"/>
          <p:nvPr/>
        </p:nvSpPr>
        <p:spPr>
          <a:xfrm>
            <a:off x="777240" y="5394960"/>
            <a:ext cx="10652760" cy="777240"/>
          </a:xfrm>
          <a:prstGeom prst="rect">
            <a:avLst/>
          </a:prstGeom>
          <a:noFill/>
          <a:ln/>
        </p:spPr>
        <p:txBody>
          <a:bodyPr wrap="square" lIns="0" tIns="0" rIns="0" bIns="0" rtlCol="0" anchor="ctr"/>
          <a:lstStyle/>
          <a:p>
            <a:pPr indent="0" marL="0">
              <a:buNone/>
            </a:pPr>
            <a:r>
              <a:rPr lang="en-US" sz="1500" b="1" dirty="0">
                <a:solidFill>
                  <a:schemeClr val="accent2"/>
                </a:solidFill>
              </a:rPr>
              <a:t>About 465,000 users </a:t>
            </a:r>
            <a:pPr indent="0" marL="0">
              <a:buNone/>
            </a:pPr>
            <a:r>
              <a:rPr lang="en-US" sz="1500" dirty="0">
                <a:solidFill>
                  <a:schemeClr val="tx1"/>
                </a:solidFill>
              </a:rPr>
              <a:t>land on the Contra NFO, Flexicap fund and Flexicap campaign pages in 30 days, and 828 of them reach login. These are the pages paid media sends traffic to.</a:t>
            </a:r>
            <a:endParaRPr lang="en-US" sz="1500" dirty="0"/>
          </a:p>
        </p:txBody>
      </p:sp>
      <p:sp>
        <p:nvSpPr>
          <p:cNvPr id="7"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Source: NVECTA funnel 3563 (page_view to Login), 14 Sep - 13 Oct 2026; users who viewed the page and later fired Login. Platform base: 713,921 mobile-web and 287,907 desktop users.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Five pages carry the story; the PoC starts with three</a:t>
            </a:r>
            <a:endParaRPr lang="en-US" sz="2800" dirty="0"/>
          </a:p>
        </p:txBody>
      </p:sp>
      <p:graphicFrame>
        <p:nvGraphicFramePr>
          <p:cNvPr id="5" name="Pag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2468880"/>
                <a:gridCol w="5897880"/>
                <a:gridCol w="2743200"/>
              </a:tblGrid>
              <a:tr h="411480">
                <a:tc>
                  <a:txBody>
                    <a:bodyPr/>
                    <a:lstStyle/>
                    <a:p>
                      <a:pPr indent="0" marL="0">
                        <a:buNone/>
                      </a:pPr>
                      <a:r>
                        <a:rPr lang="en-US" sz="1300" b="1" dirty="0">
                          <a:solidFill>
                            <a:srgbClr val="FFFFFF"/>
                          </a:solidFill>
                        </a:rPr>
                        <a:t>Page</a:t>
                      </a:r>
                      <a:endParaRPr lang="en-US" sz="13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What the data shows</a:t>
                      </a:r>
                      <a:endParaRPr lang="en-US" sz="13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Role</a:t>
                      </a:r>
                      <a:endParaRPr lang="en-US" sz="13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r>
              <a:tr h="777240">
                <a:tc>
                  <a:txBody>
                    <a:bodyPr/>
                    <a:lstStyle/>
                    <a:p>
                      <a:pPr indent="0" marL="0">
                        <a:buNone/>
                      </a:pPr>
                      <a:r>
                        <a:rPr lang="en-US" sz="1400" b="1" dirty="0">
                          <a:solidFill>
                            <a:srgbClr val="1A1D2E"/>
                          </a:solidFill>
                        </a:rPr>
                        <a:t>NFO and fund landing pages</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465k users, 0.2% reach login, 96% on mobile; 88% bounce on the NFO page (saved report)</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b="1" dirty="0">
                          <a:solidFill>
                            <a:srgbClr val="1A1D2E"/>
                          </a:solidFill>
                        </a:rPr>
                        <a:t>In PoC: T1 to T3</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E3D3"/>
                    </a:solidFill>
                  </a:tcPr>
                </a:tc>
              </a:tr>
              <a:tr h="777240">
                <a:tc>
                  <a:txBody>
                    <a:bodyPr/>
                    <a:lstStyle/>
                    <a:p>
                      <a:pPr indent="0" marL="0">
                        <a:buNone/>
                      </a:pPr>
                      <a:r>
                        <a:rPr lang="en-US" sz="1400" b="1" dirty="0">
                          <a:solidFill>
                            <a:srgbClr val="1A1D2E"/>
                          </a:solidFill>
                        </a:rPr>
                        <a:t>Homepage</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182k users, 17% reach login, about 60% bounce (saved report); one page for every visitor</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b="1" dirty="0">
                          <a:solidFill>
                            <a:srgbClr val="1A1D2E"/>
                          </a:solidFill>
                        </a:rPr>
                        <a:t>In PoC: T4</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E3D3"/>
                    </a:solidFill>
                  </a:tcPr>
                </a:tc>
              </a:tr>
              <a:tr h="777240">
                <a:tc>
                  <a:txBody>
                    <a:bodyPr/>
                    <a:lstStyle/>
                    <a:p>
                      <a:pPr indent="0" marL="0">
                        <a:buNone/>
                      </a:pPr>
                      <a:r>
                        <a:rPr lang="en-US" sz="1400" b="1" dirty="0">
                          <a:solidFill>
                            <a:srgbClr val="1A1D2E"/>
                          </a:solidFill>
                        </a:rPr>
                        <a:t>Post-login Our Funds and dashboard</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Fund Details to investment details 37%; 27,791 lumpsum vs 5,670 SIP users; segments already built</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b="1" dirty="0">
                          <a:solidFill>
                            <a:srgbClr val="1A1D2E"/>
                          </a:solidFill>
                        </a:rPr>
                        <a:t>In PoC: T5, T6</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E3D3"/>
                    </a:solidFill>
                  </a:tcPr>
                </a:tc>
              </a:tr>
              <a:tr h="777240">
                <a:tc>
                  <a:txBody>
                    <a:bodyPr/>
                    <a:lstStyle/>
                    <a:p>
                      <a:pPr indent="0" marL="0">
                        <a:buNone/>
                      </a:pPr>
                      <a:r>
                        <a:rPr lang="en-US" sz="1400" b="1" dirty="0">
                          <a:solidFill>
                            <a:srgbClr val="1A1D2E"/>
                          </a:solidFill>
                        </a:rPr>
                        <a:t>Sign-in and Register</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9.3% login on the register page, 41% sign-up completion, 26.6k users on credential recovery</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Next phase: needs ICICI engineering</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E5E7EB"/>
                    </a:solidFill>
                  </a:tcPr>
                </a:tc>
              </a:tr>
              <a:tr h="777240">
                <a:tc>
                  <a:txBody>
                    <a:bodyPr/>
                    <a:lstStyle/>
                    <a:p>
                      <a:pPr indent="0" marL="0">
                        <a:buNone/>
                      </a:pPr>
                      <a:r>
                        <a:rPr lang="en-US" sz="1400" b="1" dirty="0">
                          <a:solidFill>
                            <a:srgbClr val="1A1D2E"/>
                          </a:solidFill>
                        </a:rPr>
                        <a:t>Transaction and payment</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23-30% lost between payment and success; UPI is 74% of failures</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400" dirty="0">
                          <a:solidFill>
                            <a:srgbClr val="1A1D2E"/>
                          </a:solidFill>
                        </a:rPr>
                        <a:t>Next phase: no page access today</a:t>
                      </a:r>
                      <a:endParaRPr lang="en-US" sz="1400" dirty="0"/>
                    </a:p>
                  </a:txBody>
                  <a:tcPr marL="76200" marR="76200" marT="76200" marB="762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E5E7EB"/>
                    </a:solidFill>
                  </a:tcPr>
                </a:tc>
              </a:tr>
            </a:tbl>
          </a:graphicData>
        </a:graphic>
      </p:graphicFrame>
      <p:sp>
        <p:nvSpPr>
          <p:cNvPr id="4"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Source: NVECTA, 14 Sep - 13 Oct 2026; bounce rates from saved Landing Page and Mutual Fund Pages reports (stored ranges). Sign-up and folio funnels: saved ranges.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Investors want a simple, safe start; NFOs must earn attention</a:t>
            </a:r>
            <a:endParaRPr lang="en-US" sz="2800" dirty="0"/>
          </a:p>
        </p:txBody>
      </p:sp>
      <p:sp>
        <p:nvSpPr>
          <p:cNvPr id="3" name="Market tile 1"/>
          <p:cNvSpPr/>
          <p:nvPr/>
        </p:nvSpPr>
        <p:spPr>
          <a:xfrm>
            <a:off x="548640" y="1463040"/>
            <a:ext cx="2697480" cy="1828800"/>
          </a:xfrm>
          <a:prstGeom prst="roundRect">
            <a:avLst>
              <a:gd name="adj" fmla="val 6000"/>
            </a:avLst>
          </a:prstGeom>
          <a:solidFill>
            <a:schemeClr val="bg2"/>
          </a:solidFill>
          <a:ln w="12700">
            <a:solidFill>
              <a:schemeClr val="bg2"/>
            </a:solidFill>
            <a:prstDash val="solid"/>
          </a:ln>
        </p:spPr>
      </p:sp>
      <p:sp>
        <p:nvSpPr>
          <p:cNvPr id="4" name="Market stat 1"/>
          <p:cNvSpPr txBox="1"/>
          <p:nvPr/>
        </p:nvSpPr>
        <p:spPr>
          <a:xfrm>
            <a:off x="731520" y="1600200"/>
            <a:ext cx="2331720" cy="731520"/>
          </a:xfrm>
          <a:prstGeom prst="rect">
            <a:avLst/>
          </a:prstGeom>
          <a:noFill/>
          <a:ln/>
        </p:spPr>
        <p:txBody>
          <a:bodyPr wrap="square" lIns="0" tIns="0" rIns="0" bIns="0" rtlCol="0" anchor="ctr"/>
          <a:lstStyle/>
          <a:p>
            <a:pPr indent="0" marL="0">
              <a:buNone/>
            </a:pPr>
            <a:r>
              <a:rPr lang="en-US" sz="4000" b="1" dirty="0">
                <a:solidFill>
                  <a:schemeClr val="accent2"/>
                </a:solidFill>
              </a:rPr>
              <a:t>6.7%</a:t>
            </a:r>
            <a:endParaRPr lang="en-US" sz="4000" dirty="0"/>
          </a:p>
        </p:txBody>
      </p:sp>
      <p:sp>
        <p:nvSpPr>
          <p:cNvPr id="5" name="Market label 1"/>
          <p:cNvSpPr txBox="1"/>
          <p:nvPr/>
        </p:nvSpPr>
        <p:spPr>
          <a:xfrm>
            <a:off x="731520" y="2377440"/>
            <a:ext cx="2331720" cy="822960"/>
          </a:xfrm>
          <a:prstGeom prst="rect">
            <a:avLst/>
          </a:prstGeom>
          <a:noFill/>
          <a:ln/>
        </p:spPr>
        <p:txBody>
          <a:bodyPr wrap="square" lIns="0" tIns="0" rIns="0" bIns="0" rtlCol="0" anchor="t"/>
          <a:lstStyle/>
          <a:p>
            <a:pPr indent="0" marL="0">
              <a:buNone/>
            </a:pPr>
            <a:r>
              <a:rPr lang="en-US" sz="1400" dirty="0">
                <a:solidFill>
                  <a:schemeClr val="tx1"/>
                </a:solidFill>
              </a:rPr>
              <a:t>of households invest in mutual funds, though 53% are aware</a:t>
            </a:r>
            <a:endParaRPr lang="en-US" sz="1400" dirty="0"/>
          </a:p>
        </p:txBody>
      </p:sp>
      <p:sp>
        <p:nvSpPr>
          <p:cNvPr id="6" name="Market tile 2"/>
          <p:cNvSpPr/>
          <p:nvPr/>
        </p:nvSpPr>
        <p:spPr>
          <a:xfrm>
            <a:off x="3383280" y="1463040"/>
            <a:ext cx="2697480" cy="1828800"/>
          </a:xfrm>
          <a:prstGeom prst="roundRect">
            <a:avLst>
              <a:gd name="adj" fmla="val 6000"/>
            </a:avLst>
          </a:prstGeom>
          <a:solidFill>
            <a:schemeClr val="bg2"/>
          </a:solidFill>
          <a:ln w="12700">
            <a:solidFill>
              <a:schemeClr val="bg2"/>
            </a:solidFill>
            <a:prstDash val="solid"/>
          </a:ln>
        </p:spPr>
      </p:sp>
      <p:sp>
        <p:nvSpPr>
          <p:cNvPr id="7" name="Market stat 2"/>
          <p:cNvSpPr txBox="1"/>
          <p:nvPr/>
        </p:nvSpPr>
        <p:spPr>
          <a:xfrm>
            <a:off x="3566160" y="1600200"/>
            <a:ext cx="2331720" cy="731520"/>
          </a:xfrm>
          <a:prstGeom prst="rect">
            <a:avLst/>
          </a:prstGeom>
          <a:noFill/>
          <a:ln/>
        </p:spPr>
        <p:txBody>
          <a:bodyPr wrap="square" lIns="0" tIns="0" rIns="0" bIns="0" rtlCol="0" anchor="ctr"/>
          <a:lstStyle/>
          <a:p>
            <a:pPr indent="0" marL="0">
              <a:buNone/>
            </a:pPr>
            <a:r>
              <a:rPr lang="en-US" sz="4000" b="1" dirty="0">
                <a:solidFill>
                  <a:schemeClr val="accent2"/>
                </a:solidFill>
              </a:rPr>
              <a:t>74%</a:t>
            </a:r>
            <a:endParaRPr lang="en-US" sz="4000" dirty="0"/>
          </a:p>
        </p:txBody>
      </p:sp>
      <p:sp>
        <p:nvSpPr>
          <p:cNvPr id="8" name="Market label 2"/>
          <p:cNvSpPr txBox="1"/>
          <p:nvPr/>
        </p:nvSpPr>
        <p:spPr>
          <a:xfrm>
            <a:off x="3566160" y="2377440"/>
            <a:ext cx="2331720" cy="822960"/>
          </a:xfrm>
          <a:prstGeom prst="rect">
            <a:avLst/>
          </a:prstGeom>
          <a:noFill/>
          <a:ln/>
        </p:spPr>
        <p:txBody>
          <a:bodyPr wrap="square" lIns="0" tIns="0" rIns="0" bIns="0" rtlCol="0" anchor="t"/>
          <a:lstStyle/>
          <a:p>
            <a:pPr indent="0" marL="0">
              <a:buNone/>
            </a:pPr>
            <a:r>
              <a:rPr lang="en-US" sz="1400" dirty="0">
                <a:solidFill>
                  <a:schemeClr val="tx1"/>
                </a:solidFill>
              </a:rPr>
              <a:t>of non-investors cite complexity and knowledge gaps</a:t>
            </a:r>
            <a:endParaRPr lang="en-US" sz="1400" dirty="0"/>
          </a:p>
        </p:txBody>
      </p:sp>
      <p:sp>
        <p:nvSpPr>
          <p:cNvPr id="9" name="Market tile 3"/>
          <p:cNvSpPr/>
          <p:nvPr/>
        </p:nvSpPr>
        <p:spPr>
          <a:xfrm>
            <a:off x="548640" y="3429000"/>
            <a:ext cx="2697480" cy="1828800"/>
          </a:xfrm>
          <a:prstGeom prst="roundRect">
            <a:avLst>
              <a:gd name="adj" fmla="val 6000"/>
            </a:avLst>
          </a:prstGeom>
          <a:solidFill>
            <a:schemeClr val="bg2"/>
          </a:solidFill>
          <a:ln w="12700">
            <a:solidFill>
              <a:schemeClr val="bg2"/>
            </a:solidFill>
            <a:prstDash val="solid"/>
          </a:ln>
        </p:spPr>
      </p:sp>
      <p:sp>
        <p:nvSpPr>
          <p:cNvPr id="10" name="Market stat 3"/>
          <p:cNvSpPr txBox="1"/>
          <p:nvPr/>
        </p:nvSpPr>
        <p:spPr>
          <a:xfrm>
            <a:off x="731520" y="3566160"/>
            <a:ext cx="2331720" cy="731520"/>
          </a:xfrm>
          <a:prstGeom prst="rect">
            <a:avLst/>
          </a:prstGeom>
          <a:noFill/>
          <a:ln/>
        </p:spPr>
        <p:txBody>
          <a:bodyPr wrap="square" lIns="0" tIns="0" rIns="0" bIns="0" rtlCol="0" anchor="ctr"/>
          <a:lstStyle/>
          <a:p>
            <a:pPr indent="0" marL="0">
              <a:buNone/>
            </a:pPr>
            <a:r>
              <a:rPr lang="en-US" sz="4000" b="1" dirty="0">
                <a:solidFill>
                  <a:schemeClr val="accent2"/>
                </a:solidFill>
              </a:rPr>
              <a:t>73%</a:t>
            </a:r>
            <a:endParaRPr lang="en-US" sz="4000" dirty="0"/>
          </a:p>
        </p:txBody>
      </p:sp>
      <p:sp>
        <p:nvSpPr>
          <p:cNvPr id="11" name="Market label 3"/>
          <p:cNvSpPr txBox="1"/>
          <p:nvPr/>
        </p:nvSpPr>
        <p:spPr>
          <a:xfrm>
            <a:off x="731520" y="4343400"/>
            <a:ext cx="2331720" cy="822960"/>
          </a:xfrm>
          <a:prstGeom prst="rect">
            <a:avLst/>
          </a:prstGeom>
          <a:noFill/>
          <a:ln/>
        </p:spPr>
        <p:txBody>
          <a:bodyPr wrap="square" lIns="0" tIns="0" rIns="0" bIns="0" rtlCol="0" anchor="t"/>
          <a:lstStyle/>
          <a:p>
            <a:pPr indent="0" marL="0">
              <a:buNone/>
            </a:pPr>
            <a:r>
              <a:rPr lang="en-US" sz="1400" dirty="0">
                <a:solidFill>
                  <a:schemeClr val="tx1"/>
                </a:solidFill>
              </a:rPr>
              <a:t>cite fear of losing money</a:t>
            </a:r>
            <a:endParaRPr lang="en-US" sz="1400" dirty="0"/>
          </a:p>
        </p:txBody>
      </p:sp>
      <p:sp>
        <p:nvSpPr>
          <p:cNvPr id="12" name="Market tile 4"/>
          <p:cNvSpPr/>
          <p:nvPr/>
        </p:nvSpPr>
        <p:spPr>
          <a:xfrm>
            <a:off x="3383280" y="3429000"/>
            <a:ext cx="2697480" cy="1828800"/>
          </a:xfrm>
          <a:prstGeom prst="roundRect">
            <a:avLst>
              <a:gd name="adj" fmla="val 6000"/>
            </a:avLst>
          </a:prstGeom>
          <a:solidFill>
            <a:schemeClr val="bg2"/>
          </a:solidFill>
          <a:ln w="12700">
            <a:solidFill>
              <a:schemeClr val="bg2"/>
            </a:solidFill>
            <a:prstDash val="solid"/>
          </a:ln>
        </p:spPr>
      </p:sp>
      <p:sp>
        <p:nvSpPr>
          <p:cNvPr id="13" name="Market stat 4"/>
          <p:cNvSpPr txBox="1"/>
          <p:nvPr/>
        </p:nvSpPr>
        <p:spPr>
          <a:xfrm>
            <a:off x="3566160" y="3566160"/>
            <a:ext cx="2331720" cy="731520"/>
          </a:xfrm>
          <a:prstGeom prst="rect">
            <a:avLst/>
          </a:prstGeom>
          <a:noFill/>
          <a:ln/>
        </p:spPr>
        <p:txBody>
          <a:bodyPr wrap="square" lIns="0" tIns="0" rIns="0" bIns="0" rtlCol="0" anchor="ctr"/>
          <a:lstStyle/>
          <a:p>
            <a:pPr indent="0" marL="0">
              <a:buNone/>
            </a:pPr>
            <a:r>
              <a:rPr lang="en-US" sz="4000" b="1" dirty="0">
                <a:solidFill>
                  <a:schemeClr val="accent2"/>
                </a:solidFill>
              </a:rPr>
              <a:t>51%</a:t>
            </a:r>
            <a:endParaRPr lang="en-US" sz="4000" dirty="0"/>
          </a:p>
        </p:txBody>
      </p:sp>
      <p:sp>
        <p:nvSpPr>
          <p:cNvPr id="14" name="Market label 4"/>
          <p:cNvSpPr txBox="1"/>
          <p:nvPr/>
        </p:nvSpPr>
        <p:spPr>
          <a:xfrm>
            <a:off x="3566160" y="4343400"/>
            <a:ext cx="2331720" cy="822960"/>
          </a:xfrm>
          <a:prstGeom prst="rect">
            <a:avLst/>
          </a:prstGeom>
          <a:noFill/>
          <a:ln/>
        </p:spPr>
        <p:txBody>
          <a:bodyPr wrap="square" lIns="0" tIns="0" rIns="0" bIns="0" rtlCol="0" anchor="t"/>
          <a:lstStyle/>
          <a:p>
            <a:pPr indent="0" marL="0">
              <a:buNone/>
            </a:pPr>
            <a:r>
              <a:rPr lang="en-US" sz="1400" dirty="0">
                <a:solidFill>
                  <a:schemeClr val="tx1"/>
                </a:solidFill>
              </a:rPr>
              <a:t>cite trust and transparency</a:t>
            </a:r>
            <a:endParaRPr lang="en-US" sz="1400" dirty="0"/>
          </a:p>
        </p:txBody>
      </p:sp>
      <p:sp>
        <p:nvSpPr>
          <p:cNvPr id="15" name="Wants header"/>
          <p:cNvSpPr txBox="1"/>
          <p:nvPr/>
        </p:nvSpPr>
        <p:spPr>
          <a:xfrm>
            <a:off x="6400800" y="1463040"/>
            <a:ext cx="5257800" cy="365760"/>
          </a:xfrm>
          <a:prstGeom prst="rect">
            <a:avLst/>
          </a:prstGeom>
          <a:noFill/>
          <a:ln/>
        </p:spPr>
        <p:txBody>
          <a:bodyPr wrap="square" lIns="0" tIns="0" rIns="0" bIns="0" rtlCol="0" anchor="ctr"/>
          <a:lstStyle/>
          <a:p>
            <a:pPr indent="0" marL="0">
              <a:buNone/>
            </a:pPr>
            <a:r>
              <a:rPr lang="en-US" sz="1800" b="1" dirty="0">
                <a:solidFill>
                  <a:schemeClr val="tx1"/>
                </a:solidFill>
              </a:rPr>
              <a:t>What they want to see</a:t>
            </a:r>
            <a:endParaRPr lang="en-US" sz="1800" dirty="0"/>
          </a:p>
        </p:txBody>
      </p:sp>
      <p:sp>
        <p:nvSpPr>
          <p:cNvPr id="16" name="Wants list"/>
          <p:cNvSpPr txBox="1"/>
          <p:nvPr/>
        </p:nvSpPr>
        <p:spPr>
          <a:xfrm>
            <a:off x="6400800" y="1920240"/>
            <a:ext cx="5257800" cy="3520440"/>
          </a:xfrm>
          <a:prstGeom prst="rect">
            <a:avLst/>
          </a:prstGeom>
          <a:noFill/>
          <a:ln/>
        </p:spPr>
        <p:txBody>
          <a:bodyPr wrap="square" lIns="0" tIns="0" rIns="0" bIns="0" rtlCol="0" anchor="t"/>
          <a:lstStyle/>
          <a:p>
            <a:pPr indent="0" marL="0">
              <a:spcAft>
                <a:spcPts val="1200"/>
              </a:spcAft>
              <a:buNone/>
            </a:pPr>
            <a:r>
              <a:rPr lang="en-US" sz="1600" b="1" dirty="0">
                <a:solidFill>
                  <a:srgbClr val="1A1D2E"/>
                </a:solidFill>
              </a:rPr>
              <a:t>A clear way to start: </a:t>
            </a:r>
            <a:pPr indent="0" marL="0">
              <a:spcAft>
                <a:spcPts val="1200"/>
              </a:spcAft>
              <a:buNone/>
            </a:pPr>
            <a:r>
              <a:rPr lang="en-US" sz="1600" dirty="0">
                <a:solidFill>
                  <a:srgbClr val="1A1D2E"/>
                </a:solidFill>
              </a:rPr>
              <a:t>SIP-first, small amounts. SIPs hit a record Rs 32,490 crore in Sep 2026</a:t>
            </a:r>
            <a:endParaRPr lang="en-US" sz="1600" dirty="0"/>
          </a:p>
          <a:p>
            <a:pPr indent="0" marL="0">
              <a:spcAft>
                <a:spcPts val="1200"/>
              </a:spcAft>
              <a:buNone/>
            </a:pPr>
            <a:r>
              <a:rPr lang="en-US" sz="1600" b="1" dirty="0">
                <a:solidFill>
                  <a:srgbClr val="1A1D2E"/>
                </a:solidFill>
              </a:rPr>
              <a:t>Plain-language risk: </a:t>
            </a:r>
            <a:pPr indent="0" marL="0">
              <a:spcAft>
                <a:spcPts val="1200"/>
              </a:spcAft>
              <a:buNone/>
            </a:pPr>
            <a:r>
              <a:rPr lang="en-US" sz="1600" dirty="0">
                <a:solidFill>
                  <a:srgbClr val="1A1D2E"/>
                </a:solidFill>
              </a:rPr>
              <a:t>downside and who the fund is for, not just returns</a:t>
            </a:r>
            <a:endParaRPr lang="en-US" sz="1600" dirty="0"/>
          </a:p>
          <a:p>
            <a:pPr indent="0" marL="0">
              <a:spcAft>
                <a:spcPts val="1200"/>
              </a:spcAft>
              <a:buNone/>
            </a:pPr>
            <a:r>
              <a:rPr lang="en-US" sz="1600" b="1" dirty="0">
                <a:solidFill>
                  <a:srgbClr val="1A1D2E"/>
                </a:solidFill>
              </a:rPr>
              <a:t>Proof and pedigree: </a:t>
            </a:r>
            <a:pPr indent="0" marL="0">
              <a:spcAft>
                <a:spcPts val="1200"/>
              </a:spcAft>
              <a:buNone/>
            </a:pPr>
            <a:r>
              <a:rPr lang="en-US" sz="1600" dirty="0">
                <a:solidFill>
                  <a:srgbClr val="1A1D2E"/>
                </a:solidFill>
              </a:rPr>
              <a:t>track record, fund house, how an NFO differs from funds they hold</a:t>
            </a:r>
            <a:endParaRPr lang="en-US" sz="1600" dirty="0"/>
          </a:p>
          <a:p>
            <a:pPr indent="0" marL="0">
              <a:spcAft>
                <a:spcPts val="1200"/>
              </a:spcAft>
              <a:buNone/>
            </a:pPr>
            <a:r>
              <a:rPr lang="en-US" sz="1600" b="1" dirty="0">
                <a:solidFill>
                  <a:srgbClr val="1A1D2E"/>
                </a:solidFill>
              </a:rPr>
              <a:t>Easy digital onboarding: </a:t>
            </a:r>
            <a:pPr indent="0" marL="0">
              <a:spcAft>
                <a:spcPts val="1200"/>
              </a:spcAft>
              <a:buNone/>
            </a:pPr>
            <a:r>
              <a:rPr lang="en-US" sz="1600" dirty="0">
                <a:solidFill>
                  <a:srgbClr val="1A1D2E"/>
                </a:solidFill>
              </a:rPr>
              <a:t>no repeat KYC, UPI that works (Rs 5 lakh limit, uneven bank rollout)</a:t>
            </a:r>
            <a:endParaRPr lang="en-US" sz="1600" dirty="0"/>
          </a:p>
          <a:p>
            <a:pPr indent="0" marL="0">
              <a:spcAft>
                <a:spcPts val="1200"/>
              </a:spcAft>
              <a:buNone/>
            </a:pPr>
            <a:r>
              <a:rPr lang="en-US" sz="1600" b="1" dirty="0">
                <a:solidFill>
                  <a:srgbClr val="1A1D2E"/>
                </a:solidFill>
              </a:rPr>
              <a:t>Mobile-first: </a:t>
            </a:r>
            <a:pPr indent="0" marL="0">
              <a:spcAft>
                <a:spcPts val="1200"/>
              </a:spcAft>
              <a:buNone/>
            </a:pPr>
            <a:r>
              <a:rPr lang="en-US" sz="1600" dirty="0">
                <a:solidFill>
                  <a:srgbClr val="1A1D2E"/>
                </a:solidFill>
              </a:rPr>
              <a:t>smaller cities added 389 lakh new SIP registrations vs 267 lakh in top-30 cities (FY26)</a:t>
            </a:r>
            <a:endParaRPr lang="en-US" sz="1600" dirty="0"/>
          </a:p>
        </p:txBody>
      </p:sp>
      <p:sp>
        <p:nvSpPr>
          <p:cNvPr id="17" name="NFO box"/>
          <p:cNvSpPr/>
          <p:nvPr/>
        </p:nvSpPr>
        <p:spPr>
          <a:xfrm>
            <a:off x="548640" y="5577840"/>
            <a:ext cx="11109960" cy="685800"/>
          </a:xfrm>
          <a:prstGeom prst="roundRect">
            <a:avLst>
              <a:gd name="adj" fmla="val 13333"/>
            </a:avLst>
          </a:prstGeom>
          <a:solidFill>
            <a:schemeClr val="tx1"/>
          </a:solidFill>
          <a:ln w="12700">
            <a:solidFill>
              <a:schemeClr val="tx1"/>
            </a:solidFill>
            <a:prstDash val="solid"/>
          </a:ln>
        </p:spPr>
      </p:sp>
      <p:sp>
        <p:nvSpPr>
          <p:cNvPr id="18" name="NFO text"/>
          <p:cNvSpPr txBox="1"/>
          <p:nvPr/>
        </p:nvSpPr>
        <p:spPr>
          <a:xfrm>
            <a:off x="777240" y="5596128"/>
            <a:ext cx="10652760" cy="649224"/>
          </a:xfrm>
          <a:prstGeom prst="rect">
            <a:avLst/>
          </a:prstGeom>
          <a:noFill/>
          <a:ln/>
        </p:spPr>
        <p:txBody>
          <a:bodyPr wrap="square" lIns="0" tIns="0" rIns="0" bIns="0" rtlCol="0" anchor="ctr"/>
          <a:lstStyle/>
          <a:p>
            <a:pPr indent="0" marL="0">
              <a:buNone/>
            </a:pPr>
            <a:r>
              <a:rPr lang="en-US" sz="1400" b="1" dirty="0">
                <a:solidFill>
                  <a:srgbClr val="F26B21"/>
                </a:solidFill>
              </a:rPr>
              <a:t>NFOs: </a:t>
            </a:r>
            <a:pPr indent="0" marL="0">
              <a:buNone/>
            </a:pPr>
            <a:r>
              <a:rPr lang="en-US" sz="1400" dirty="0">
                <a:solidFill>
                  <a:srgbClr val="FFFFFF"/>
                </a:solidFill>
              </a:rPr>
              <a:t>collections fell 35% in Jan-Jun 2026 and investors are selective, so an NFO page must show why this fund and how it differs.</a:t>
            </a:r>
            <a:endParaRPr lang="en-US" sz="1400" dirty="0"/>
          </a:p>
        </p:txBody>
      </p:sp>
      <p:sp>
        <p:nvSpPr>
          <p:cNvPr id="19"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Sources: SEBI Investor Survey 2025 (Outlook Money, Finnovate); AMFI Sep 2026 (Angel One); Cafemutual; Upstox. From search summaries, verify before client release.</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Front page and fund pages: where ICICI Pru stands against peers</a:t>
            </a:r>
            <a:endParaRPr lang="en-US" sz="2800" dirty="0"/>
          </a:p>
        </p:txBody>
      </p:sp>
      <p:graphicFrame>
        <p:nvGraphicFramePr>
          <p:cNvPr id="7" name="Competitor tabl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2148840"/>
                <a:gridCol w="2926080"/>
                <a:gridCol w="1325880"/>
                <a:gridCol w="1325880"/>
                <a:gridCol w="3383280"/>
              </a:tblGrid>
              <a:tr h="365760">
                <a:tc>
                  <a:txBody>
                    <a:bodyPr/>
                    <a:lstStyle/>
                    <a:p>
                      <a:pPr indent="0" marL="0">
                        <a:buNone/>
                      </a:pPr>
                      <a:r>
                        <a:rPr lang="en-US" sz="1300" b="1" dirty="0">
                          <a:solidFill>
                            <a:srgbClr val="FFFFFF"/>
                          </a:solidFill>
                        </a:rPr>
                        <a:t>Parameter</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ICICI Pru today (from data)</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AMC peers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Apps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What to borrow</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r>
              <a:tr h="566928">
                <a:tc>
                  <a:txBody>
                    <a:bodyPr/>
                    <a:lstStyle/>
                    <a:p>
                      <a:pPr indent="0" marL="0">
                        <a:buNone/>
                      </a:pPr>
                      <a:r>
                        <a:rPr lang="en-US" sz="1200" b="1" dirty="0">
                          <a:solidFill>
                            <a:srgbClr val="1A1D2E"/>
                          </a:solidFill>
                        </a:rPr>
                        <a:t>Primary CTA on mobile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Weak</a:t>
                      </a:r>
                      <a:endParaRPr lang="en-US" sz="1200" dirty="0"/>
                    </a:p>
                    <a:p>
                      <a:pPr indent="0" marL="0">
                        <a:buNone/>
                      </a:pPr>
                      <a:r>
                        <a:rPr lang="en-US" sz="1200" dirty="0">
                          <a:solidFill>
                            <a:srgbClr val="1A1D2E"/>
                          </a:solidFill>
                        </a:rPr>
                        <a:t>0.21% login, 88% bounce on NFO page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6D9DE"/>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Sticky CTA with SIP / one-time toggle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Lead capture without full sign-up</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Weak</a:t>
                      </a:r>
                      <a:endParaRPr lang="en-US" sz="1200" dirty="0"/>
                    </a:p>
                    <a:p>
                      <a:pPr indent="0" marL="0">
                        <a:buNone/>
                      </a:pPr>
                      <a:r>
                        <a:rPr lang="en-US" sz="1200" dirty="0">
                          <a:solidFill>
                            <a:srgbClr val="1A1D2E"/>
                          </a:solidFill>
                        </a:rPr>
                        <a:t>Register wall; no notify-me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6D9DE"/>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WhatsApp or push opt-in, no password</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NFO presentation</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Partial</a:t>
                      </a:r>
                      <a:endParaRPr lang="en-US" sz="1200" dirty="0"/>
                    </a:p>
                    <a:p>
                      <a:pPr indent="0" marL="0">
                        <a:buNone/>
                      </a:pPr>
                      <a:r>
                        <a:rPr lang="en-US" sz="1200" dirty="0">
                          <a:solidFill>
                            <a:srgbClr val="1A1D2E"/>
                          </a:solidFill>
                        </a:rPr>
                        <a:t>NFO list has only 2.6k users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dirty="0">
                          <a:solidFill>
                            <a:srgbClr val="1A1D2E"/>
                          </a:solidFill>
                        </a:rPr>
                        <a:t>Closing date, minimum, how it differs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Trust and proof on page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To verify</a:t>
                      </a:r>
                      <a:endParaRPr lang="en-US" sz="1200" dirty="0"/>
                    </a:p>
                    <a:p>
                      <a:pPr indent="0" marL="0">
                        <a:buNone/>
                      </a:pPr>
                      <a:r>
                        <a:rPr lang="en-US" sz="1200" dirty="0">
                          <a:solidFill>
                            <a:srgbClr val="1A1D2E"/>
                          </a:solidFill>
                        </a:rPr>
                        <a:t>Not measured on page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E5E7EB"/>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Riskometer, benchmark returns, pedigree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Decision aids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Partial</a:t>
                      </a:r>
                      <a:endParaRPr lang="en-US" sz="1200" dirty="0"/>
                    </a:p>
                    <a:p>
                      <a:pPr indent="0" marL="0">
                        <a:buNone/>
                      </a:pPr>
                      <a:r>
                        <a:rPr lang="en-US" sz="1200" dirty="0">
                          <a:solidFill>
                            <a:srgbClr val="1A1D2E"/>
                          </a:solidFill>
                        </a:rPr>
                        <a:t>Calculators are separate pages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Inline calculator beside the CTA</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Personalisation</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Weak</a:t>
                      </a:r>
                      <a:endParaRPr lang="en-US" sz="1200" dirty="0"/>
                    </a:p>
                    <a:p>
                      <a:pPr indent="0" marL="0">
                        <a:buNone/>
                      </a:pPr>
                      <a:r>
                        <a:rPr lang="en-US" sz="1200" dirty="0">
                          <a:solidFill>
                            <a:srgbClr val="1A1D2E"/>
                          </a:solidFill>
                        </a:rPr>
                        <a:t>None before login; app deeplinks exist</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6D9DE"/>
                    </a:solidFill>
                  </a:tcPr>
                </a:tc>
                <a:tc>
                  <a:txBody>
                    <a:bodyPr/>
                    <a:lstStyle/>
                    <a:p>
                      <a:pPr indent="0" marL="0">
                        <a:buNone/>
                      </a:pPr>
                      <a:r>
                        <a:rPr lang="en-US" sz="1200" b="1" dirty="0">
                          <a:solidFill>
                            <a:srgbClr val="1A1D2E"/>
                          </a:solidFill>
                        </a:rPr>
                        <a:t>Weak</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6D9DE"/>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Source, cohort and new vs returning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Mobile experience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Weak</a:t>
                      </a:r>
                      <a:endParaRPr lang="en-US" sz="1200" dirty="0"/>
                    </a:p>
                    <a:p>
                      <a:pPr indent="0" marL="0">
                        <a:buNone/>
                      </a:pPr>
                      <a:r>
                        <a:rPr lang="en-US" sz="1200" dirty="0">
                          <a:solidFill>
                            <a:srgbClr val="1A1D2E"/>
                          </a:solidFill>
                        </a:rPr>
                        <a:t>2.4% login vs 16.6% desktop</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6D9DE"/>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Strong</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dirty="0">
                          <a:solidFill>
                            <a:srgbClr val="1A1D2E"/>
                          </a:solidFill>
                        </a:rPr>
                        <a:t>Short single-column mobile pages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566928">
                <a:tc>
                  <a:txBody>
                    <a:bodyPr/>
                    <a:lstStyle/>
                    <a:p>
                      <a:pPr indent="0" marL="0">
                        <a:buNone/>
                      </a:pPr>
                      <a:r>
                        <a:rPr lang="en-US" sz="1200" b="1" dirty="0">
                          <a:solidFill>
                            <a:srgbClr val="1A1D2E"/>
                          </a:solidFill>
                        </a:rPr>
                        <a:t>Help and guidance</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b="1" dirty="0">
                          <a:solidFill>
                            <a:srgbClr val="1A1D2E"/>
                          </a:solidFill>
                        </a:rPr>
                        <a:t>Strong</a:t>
                      </a:r>
                      <a:endParaRPr lang="en-US" sz="1200" dirty="0"/>
                    </a:p>
                    <a:p>
                      <a:pPr indent="0" marL="0">
                        <a:buNone/>
                      </a:pPr>
                      <a:r>
                        <a:rPr lang="en-US" sz="1200" dirty="0">
                          <a:solidFill>
                            <a:srgbClr val="1A1D2E"/>
                          </a:solidFill>
                        </a:rPr>
                        <a:t>Voice and text assistant, AI overview</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DDF1E6"/>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b="1" dirty="0">
                          <a:solidFill>
                            <a:srgbClr val="1A1D2E"/>
                          </a:solidFill>
                        </a:rPr>
                        <a:t>Partial</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DF0CC"/>
                    </a:solidFill>
                  </a:tcPr>
                </a:tc>
                <a:tc>
                  <a:txBody>
                    <a:bodyPr/>
                    <a:lstStyle/>
                    <a:p>
                      <a:pPr indent="0" marL="0">
                        <a:buNone/>
                      </a:pPr>
                      <a:r>
                        <a:rPr lang="en-US" sz="1200" dirty="0">
                          <a:solidFill>
                            <a:srgbClr val="1A1D2E"/>
                          </a:solidFill>
                        </a:rPr>
                        <a:t>Surface the assistant on NFO pages</a:t>
                      </a:r>
                      <a:endParaRPr lang="en-US" sz="12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4"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AMC peers: SBI MF, HDFC MF, Axis MF, Nippon India MF. Apps: Groww, Zerodha Coin, ET Money. Peer ratings are an analyst view, to be validated live in Week 0.</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Six tests to start, all deliverable without new integrations</a:t>
            </a:r>
            <a:endParaRPr lang="en-US" sz="2800" dirty="0"/>
          </a:p>
        </p:txBody>
      </p:sp>
      <p:graphicFrame>
        <p:nvGraphicFramePr>
          <p:cNvPr id="8" name="Test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548640"/>
                <a:gridCol w="2011680"/>
                <a:gridCol w="4663440"/>
                <a:gridCol w="3886200"/>
              </a:tblGrid>
              <a:tr h="384048">
                <a:tc>
                  <a:txBody>
                    <a:bodyPr/>
                    <a:lstStyle/>
                    <a:p>
                      <a:pPr indent="0" marL="0">
                        <a:buNone/>
                      </a:pPr>
                      <a:r>
                        <a:rPr lang="en-US" sz="1300" b="1" dirty="0">
                          <a:solidFill>
                            <a:srgbClr val="FFFFFF"/>
                          </a:solidFill>
                        </a:rPr>
                        <a: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Page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Test (variant vs control)</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Why we expect a lift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r>
              <a:tr h="731520">
                <a:tc>
                  <a:txBody>
                    <a:bodyPr/>
                    <a:lstStyle/>
                    <a:p>
                      <a:pPr indent="0" marL="0">
                        <a:buNone/>
                      </a:pPr>
                      <a:r>
                        <a:rPr lang="en-US" sz="1300" b="1" dirty="0">
                          <a:solidFill>
                            <a:srgbClr val="7A1F36"/>
                          </a:solidFill>
                        </a:rPr>
                        <a:t>T1</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NFO and fund pages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Sticky mobile CTA bar with amount chips and a SIP / one-time toggle, into the existing flow</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267,740 users, 96% mobile, 0.21% reach login; no persistent action on a long page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T2</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NFO page, paid traffic</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Source-matched hero and proof strip: Google search intent vs Meta video; riskometer, why this fund</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80% of traffic is Google search, 15% Meta; one generic page for all</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T3</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NFO and fund pages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Exit-intent or scroll Notify me overlay (WhatsApp or web push, via NVECTA) plus 3-day retarget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88% leave with no way to be reached; converters take 2.9 days to log in</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T4</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Homepage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Segment-aware hero: new vs returning vs source; NFO or SIP-first for new, resume for returning</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182k users, 17% reach login; same page for everyone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T5</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Post-login: Our Funds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Age and risk cohort ordering vs the trending list, using existing segments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Fund Details to investment details is 37%; cohort segments exist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T6</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1A1D2E"/>
                          </a:solidFill>
                        </a:rPr>
                        <a:t>Post-login: dashboard</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Next-best-action card by lifecycle: lumpsum to SIP, SIP top-up, debt to equity, ELSS gap</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27,791 lumpsum vs 5,670 SIP users; segments exist; 10% holdout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4"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T3, T4, T5 and T6 variants and the T1 CTA link need confirmation of which surfaces and tool serve variants (Week 0).</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Every test has a baseline, a sample size and guardrails</a:t>
            </a:r>
            <a:endParaRPr lang="en-US" sz="2800" dirty="0"/>
          </a:p>
        </p:txBody>
      </p:sp>
      <p:graphicFrame>
        <p:nvGraphicFramePr>
          <p:cNvPr id="9" name="Measurement tabl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548640"/>
                <a:gridCol w="4572000"/>
                <a:gridCol w="1828800"/>
                <a:gridCol w="2423160"/>
                <a:gridCol w="1737360"/>
              </a:tblGrid>
              <a:tr h="384048">
                <a:tc>
                  <a:txBody>
                    <a:bodyPr/>
                    <a:lstStyle/>
                    <a:p>
                      <a:pPr indent="0" marL="0">
                        <a:buNone/>
                      </a:pPr>
                      <a:r>
                        <a:rPr lang="en-US" sz="1300" b="1" dirty="0">
                          <a:solidFill>
                            <a:srgbClr val="FFFFFF"/>
                          </a:solidFill>
                        </a:rPr>
                        <a: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Primary metric (baseline) and lift sized</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Users per arm</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Run time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Guardrails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r>
              <a:tr h="731520">
                <a:tc>
                  <a:txBody>
                    <a:bodyPr/>
                    <a:lstStyle/>
                    <a:p>
                      <a:pPr indent="0" marL="0">
                        <a:buNone/>
                      </a:pPr>
                      <a:r>
                        <a:rPr lang="en-US" sz="1300" b="1" dirty="0">
                          <a:solidFill>
                            <a:srgbClr val="7A1F36"/>
                          </a:solidFill>
                        </a:rPr>
                        <a:t>T1</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Page view to login or lead (0.21% login); +50% relative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37,000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 weeks (8,900 users a day)</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Bounce, transactions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T2</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Engaged-session rate (bounce 87.8%, saved report); -3 points bounce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2,100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 weeks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Login rate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T3</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Opt-ins per 1,000 visitors (new metric, target 10); purchases vs 10% holdout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62,000 visitors a week</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 weeks plus 2-week retarget read</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Bounce, opt-out rate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T4</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Homepage to login (17.07%); +8% relative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12,400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2 weeks (6,100 users a day)</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Bounce, transaction rate</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T5</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Fund list to investment details (37-40%); +3 points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4,200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3 weeks (about 1,000 app users a day)</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Fund Details views, purchases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731520">
                <a:tc>
                  <a:txBody>
                    <a:bodyPr/>
                    <a:lstStyle/>
                    <a:p>
                      <a:pPr indent="0" marL="0">
                        <a:buNone/>
                      </a:pPr>
                      <a:r>
                        <a:rPr lang="en-US" sz="1300" b="1" dirty="0">
                          <a:solidFill>
                            <a:srgbClr val="7A1F36"/>
                          </a:solidFill>
                        </a:rPr>
                        <a:t>T6</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SIP share of purchases (about 17%); +3 points; card CTR baselined in Week 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about 2,600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4 weeks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Average ticket, total purchases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4"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Two-sided test, 5% significance, 80% power; baselines from NVECTA 30-day window unless noted. Minimum two full weeks to cover weekday cycles.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Personalisation after login and an NFO programme extend the tests</a:t>
            </a:r>
            <a:endParaRPr lang="en-US" sz="2800" dirty="0"/>
          </a:p>
        </p:txBody>
      </p:sp>
      <p:sp>
        <p:nvSpPr>
          <p:cNvPr id="3" name="Cohort header"/>
          <p:cNvSpPr txBox="1"/>
          <p:nvPr/>
        </p:nvSpPr>
        <p:spPr>
          <a:xfrm>
            <a:off x="548640" y="1371600"/>
            <a:ext cx="6675120" cy="365760"/>
          </a:xfrm>
          <a:prstGeom prst="rect">
            <a:avLst/>
          </a:prstGeom>
          <a:noFill/>
          <a:ln/>
        </p:spPr>
        <p:txBody>
          <a:bodyPr wrap="square" lIns="0" tIns="0" rIns="0" bIns="0" rtlCol="0" anchor="ctr"/>
          <a:lstStyle/>
          <a:p>
            <a:pPr indent="0" marL="0">
              <a:buNone/>
            </a:pPr>
            <a:r>
              <a:rPr lang="en-US" sz="1800" b="1" dirty="0">
                <a:solidFill>
                  <a:schemeClr val="tx1"/>
                </a:solidFill>
              </a:rPr>
              <a:t>Cohort-led fund discovery (T5, T6)</a:t>
            </a:r>
            <a:endParaRPr lang="en-US" sz="1800" dirty="0"/>
          </a:p>
        </p:txBody>
      </p:sp>
      <p:graphicFrame>
        <p:nvGraphicFramePr>
          <p:cNvPr id="10" name="Cohort table"/>
          <p:cNvGraphicFramePr>
            <a:graphicFrameLocks noGrp="1"/>
          </p:cNvGraphicFramePr>
          <p:nvPr>
            <p:extLst>
              <p:ext uri="{D42A27DB-BD31-4B8C-83A1-F6EECF244321}">
                <p14:modId xmlns:p14="http://schemas.microsoft.com/office/powerpoint/2010/main" val="1579011935"/>
              </p:ext>
            </p:extLst>
          </p:nvPr>
        </p:nvGraphicFramePr>
        <p:xfrm>
          <a:off x="548640" y="1828800"/>
          <a:ext cx="6675120" cy="914400"/>
        </p:xfrm>
        <a:graphic>
          <a:graphicData uri="http://schemas.openxmlformats.org/drawingml/2006/table">
            <a:tbl>
              <a:tblPr/>
              <a:tblGrid>
                <a:gridCol w="2103120"/>
                <a:gridCol w="4572000"/>
              </a:tblGrid>
              <a:tr h="411480">
                <a:tc>
                  <a:txBody>
                    <a:bodyPr/>
                    <a:lstStyle/>
                    <a:p>
                      <a:pPr indent="0" marL="0">
                        <a:buNone/>
                      </a:pPr>
                      <a:r>
                        <a:rPr lang="en-US" sz="1300" b="1" dirty="0">
                          <a:solidFill>
                            <a:srgbClr val="FFFFFF"/>
                          </a:solidFill>
                        </a:rPr>
                        <a:t>Cohort (existing segment)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c>
                  <a:txBody>
                    <a:bodyPr/>
                    <a:lstStyle/>
                    <a:p>
                      <a:pPr indent="0" marL="0">
                        <a:buNone/>
                      </a:pPr>
                      <a:r>
                        <a:rPr lang="en-US" sz="1300" b="1" dirty="0">
                          <a:solidFill>
                            <a:srgbClr val="FFFFFF"/>
                          </a:solidFill>
                        </a:rPr>
                        <a:t>Lead with, instead of a generic trending list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A1D2E"/>
                    </a:solidFill>
                  </a:tcPr>
                </a:tc>
              </a:tr>
              <a:tr h="658368">
                <a:tc>
                  <a:txBody>
                    <a:bodyPr/>
                    <a:lstStyle/>
                    <a:p>
                      <a:pPr indent="0" marL="0">
                        <a:buNone/>
                      </a:pPr>
                      <a:r>
                        <a:rPr lang="en-US" sz="1300" b="1" dirty="0">
                          <a:solidFill>
                            <a:srgbClr val="1A1D2E"/>
                          </a:solidFill>
                        </a:rPr>
                        <a:t>Age 0-35</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SIP-first starters with Rs 500 chips: index, flexicap, multi-asset</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300" b="1" dirty="0">
                          <a:solidFill>
                            <a:srgbClr val="1A1D2E"/>
                          </a:solidFill>
                        </a:rPr>
                        <a:t>Age 35-50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Goal-led hybrid and balanced funds; ELSS prompt where none held</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300" b="1" dirty="0">
                          <a:solidFill>
                            <a:srgbClr val="1A1D2E"/>
                          </a:solidFill>
                        </a:rPr>
                        <a:t>Age 50+</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Capital preservation first: hybrid, short-duration debt, SWP ideas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300" b="1" dirty="0">
                          <a:solidFill>
                            <a:srgbClr val="1A1D2E"/>
                          </a:solidFill>
                        </a:rPr>
                        <a:t>HNI</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Lumpsum ideas and new NFOs, with overlap against holdings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300" b="1" dirty="0">
                          <a:solidFill>
                            <a:srgbClr val="1A1D2E"/>
                          </a:solidFill>
                        </a:rPr>
                        <a:t>Lumpsum-only or SIP-only</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Start a SIP; or top up and add a lumpsum</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658368">
                <a:tc>
                  <a:txBody>
                    <a:bodyPr/>
                    <a:lstStyle/>
                    <a:p>
                      <a:pPr indent="0" marL="0">
                        <a:buNone/>
                      </a:pPr>
                      <a:r>
                        <a:rPr lang="en-US" sz="1300" b="1" dirty="0">
                          <a:solidFill>
                            <a:srgbClr val="1A1D2E"/>
                          </a:solidFill>
                        </a:rPr>
                        <a:t>Debt-only investors</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A1D2E"/>
                          </a:solidFill>
                        </a:rPr>
                        <a:t>Equity entry via hybrid or large-cap, with risk framing</a:t>
                      </a:r>
                      <a:endParaRPr lang="en-US" sz="1300" dirty="0"/>
                    </a:p>
                  </a:txBody>
                  <a:tcPr marL="63500" marR="63500" marT="63500" marB="6350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5" name="NFO programme card"/>
          <p:cNvSpPr/>
          <p:nvPr/>
        </p:nvSpPr>
        <p:spPr>
          <a:xfrm>
            <a:off x="7498080" y="1371600"/>
            <a:ext cx="4160520" cy="4754880"/>
          </a:xfrm>
          <a:prstGeom prst="roundRect">
            <a:avLst>
              <a:gd name="adj" fmla="val 2637"/>
            </a:avLst>
          </a:prstGeom>
          <a:solidFill>
            <a:schemeClr val="bg2"/>
          </a:solidFill>
          <a:ln w="12700">
            <a:solidFill>
              <a:schemeClr val="bg2"/>
            </a:solidFill>
            <a:prstDash val="solid"/>
          </a:ln>
        </p:spPr>
      </p:sp>
      <p:sp>
        <p:nvSpPr>
          <p:cNvPr id="6" name="NFO header"/>
          <p:cNvSpPr txBox="1"/>
          <p:nvPr/>
        </p:nvSpPr>
        <p:spPr>
          <a:xfrm>
            <a:off x="7726680" y="1508760"/>
            <a:ext cx="3749040" cy="365760"/>
          </a:xfrm>
          <a:prstGeom prst="rect">
            <a:avLst/>
          </a:prstGeom>
          <a:noFill/>
          <a:ln/>
        </p:spPr>
        <p:txBody>
          <a:bodyPr wrap="square" lIns="0" tIns="0" rIns="0" bIns="0" rtlCol="0" anchor="ctr"/>
          <a:lstStyle/>
          <a:p>
            <a:pPr indent="0" marL="0">
              <a:buNone/>
            </a:pPr>
            <a:r>
              <a:rPr lang="en-US" sz="1800" b="1" dirty="0">
                <a:solidFill>
                  <a:schemeClr val="tx1"/>
                </a:solidFill>
              </a:rPr>
              <a:t>NFO programme</a:t>
            </a:r>
            <a:endParaRPr lang="en-US" sz="1800" dirty="0"/>
          </a:p>
        </p:txBody>
      </p:sp>
      <p:sp>
        <p:nvSpPr>
          <p:cNvPr id="7" name="NFO plays"/>
          <p:cNvSpPr txBox="1"/>
          <p:nvPr/>
        </p:nvSpPr>
        <p:spPr>
          <a:xfrm>
            <a:off x="7726680" y="1965960"/>
            <a:ext cx="3749040" cy="4023360"/>
          </a:xfrm>
          <a:prstGeom prst="rect">
            <a:avLst/>
          </a:prstGeom>
          <a:noFill/>
          <a:ln/>
        </p:spPr>
        <p:txBody>
          <a:bodyPr wrap="square" lIns="0" tIns="0" rIns="0" bIns="0" rtlCol="0" anchor="t"/>
          <a:lstStyle/>
          <a:p>
            <a:pPr indent="0" marL="0">
              <a:spcAft>
                <a:spcPts val="1200"/>
              </a:spcAft>
              <a:buNone/>
            </a:pPr>
            <a:r>
              <a:rPr lang="en-US" sz="1600" b="1" dirty="0">
                <a:solidFill>
                  <a:srgbClr val="1A1D2E"/>
                </a:solidFill>
              </a:rPr>
              <a:t>Remind me: </a:t>
            </a:r>
            <a:pPr indent="0" marL="0">
              <a:spcAft>
                <a:spcPts val="1200"/>
              </a:spcAft>
              <a:buNone/>
            </a:pPr>
            <a:r>
              <a:rPr lang="en-US" sz="1600" dirty="0">
                <a:solidFill>
                  <a:srgbClr val="1A1D2E"/>
                </a:solidFill>
              </a:rPr>
              <a:t>capture mobile numbers on the NFO page without a password</a:t>
            </a:r>
            <a:endParaRPr lang="en-US" sz="1600" dirty="0"/>
          </a:p>
          <a:p>
            <a:pPr indent="0" marL="0">
              <a:spcAft>
                <a:spcPts val="1200"/>
              </a:spcAft>
              <a:buNone/>
            </a:pPr>
            <a:r>
              <a:rPr lang="en-US" sz="1600" b="1" dirty="0">
                <a:solidFill>
                  <a:srgbClr val="1A1D2E"/>
                </a:solidFill>
              </a:rPr>
              <a:t>Warm-up: </a:t>
            </a:r>
            <a:pPr indent="0" marL="0">
              <a:spcAft>
                <a:spcPts val="1200"/>
              </a:spcAft>
              <a:buNone/>
            </a:pPr>
            <a:r>
              <a:rPr lang="en-US" sz="1600" dirty="0">
                <a:solidFill>
                  <a:srgbClr val="1A1D2E"/>
                </a:solidFill>
              </a:rPr>
              <a:t>push and WhatsApp before open to affinity segments</a:t>
            </a:r>
            <a:endParaRPr lang="en-US" sz="1600" dirty="0"/>
          </a:p>
          <a:p>
            <a:pPr indent="0" marL="0">
              <a:spcAft>
                <a:spcPts val="1200"/>
              </a:spcAft>
              <a:buNone/>
            </a:pPr>
            <a:r>
              <a:rPr lang="en-US" sz="1600" b="1" dirty="0">
                <a:solidFill>
                  <a:srgbClr val="1A1D2E"/>
                </a:solidFill>
              </a:rPr>
              <a:t>Returning visitors: </a:t>
            </a:r>
            <a:pPr indent="0" marL="0">
              <a:spcAft>
                <a:spcPts val="1200"/>
              </a:spcAft>
              <a:buNone/>
            </a:pPr>
            <a:r>
              <a:rPr lang="en-US" sz="1600" dirty="0">
                <a:solidFill>
                  <a:srgbClr val="1A1D2E"/>
                </a:solidFill>
              </a:rPr>
              <a:t>closing-date strip and retarget inside 3 days</a:t>
            </a:r>
            <a:endParaRPr lang="en-US" sz="1600" dirty="0"/>
          </a:p>
          <a:p>
            <a:pPr indent="0" marL="0">
              <a:spcAft>
                <a:spcPts val="1200"/>
              </a:spcAft>
              <a:buNone/>
            </a:pPr>
            <a:r>
              <a:rPr lang="en-US" sz="1600" b="1" dirty="0">
                <a:solidFill>
                  <a:srgbClr val="1A1D2E"/>
                </a:solidFill>
              </a:rPr>
              <a:t>Rescue: </a:t>
            </a:r>
            <a:pPr indent="0" marL="0">
              <a:spcAft>
                <a:spcPts val="1200"/>
              </a:spcAft>
              <a:buNone/>
            </a:pPr>
            <a:r>
              <a:rPr lang="en-US" sz="1600" dirty="0">
                <a:solidFill>
                  <a:srgbClr val="1A1D2E"/>
                </a:solidFill>
              </a:rPr>
              <a:t>nudge users who stopped or failed to pay</a:t>
            </a:r>
            <a:endParaRPr lang="en-US" sz="1600" dirty="0"/>
          </a:p>
          <a:p>
            <a:pPr indent="0" marL="0">
              <a:spcAft>
                <a:spcPts val="1200"/>
              </a:spcAft>
              <a:buNone/>
            </a:pPr>
            <a:r>
              <a:rPr lang="en-US" sz="1600" b="1" dirty="0">
                <a:solidFill>
                  <a:srgbClr val="1A1D2E"/>
                </a:solidFill>
              </a:rPr>
              <a:t>Measure: </a:t>
            </a:r>
            <a:pPr indent="0" marL="0">
              <a:spcAft>
                <a:spcPts val="1200"/>
              </a:spcAft>
              <a:buNone/>
            </a:pPr>
            <a:r>
              <a:rPr lang="en-US" sz="1600" dirty="0">
                <a:solidFill>
                  <a:srgbClr val="1A1D2E"/>
                </a:solidFill>
              </a:rPr>
              <a:t>a 10% holdout and a goal on every journey</a:t>
            </a:r>
            <a:endParaRPr lang="en-US" sz="1600" dirty="0"/>
          </a:p>
        </p:txBody>
      </p:sp>
      <p:sp>
        <p:nvSpPr>
          <p:cNvPr id="8"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Illustrative modules: fund lists are set by ICICI Pru product and compliance. No NFO campaign ran in the last 60 days; the NFO Midweek journey is stopped with no goal.</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rPr>
              <a:t>Eight weeks to a read-out, engineering fixes queued behind it</a:t>
            </a:r>
            <a:endParaRPr lang="en-US" sz="2800" dirty="0"/>
          </a:p>
        </p:txBody>
      </p:sp>
      <p:sp>
        <p:nvSpPr>
          <p:cNvPr id="3" name="Phase 1"/>
          <p:cNvSpPr/>
          <p:nvPr/>
        </p:nvSpPr>
        <p:spPr>
          <a:xfrm>
            <a:off x="548640" y="1417320"/>
            <a:ext cx="2743200" cy="1051560"/>
          </a:xfrm>
          <a:prstGeom prst="homePlate">
            <a:avLst/>
          </a:prstGeom>
          <a:solidFill>
            <a:schemeClr val="tx1"/>
          </a:solidFill>
          <a:ln w="12700">
            <a:solidFill>
              <a:schemeClr val="tx1"/>
            </a:solidFill>
            <a:prstDash val="solid"/>
          </a:ln>
        </p:spPr>
      </p:sp>
      <p:sp>
        <p:nvSpPr>
          <p:cNvPr id="4" name="Phase text 1"/>
          <p:cNvSpPr txBox="1"/>
          <p:nvPr/>
        </p:nvSpPr>
        <p:spPr>
          <a:xfrm>
            <a:off x="731520" y="1463040"/>
            <a:ext cx="2148840" cy="960120"/>
          </a:xfrm>
          <a:prstGeom prst="rect">
            <a:avLst/>
          </a:prstGeom>
          <a:noFill/>
          <a:ln/>
        </p:spPr>
        <p:txBody>
          <a:bodyPr wrap="square" lIns="0" tIns="0" rIns="0" bIns="0" rtlCol="0" anchor="ctr"/>
          <a:lstStyle/>
          <a:p>
            <a:pPr indent="0" marL="0">
              <a:buNone/>
            </a:pPr>
            <a:r>
              <a:rPr lang="en-US" sz="1400" b="1" dirty="0">
                <a:solidFill>
                  <a:srgbClr val="F26B21"/>
                </a:solidFill>
              </a:rPr>
              <a:t>Week 0</a:t>
            </a:r>
            <a:endParaRPr lang="en-US" sz="1400" dirty="0"/>
          </a:p>
          <a:p>
            <a:pPr indent="0" marL="0">
              <a:buNone/>
            </a:pPr>
            <a:r>
              <a:rPr lang="en-US" sz="1400" dirty="0">
                <a:solidFill>
                  <a:srgbClr val="FFFFFF"/>
                </a:solidFill>
              </a:rPr>
              <a:t>Tracking and baselines</a:t>
            </a:r>
            <a:endParaRPr lang="en-US" sz="1400" dirty="0"/>
          </a:p>
        </p:txBody>
      </p:sp>
      <p:sp>
        <p:nvSpPr>
          <p:cNvPr id="5" name="Phase 2"/>
          <p:cNvSpPr/>
          <p:nvPr/>
        </p:nvSpPr>
        <p:spPr>
          <a:xfrm>
            <a:off x="3337560" y="1417320"/>
            <a:ext cx="2743200" cy="1051560"/>
          </a:xfrm>
          <a:prstGeom prst="homePlate">
            <a:avLst/>
          </a:prstGeom>
          <a:solidFill>
            <a:schemeClr val="tx1"/>
          </a:solidFill>
          <a:ln w="12700">
            <a:solidFill>
              <a:schemeClr val="tx1"/>
            </a:solidFill>
            <a:prstDash val="solid"/>
          </a:ln>
        </p:spPr>
      </p:sp>
      <p:sp>
        <p:nvSpPr>
          <p:cNvPr id="6" name="Phase text 2"/>
          <p:cNvSpPr txBox="1"/>
          <p:nvPr/>
        </p:nvSpPr>
        <p:spPr>
          <a:xfrm>
            <a:off x="3520440" y="1463040"/>
            <a:ext cx="2148840" cy="960120"/>
          </a:xfrm>
          <a:prstGeom prst="rect">
            <a:avLst/>
          </a:prstGeom>
          <a:noFill/>
          <a:ln/>
        </p:spPr>
        <p:txBody>
          <a:bodyPr wrap="square" lIns="0" tIns="0" rIns="0" bIns="0" rtlCol="0" anchor="ctr"/>
          <a:lstStyle/>
          <a:p>
            <a:pPr indent="0" marL="0">
              <a:buNone/>
            </a:pPr>
            <a:r>
              <a:rPr lang="en-US" sz="1400" b="1" dirty="0">
                <a:solidFill>
                  <a:srgbClr val="F26B21"/>
                </a:solidFill>
              </a:rPr>
              <a:t>Weeks 1-3</a:t>
            </a:r>
            <a:endParaRPr lang="en-US" sz="1400" dirty="0"/>
          </a:p>
          <a:p>
            <a:pPr indent="0" marL="0">
              <a:buNone/>
            </a:pPr>
            <a:r>
              <a:rPr lang="en-US" sz="1400" dirty="0">
                <a:solidFill>
                  <a:srgbClr val="FFFFFF"/>
                </a:solidFill>
              </a:rPr>
              <a:t>NFO and fund pages: T1, T2, T3</a:t>
            </a:r>
            <a:endParaRPr lang="en-US" sz="1400" dirty="0"/>
          </a:p>
        </p:txBody>
      </p:sp>
      <p:sp>
        <p:nvSpPr>
          <p:cNvPr id="7" name="Phase 3"/>
          <p:cNvSpPr/>
          <p:nvPr/>
        </p:nvSpPr>
        <p:spPr>
          <a:xfrm>
            <a:off x="6126480" y="1417320"/>
            <a:ext cx="2743200" cy="1051560"/>
          </a:xfrm>
          <a:prstGeom prst="homePlate">
            <a:avLst/>
          </a:prstGeom>
          <a:solidFill>
            <a:schemeClr val="tx1"/>
          </a:solidFill>
          <a:ln w="12700">
            <a:solidFill>
              <a:schemeClr val="tx1"/>
            </a:solidFill>
            <a:prstDash val="solid"/>
          </a:ln>
        </p:spPr>
      </p:sp>
      <p:sp>
        <p:nvSpPr>
          <p:cNvPr id="8" name="Phase text 3"/>
          <p:cNvSpPr txBox="1"/>
          <p:nvPr/>
        </p:nvSpPr>
        <p:spPr>
          <a:xfrm>
            <a:off x="6309360" y="1463040"/>
            <a:ext cx="2148840" cy="960120"/>
          </a:xfrm>
          <a:prstGeom prst="rect">
            <a:avLst/>
          </a:prstGeom>
          <a:noFill/>
          <a:ln/>
        </p:spPr>
        <p:txBody>
          <a:bodyPr wrap="square" lIns="0" tIns="0" rIns="0" bIns="0" rtlCol="0" anchor="ctr"/>
          <a:lstStyle/>
          <a:p>
            <a:pPr indent="0" marL="0">
              <a:buNone/>
            </a:pPr>
            <a:r>
              <a:rPr lang="en-US" sz="1400" b="1" dirty="0">
                <a:solidFill>
                  <a:srgbClr val="F26B21"/>
                </a:solidFill>
              </a:rPr>
              <a:t>Weeks 3-6</a:t>
            </a:r>
            <a:endParaRPr lang="en-US" sz="1400" dirty="0"/>
          </a:p>
          <a:p>
            <a:pPr indent="0" marL="0">
              <a:buNone/>
            </a:pPr>
            <a:r>
              <a:rPr lang="en-US" sz="1400" dirty="0">
                <a:solidFill>
                  <a:srgbClr val="FFFFFF"/>
                </a:solidFill>
              </a:rPr>
              <a:t>Homepage and Our Funds: T4, T5</a:t>
            </a:r>
            <a:endParaRPr lang="en-US" sz="1400" dirty="0"/>
          </a:p>
        </p:txBody>
      </p:sp>
      <p:sp>
        <p:nvSpPr>
          <p:cNvPr id="9" name="Phase 4"/>
          <p:cNvSpPr/>
          <p:nvPr/>
        </p:nvSpPr>
        <p:spPr>
          <a:xfrm>
            <a:off x="8915400" y="1417320"/>
            <a:ext cx="2743200" cy="1051560"/>
          </a:xfrm>
          <a:prstGeom prst="homePlate">
            <a:avLst/>
          </a:prstGeom>
          <a:solidFill>
            <a:schemeClr val="accent2"/>
          </a:solidFill>
          <a:ln w="12700">
            <a:solidFill>
              <a:schemeClr val="accent2"/>
            </a:solidFill>
            <a:prstDash val="solid"/>
          </a:ln>
        </p:spPr>
      </p:sp>
      <p:sp>
        <p:nvSpPr>
          <p:cNvPr id="10" name="Phase text 4"/>
          <p:cNvSpPr txBox="1"/>
          <p:nvPr/>
        </p:nvSpPr>
        <p:spPr>
          <a:xfrm>
            <a:off x="9098280" y="1463040"/>
            <a:ext cx="2148840" cy="960120"/>
          </a:xfrm>
          <a:prstGeom prst="rect">
            <a:avLst/>
          </a:prstGeom>
          <a:noFill/>
          <a:ln/>
        </p:spPr>
        <p:txBody>
          <a:bodyPr wrap="square" lIns="0" tIns="0" rIns="0" bIns="0" rtlCol="0" anchor="ctr"/>
          <a:lstStyle/>
          <a:p>
            <a:pPr indent="0" marL="0">
              <a:buNone/>
            </a:pPr>
            <a:r>
              <a:rPr lang="en-US" sz="1400" b="1" dirty="0">
                <a:solidFill>
                  <a:srgbClr val="F26B21"/>
                </a:solidFill>
              </a:rPr>
              <a:t>Weeks 5-8</a:t>
            </a:r>
            <a:endParaRPr lang="en-US" sz="1400" dirty="0"/>
          </a:p>
          <a:p>
            <a:pPr indent="0" marL="0">
              <a:buNone/>
            </a:pPr>
            <a:r>
              <a:rPr lang="en-US" sz="1400" dirty="0">
                <a:solidFill>
                  <a:srgbClr val="FFFFFF"/>
                </a:solidFill>
              </a:rPr>
              <a:t>Dashboard T6, NFO programme, read-out</a:t>
            </a:r>
            <a:endParaRPr lang="en-US" sz="1400" dirty="0"/>
          </a:p>
        </p:txBody>
      </p:sp>
      <p:sp>
        <p:nvSpPr>
          <p:cNvPr id="11" name="Parked card"/>
          <p:cNvSpPr/>
          <p:nvPr/>
        </p:nvSpPr>
        <p:spPr>
          <a:xfrm>
            <a:off x="548640" y="2743200"/>
            <a:ext cx="5440680" cy="3291840"/>
          </a:xfrm>
          <a:prstGeom prst="roundRect">
            <a:avLst>
              <a:gd name="adj" fmla="val 3333"/>
            </a:avLst>
          </a:prstGeom>
          <a:solidFill>
            <a:schemeClr val="bg2"/>
          </a:solidFill>
          <a:ln w="12700">
            <a:solidFill>
              <a:schemeClr val="bg2"/>
            </a:solidFill>
            <a:prstDash val="solid"/>
          </a:ln>
        </p:spPr>
      </p:sp>
      <p:sp>
        <p:nvSpPr>
          <p:cNvPr id="12" name="Parked header"/>
          <p:cNvSpPr txBox="1"/>
          <p:nvPr/>
        </p:nvSpPr>
        <p:spPr>
          <a:xfrm>
            <a:off x="777240" y="288036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Parked for ICICI Pru engineering</a:t>
            </a:r>
            <a:endParaRPr lang="en-US" sz="1800" dirty="0"/>
          </a:p>
        </p:txBody>
      </p:sp>
      <p:sp>
        <p:nvSpPr>
          <p:cNvPr id="13" name="Parked list"/>
          <p:cNvSpPr txBox="1"/>
          <p:nvPr/>
        </p:nvSpPr>
        <p:spPr>
          <a:xfrm>
            <a:off x="777240" y="3337560"/>
            <a:ext cx="5029200" cy="2560320"/>
          </a:xfrm>
          <a:prstGeom prst="rect">
            <a:avLst/>
          </a:prstGeom>
          <a:noFill/>
          <a:ln/>
        </p:spPr>
        <p:txBody>
          <a:bodyPr wrap="square" lIns="0" tIns="0" rIns="0" bIns="0" rtlCol="0" anchor="t"/>
          <a:lstStyle/>
          <a:p>
            <a:pPr indent="0" marL="0">
              <a:spcAft>
                <a:spcPts val="1400"/>
              </a:spcAft>
              <a:buNone/>
            </a:pPr>
            <a:r>
              <a:rPr lang="en-US" sz="1600" b="1" dirty="0">
                <a:solidFill>
                  <a:srgbClr val="1A1D2E"/>
                </a:solidFill>
              </a:rPr>
              <a:t>OTP or Google-first sign-in </a:t>
            </a:r>
            <a:pPr indent="0" marL="0">
              <a:spcAft>
                <a:spcPts val="1400"/>
              </a:spcAft>
              <a:buNone/>
            </a:pPr>
            <a:r>
              <a:rPr lang="en-US" sz="1600" dirty="0">
                <a:solidFill>
                  <a:srgbClr val="1A1D2E"/>
                </a:solidFill>
              </a:rPr>
              <a:t>(mobile-web login 2.4%)</a:t>
            </a:r>
            <a:endParaRPr lang="en-US" sz="1600" dirty="0"/>
          </a:p>
          <a:p>
            <a:pPr indent="0" marL="0">
              <a:spcAft>
                <a:spcPts val="1400"/>
              </a:spcAft>
              <a:buNone/>
            </a:pPr>
            <a:r>
              <a:rPr lang="en-US" sz="1600" b="1" dirty="0">
                <a:solidFill>
                  <a:srgbClr val="1A1D2E"/>
                </a:solidFill>
              </a:rPr>
              <a:t>Progressive onboarding </a:t>
            </a:r>
            <a:pPr indent="0" marL="0">
              <a:spcAft>
                <a:spcPts val="1400"/>
              </a:spcAft>
              <a:buNone/>
            </a:pPr>
            <a:r>
              <a:rPr lang="en-US" sz="1600" dirty="0">
                <a:solidFill>
                  <a:srgbClr val="1A1D2E"/>
                </a:solidFill>
              </a:rPr>
              <a:t>(41% sign-up completion)</a:t>
            </a:r>
            <a:endParaRPr lang="en-US" sz="1600" dirty="0"/>
          </a:p>
          <a:p>
            <a:pPr indent="0" marL="0">
              <a:spcAft>
                <a:spcPts val="1400"/>
              </a:spcAft>
              <a:buNone/>
            </a:pPr>
            <a:r>
              <a:rPr lang="en-US" sz="1600" b="1" dirty="0">
                <a:solidFill>
                  <a:srgbClr val="1A1D2E"/>
                </a:solidFill>
              </a:rPr>
              <a:t>UPI recovery and limit guidance </a:t>
            </a:r>
            <a:pPr indent="0" marL="0">
              <a:spcAft>
                <a:spcPts val="1400"/>
              </a:spcAft>
              <a:buNone/>
            </a:pPr>
            <a:r>
              <a:rPr lang="en-US" sz="1600" dirty="0">
                <a:solidFill>
                  <a:srgbClr val="1A1D2E"/>
                </a:solidFill>
              </a:rPr>
              <a:t>(74% of failures)</a:t>
            </a:r>
            <a:endParaRPr lang="en-US" sz="1600" dirty="0"/>
          </a:p>
          <a:p>
            <a:pPr indent="0" marL="0">
              <a:spcAft>
                <a:spcPts val="1400"/>
              </a:spcAft>
              <a:buNone/>
            </a:pPr>
            <a:r>
              <a:rPr lang="en-US" sz="1600" b="1" dirty="0">
                <a:solidFill>
                  <a:srgbClr val="1A1D2E"/>
                </a:solidFill>
              </a:rPr>
              <a:t>Transaction-page tests </a:t>
            </a:r>
            <a:pPr indent="0" marL="0">
              <a:spcAft>
                <a:spcPts val="1400"/>
              </a:spcAft>
              <a:buNone/>
            </a:pPr>
            <a:r>
              <a:rPr lang="en-US" sz="1600" dirty="0">
                <a:solidFill>
                  <a:srgbClr val="1A1D2E"/>
                </a:solidFill>
              </a:rPr>
              <a:t>(23-30% lost after payment)</a:t>
            </a:r>
            <a:endParaRPr lang="en-US" sz="1600" dirty="0"/>
          </a:p>
        </p:txBody>
      </p:sp>
      <p:sp>
        <p:nvSpPr>
          <p:cNvPr id="14" name="Asks card"/>
          <p:cNvSpPr/>
          <p:nvPr/>
        </p:nvSpPr>
        <p:spPr>
          <a:xfrm>
            <a:off x="6217920" y="2743200"/>
            <a:ext cx="5440680" cy="3291840"/>
          </a:xfrm>
          <a:prstGeom prst="roundRect">
            <a:avLst>
              <a:gd name="adj" fmla="val 3333"/>
            </a:avLst>
          </a:prstGeom>
          <a:solidFill>
            <a:schemeClr val="bg2"/>
          </a:solidFill>
          <a:ln w="12700">
            <a:solidFill>
              <a:schemeClr val="bg2"/>
            </a:solidFill>
            <a:prstDash val="solid"/>
          </a:ln>
        </p:spPr>
      </p:sp>
      <p:sp>
        <p:nvSpPr>
          <p:cNvPr id="15" name="Asks header"/>
          <p:cNvSpPr txBox="1"/>
          <p:nvPr/>
        </p:nvSpPr>
        <p:spPr>
          <a:xfrm>
            <a:off x="6446520" y="288036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What we need from ICICI Pru</a:t>
            </a:r>
            <a:endParaRPr lang="en-US" sz="1800" dirty="0"/>
          </a:p>
        </p:txBody>
      </p:sp>
      <p:sp>
        <p:nvSpPr>
          <p:cNvPr id="16" name="Asks list"/>
          <p:cNvSpPr txBox="1"/>
          <p:nvPr/>
        </p:nvSpPr>
        <p:spPr>
          <a:xfrm>
            <a:off x="6446520" y="3337560"/>
            <a:ext cx="5029200" cy="2560320"/>
          </a:xfrm>
          <a:prstGeom prst="rect">
            <a:avLst/>
          </a:prstGeom>
          <a:noFill/>
          <a:ln/>
        </p:spPr>
        <p:txBody>
          <a:bodyPr wrap="square" lIns="0" tIns="0" rIns="0" bIns="0" rtlCol="0" anchor="t"/>
          <a:lstStyle/>
          <a:p>
            <a:pPr indent="0" marL="0">
              <a:spcAft>
                <a:spcPts val="1000"/>
              </a:spcAft>
              <a:buNone/>
            </a:pPr>
            <a:r>
              <a:rPr lang="en-US" sz="1600" b="1" dirty="0">
                <a:solidFill>
                  <a:srgbClr val="1A1D2E"/>
                </a:solidFill>
              </a:rPr>
              <a:t>Surfaces: </a:t>
            </a:r>
            <a:pPr indent="0" marL="0">
              <a:spcAft>
                <a:spcPts val="1000"/>
              </a:spcAft>
              <a:buNone/>
            </a:pPr>
            <a:r>
              <a:rPr lang="en-US" sz="1600" dirty="0">
                <a:solidFill>
                  <a:srgbClr val="1A1D2E"/>
                </a:solidFill>
              </a:rPr>
              <a:t>which pages we can change, and the tool that serves variants</a:t>
            </a:r>
            <a:endParaRPr lang="en-US" sz="1600" dirty="0"/>
          </a:p>
          <a:p>
            <a:pPr indent="0" marL="0">
              <a:spcAft>
                <a:spcPts val="1000"/>
              </a:spcAft>
              <a:buNone/>
            </a:pPr>
            <a:r>
              <a:rPr lang="en-US" sz="1600" b="1" dirty="0">
                <a:solidFill>
                  <a:srgbClr val="1A1D2E"/>
                </a:solidFill>
              </a:rPr>
              <a:t>Tracking: </a:t>
            </a:r>
            <a:pPr indent="0" marL="0">
              <a:spcAft>
                <a:spcPts val="1000"/>
              </a:spcAft>
              <a:buNone/>
            </a:pPr>
            <a:r>
              <a:rPr lang="en-US" sz="1600" dirty="0">
                <a:solidFill>
                  <a:srgbClr val="1A1D2E"/>
                </a:solidFill>
              </a:rPr>
              <a:t>CTA and notify-me events, goals on every journey, campaign ID kept</a:t>
            </a:r>
            <a:endParaRPr lang="en-US" sz="1600" dirty="0"/>
          </a:p>
          <a:p>
            <a:pPr indent="0" marL="0">
              <a:spcAft>
                <a:spcPts val="1000"/>
              </a:spcAft>
              <a:buNone/>
            </a:pPr>
            <a:r>
              <a:rPr lang="en-US" sz="1600" b="1" dirty="0">
                <a:solidFill>
                  <a:srgbClr val="1A1D2E"/>
                </a:solidFill>
              </a:rPr>
              <a:t>Designs: </a:t>
            </a:r>
            <a:pPr indent="0" marL="0">
              <a:spcAft>
                <a:spcPts val="1000"/>
              </a:spcAft>
              <a:buNone/>
            </a:pPr>
            <a:r>
              <a:rPr lang="en-US" sz="1600" dirty="0">
                <a:solidFill>
                  <a:srgbClr val="1A1D2E"/>
                </a:solidFill>
              </a:rPr>
              <a:t>Axis MF and HDFC MF files as starting variants</a:t>
            </a:r>
            <a:endParaRPr lang="en-US" sz="1600" dirty="0"/>
          </a:p>
          <a:p>
            <a:pPr indent="0" marL="0">
              <a:spcAft>
                <a:spcPts val="1000"/>
              </a:spcAft>
              <a:buNone/>
            </a:pPr>
            <a:r>
              <a:rPr lang="en-US" sz="1600" b="1" dirty="0">
                <a:solidFill>
                  <a:srgbClr val="1A1D2E"/>
                </a:solidFill>
              </a:rPr>
              <a:t>Media: </a:t>
            </a:r>
            <a:pPr indent="0" marL="0">
              <a:spcAft>
                <a:spcPts val="1000"/>
              </a:spcAft>
              <a:buNone/>
            </a:pPr>
            <a:r>
              <a:rPr lang="en-US" sz="1600" dirty="0">
                <a:solidFill>
                  <a:srgbClr val="1A1D2E"/>
                </a:solidFill>
              </a:rPr>
              <a:t>plan and spend, for cost per lead</a:t>
            </a:r>
            <a:endParaRPr lang="en-US" sz="1600" dirty="0"/>
          </a:p>
          <a:p>
            <a:pPr indent="0" marL="0">
              <a:spcAft>
                <a:spcPts val="1000"/>
              </a:spcAft>
              <a:buNone/>
            </a:pPr>
            <a:r>
              <a:rPr lang="en-US" sz="1600" b="1" dirty="0">
                <a:solidFill>
                  <a:srgbClr val="1A1D2E"/>
                </a:solidFill>
              </a:rPr>
              <a:t>Compliance: </a:t>
            </a:r>
            <a:pPr indent="0" marL="0">
              <a:spcAft>
                <a:spcPts val="1000"/>
              </a:spcAft>
              <a:buNone/>
            </a:pPr>
            <a:r>
              <a:rPr lang="en-US" sz="1600" dirty="0">
                <a:solidFill>
                  <a:srgbClr val="1A1D2E"/>
                </a:solidFill>
              </a:rPr>
              <a:t>a review path for variants</a:t>
            </a:r>
            <a:endParaRPr lang="en-US" sz="1600" dirty="0"/>
          </a:p>
        </p:txBody>
      </p:sp>
      <p:sp>
        <p:nvSpPr>
          <p:cNvPr id="17" name="Source note"/>
          <p:cNvSpPr txBox="1"/>
          <p:nvPr/>
        </p:nvSpPr>
        <p:spPr>
          <a:xfrm>
            <a:off x="548640" y="6400800"/>
            <a:ext cx="10332720" cy="292608"/>
          </a:xfrm>
          <a:prstGeom prst="rect">
            <a:avLst/>
          </a:prstGeom>
          <a:noFill/>
          <a:ln/>
        </p:spPr>
        <p:txBody>
          <a:bodyPr wrap="square" lIns="0" tIns="0" rIns="0" bIns="0" rtlCol="0" anchor="ctr"/>
          <a:lstStyle/>
          <a:p>
            <a:pPr indent="0" marL="0">
              <a:buNone/>
            </a:pPr>
            <a:r>
              <a:rPr lang="en-US" sz="1000" dirty="0">
                <a:solidFill>
                  <a:srgbClr val="6B7280"/>
                </a:solidFill>
              </a:rPr>
              <a:t>Durations are proposals to confirm with ICICI Pru teams.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ICICI Pru CRO PoC">
  <a:themeElements>
    <a:clrScheme name="ICICI Pru CRO PoC">
      <a:dk1>
        <a:srgbClr val="1A1D2E"/>
      </a:dk1>
      <a:lt1>
        <a:srgbClr val="FFFFFF"/>
      </a:lt1>
      <a:dk2>
        <a:srgbClr val="7A1F36"/>
      </a:dk2>
      <a:lt2>
        <a:srgbClr val="F3F4F6"/>
      </a:lt2>
      <a:accent1>
        <a:srgbClr val="F26B21"/>
      </a:accent1>
      <a:accent2>
        <a:srgbClr val="7A1F36"/>
      </a:accent2>
      <a:accent3>
        <a:srgbClr val="1F7A8C"/>
      </a:accent3>
      <a:accent4>
        <a:srgbClr val="2E8B57"/>
      </a:accent4>
      <a:accent5>
        <a:srgbClr val="9CA3AF"/>
      </a:accent5>
      <a:accent6>
        <a:srgbClr val="F2A900"/>
      </a:accent6>
      <a:hlink>
        <a:srgbClr val="F26B21"/>
      </a:hlink>
      <a:folHlink>
        <a:srgbClr val="7A1F36"/>
      </a:folHlink>
    </a:clrScheme>
    <a:fontScheme name="ICICI Pru CRO Po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ICICI Prudential AMC - Conversion PoC proposal</dc:title>
  <dc:subject>PptxGenJS Presentation</dc:subject>
  <dc:creator>CRO team</dc:creator>
  <cp:lastModifiedBy>CRO team</cp:lastModifiedBy>
  <cp:revision>1</cp:revision>
  <dcterms:created xsi:type="dcterms:W3CDTF">2026-10-14T09:48:38Z</dcterms:created>
  <dcterms:modified xsi:type="dcterms:W3CDTF">2026-10-14T09:48:38Z</dcterms:modified>
</cp:coreProperties>
</file>