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f779da1-6e28-8915-0d57-2e3429258158}">
          <p14:sldIdLst>
            <p14:sldId id="256"/>
          </p14:sldIdLst>
        </p14:section>
        <p14:section name="Analytics 1" id="{ab612c41-0444-9f71-e19d-bf430749d434}">
          <p14:sldIdLst>
            <p14:sldId id="257"/>
          </p14:sldIdLst>
        </p14:section>
        <p14:section name="Analytics 2" id="{5434f45f-c883-5ac4-b4c9-8005b697dbc8}">
          <p14:sldIdLst>
            <p14:sldId id="258"/>
          </p14:sldIdLst>
        </p14:section>
        <p14:section name="Analytics 3" id="{265ac425-afb4-fd31-4fb5-0752e167177b}">
          <p14:sldIdLst>
            <p14:sldId id="259"/>
          </p14:sldIdLst>
        </p14:section>
        <p14:section name="Analytics 4" id="{b879980f-60d7-33d1-649c-4ad4338bc90c}">
          <p14:sldIdLst>
            <p14:sldId id="260"/>
          </p14:sldIdLst>
        </p14:section>
        <p14:section name="Analytics 5" id="{dcd1d057-09e8-3282-0ea7-938d4b173b29}">
          <p14:sldIdLst>
            <p14:sldId id="261"/>
          </p14:sldIdLst>
        </p14:section>
        <p14:section name="Context 6" id="{c84aada6-352c-6d03-d46f-e2f359c54716}">
          <p14:sldIdLst>
            <p14:sldId id="262"/>
          </p14:sldIdLst>
        </p14:section>
        <p14:section name="Competitors 7" id="{c4ff99a5-863c-bf02-ad66-1118af5eb7cd}">
          <p14:sldIdLst>
            <p14:sldId id="263"/>
          </p14:sldIdLst>
        </p14:section>
        <p14:section name="Competitors 8" id="{992d94e8-7fd8-0edf-7e0e-3407aca42505}">
          <p14:sldIdLst>
            <p14:sldId id="264"/>
          </p14:sldIdLst>
        </p14:section>
        <p14:section name="Tests 9" id="{1fe1351d-0534-42cb-9dbe-a49cf668d01c}">
          <p14:sldIdLst>
            <p14:sldId id="265"/>
          </p14:sldIdLst>
        </p14:section>
        <p14:section name="Tests 10" id="{d2ee9c4d-6a1a-b712-3ff3-cdf3f585597f}">
          <p14:sldIdLst>
            <p14:sldId id="266"/>
          </p14:sldIdLst>
        </p14:section>
        <p14:section name="Tests 11" id="{c180cd11-2aca-0016-f1ab-f627faec9f63}">
          <p14:sldIdLst>
            <p14:sldId id="267"/>
          </p14:sldIdLst>
        </p14:section>
        <p14:section name="Tests 12" id="{895c0163-80a3-de52-1103-453dd56abfdb}">
          <p14:sldIdLst>
            <p14:sldId id="268"/>
          </p14:sldIdLst>
        </p14:section>
        <p14:section name="Tests 13" id="{990a4a33-0f11-6af2-069d-0ec1ce470f1b}">
          <p14:sldIdLst>
            <p14:sldId id="269"/>
          </p14:sldIdLst>
        </p14:section>
        <p14:section name="Tests 14" id="{c7b1374b-cee7-7212-2ae6-ca5156b76f4d}">
          <p14:sldIdLst>
            <p14:sldId id="270"/>
          </p14:sldIdLst>
        </p14:section>
        <p14:section name="Personalisation 15" id="{6669a2ad-0e54-8e04-4bff-ad95b84aa0d9}">
          <p14:sldIdLst>
            <p14:sldId id="271"/>
          </p14:sldIdLst>
        </p14:section>
        <p14:section name="Personalisation 16" id="{e94164c4-1d07-0bb9-3daf-bd15b18c997f}">
          <p14:sldIdLst>
            <p14:sldId id="272"/>
          </p14:sldIdLst>
        </p14:section>
        <p14:section name="Next 17" id="{8364673a-a926-b90a-6669-fbd6f7e8b9f9}">
          <p14:sldIdLst>
            <p14:sldId id="273"/>
          </p14:sldIdLst>
        </p14:section>
        <p14:section name="Next 18" id="{95fb8b01-6d09-629c-8c50-4f097e9946e4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First-party survey verbatims are not included: NVECTA holds 2,375 feedback-survey and 3,426 NPS responses in 90 days; survey IDs are needed to read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Caveats: ratings are judgements from captured page text and screenshots. Our full-page desktop screenshots were captured with the mega-menu open, so above-the-fold desktop content on our pages should be confirmed by hand. SBI and Nippon have no defence fund, so their flagship small-cap page is compared. ABSL home fund cards and ICICI home hero differed between sessions (likely rotation or personalisation, not a confirmed test).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Sizing: login visits x 5.74% (7.8% reach the SIP step x 73.6% charged, from the fund-page path). About 26k users per arm detects +15% relative; the calculator gets about 62k users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Sizing: 19,819 login visits from fund pages x 10-20% x 5.74%. One page delivers a fraction. About 52k users per arm at the 1.36% baseline; the Defence page gets about 66k views a week. T2 and T5 share the fund page: run as A/B/C.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Sizing: (7,318 + 19,819) login visits x 3-6% x 5.74%. Compliance must approve 'pause or stop anytime'.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Sizing: 7,318 x 10-20% x 5.74%. Medium-low confidence; depends on T1.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capture of 1-2% and 2-3% conversion of captured leads; both to be confirmed in week one. Consent and data-protection wording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</a:rPr>
              <a:t>Motilal Oswal AMC  |  SIP growth  | 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Growing SIPs on the web: findings and test recommendations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Motilal Oswal AMC  | 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Summary: high SIP intent before login, too little of it converts</a:t>
            </a:r>
            <a:endParaRPr lang="en-US" sz="2800" dirty="0"/>
          </a:p>
        </p:txBody>
      </p:sp>
      <p:sp>
        <p:nvSpPr>
          <p:cNvPr id="3" name="Stat calculator"/>
          <p:cNvSpPr/>
          <p:nvPr/>
        </p:nvSpPr>
        <p:spPr>
          <a:xfrm>
            <a:off x="548640" y="128016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2004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35124"/>
            <a:ext cx="32004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SIP-calculator visitors (267k) reach any login page</a:t>
            </a:r>
            <a:endParaRPr lang="en-US" sz="1300" dirty="0"/>
          </a:p>
        </p:txBody>
      </p:sp>
      <p:sp>
        <p:nvSpPr>
          <p:cNvPr id="6" name="Stat SIP choice"/>
          <p:cNvSpPr/>
          <p:nvPr/>
        </p:nvSpPr>
        <p:spPr>
          <a:xfrm>
            <a:off x="4297680" y="128016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371600"/>
            <a:ext cx="32004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 vs 11%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35124"/>
            <a:ext cx="32004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purchase starters choose SIP: website vs apps</a:t>
            </a:r>
            <a:endParaRPr lang="en-US" sz="1300" dirty="0"/>
          </a:p>
        </p:txBody>
      </p:sp>
      <p:sp>
        <p:nvSpPr>
          <p:cNvPr id="9" name="Stat mandates"/>
          <p:cNvSpPr/>
          <p:nvPr/>
        </p:nvSpPr>
        <p:spPr>
          <a:xfrm>
            <a:off x="8046720" y="128016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371600"/>
            <a:ext cx="32004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40-60%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35124"/>
            <a:ext cx="32004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app autopay mandates fail, against about 24% on web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Traffic is paid, mobile and concentrated on the SIP calculator and a few fund 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Peers end the calculator with a button on the result and show a SIP amount on fund pages; we do not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 login, mandates fail and cancels outnumber pauses 5 to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SIP base is large and small-ticket: 2.8M investors, median SIP Rs 1,001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52044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pre-login tests on the calculator and fund pages, mocked up and ready to build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Eight personalised nudges, before and after login, most runnable now as NVECTA journeys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2-3 tests a week, so SIP is the first problem in an ongoing programme</a:t>
            </a:r>
            <a:endParaRPr lang="en-US" sz="1400" dirty="0"/>
          </a:p>
        </p:txBody>
      </p:sp>
      <p:sp>
        <p:nvSpPr>
          <p:cNvPr id="16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NVECTA analytics, 14 Sep to 14 Oct 2026; competitor page snapshots, 14 Oct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Who arrives and where: paid, mobile, a few pages</a:t>
            </a:r>
            <a:endParaRPr lang="en-US" sz="2800" dirty="0"/>
          </a:p>
        </p:txBody>
      </p:sp>
      <p:sp>
        <p:nvSpPr>
          <p:cNvPr id="3" name="Observation card"/>
          <p:cNvSpPr/>
          <p:nvPr/>
        </p:nvSpPr>
        <p:spPr>
          <a:xfrm>
            <a:off x="548640" y="1280160"/>
            <a:ext cx="539496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2.04M visitors in 30 days; 88% arrive from paid search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90% browse on the mobile site; apps hold 66% of purchase starts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SIP calculator: 350k views, 267,573 users, 99% paid search, 91% mobile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Eight fund pages draw 130k to 318k views each; the login page 117k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2.6% of visitors are identified across the site (57% on the invest site)</a:t>
            </a:r>
            <a:endParaRPr lang="en-US" sz="1400" dirty="0"/>
          </a:p>
        </p:txBody>
      </p:sp>
      <p:sp>
        <p:nvSpPr>
          <p:cNvPr id="6" name="Observation card"/>
          <p:cNvSpPr/>
          <p:nvPr/>
        </p:nvSpPr>
        <p:spPr>
          <a:xfrm>
            <a:off x="6217920" y="1280160"/>
            <a:ext cx="539496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33,975 users started a purchase; 5,125 (15%) reached the SIP step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SIP choice: website 24%, m-site 19%, Android 11%, iOS 10%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Website: 14.5% of purchase starters reach a Charged event; m-site 8.8%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97% of calculator visitors never reach a login page in the same journey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Step-up calculator gets 28k views, 8% of the SIP calculator's</a:t>
            </a:r>
            <a:endParaRPr lang="en-US" sz="1400" dirty="0"/>
          </a:p>
        </p:txBody>
      </p:sp>
      <p:sp>
        <p:nvSpPr>
          <p:cNvPr id="9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NVECTA page views by Page Url, Traffic Source and Platform; saved funnels 3137 and 3178; 14 Sep to 14 Oct 2026. Charged may include non-SIP payments.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Engagement by city tier and age: metros and 30+ investors lead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city tier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starts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Metros and NCR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Tier-2 cities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towns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age (known users)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starts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step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23-29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4904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Metros are 42% of visitors but 74% of purchase starts. Tier-2 and smaller towns bring 57% of visitors and convert far less, so paid spend there is a candidate for tighter targeting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youngest cohort (23-29) chooses SIP least: 14.5% against about 17% for ages 30-50, although SIP is their natural product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SIP investors concentrate in the Midcap Fund (1.58M of 2.82M, 56%), yet paid landing pages are thematic and index funds: Special Opportunities 318k views, Defence 284k, Midcap 130k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Gulf and Singapore cities give 5.6% of purchase starts (about 1,900), a ready NRI audience</a:t>
            </a:r>
            <a:endParaRPr lang="en-US" sz="1400" dirty="0"/>
          </a:p>
        </p:txBody>
      </p:sp>
      <p:sp>
        <p:nvSpPr>
          <p:cNvPr id="9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NVECTA, 14 Sep to 14 Oct 2026. City is IP-based (small-town names are often mobile-carrier gateways); the top 100 cities cover 59% of visitors, so tier-2 and smaller-town purchase starts are understated. Age covers known users in the three age segments. Midcap Fund = scheme code FM.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Pre-login journey: where visitors drop and where we test</a:t>
            </a:r>
            <a:endParaRPr lang="en-US" sz="2800" dirty="0"/>
          </a:p>
        </p:txBody>
      </p:sp>
      <p:sp>
        <p:nvSpPr>
          <p:cNvPr id="3" name="Journey stage"/>
          <p:cNvSpPr/>
          <p:nvPr/>
        </p:nvSpPr>
        <p:spPr>
          <a:xfrm>
            <a:off x="548640" y="1280160"/>
            <a:ext cx="2110435" cy="3886200"/>
          </a:xfrm>
          <a:prstGeom prst="roundRect">
            <a:avLst>
              <a:gd name="adj" fmla="val 346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371600"/>
            <a:ext cx="1890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01952"/>
            <a:ext cx="1890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2.04M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18909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visitors; 88% from paid search, 90% on mobile</a:t>
            </a:r>
            <a:endParaRPr lang="en-US" sz="1200" dirty="0"/>
          </a:p>
        </p:txBody>
      </p:sp>
      <p:sp>
        <p:nvSpPr>
          <p:cNvPr id="7" name="Journey arrow"/>
          <p:cNvSpPr/>
          <p:nvPr/>
        </p:nvSpPr>
        <p:spPr>
          <a:xfrm>
            <a:off x="2640787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Journey stage"/>
          <p:cNvSpPr/>
          <p:nvPr/>
        </p:nvSpPr>
        <p:spPr>
          <a:xfrm>
            <a:off x="2787091" y="1280160"/>
            <a:ext cx="2110435" cy="3886200"/>
          </a:xfrm>
          <a:prstGeom prst="roundRect">
            <a:avLst>
              <a:gd name="adj" fmla="val 346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6819" y="1371600"/>
            <a:ext cx="1890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96819" y="1901952"/>
            <a:ext cx="1890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267k + 1.46M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96819" y="2377440"/>
            <a:ext cx="18909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on the SIP calculator and on fund pages</a:t>
            </a:r>
            <a:endParaRPr lang="en-US" sz="1200" dirty="0"/>
          </a:p>
        </p:txBody>
      </p:sp>
      <p:sp>
        <p:nvSpPr>
          <p:cNvPr id="12" name="Test star"/>
          <p:cNvSpPr/>
          <p:nvPr/>
        </p:nvSpPr>
        <p:spPr>
          <a:xfrm>
            <a:off x="2878531" y="3703320"/>
            <a:ext cx="1927555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51683" y="3703320"/>
            <a:ext cx="17812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T2, T5 fund first screen</a:t>
            </a:r>
            <a:endParaRPr lang="en-US" sz="1100" dirty="0"/>
          </a:p>
        </p:txBody>
      </p:sp>
      <p:sp>
        <p:nvSpPr>
          <p:cNvPr id="14" name="Test star"/>
          <p:cNvSpPr/>
          <p:nvPr/>
        </p:nvSpPr>
        <p:spPr>
          <a:xfrm>
            <a:off x="2878531" y="4160520"/>
            <a:ext cx="1927555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51683" y="4160520"/>
            <a:ext cx="17812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T4 calculator inputs</a:t>
            </a:r>
            <a:endParaRPr lang="en-US" sz="1100" dirty="0"/>
          </a:p>
        </p:txBody>
      </p:sp>
      <p:sp>
        <p:nvSpPr>
          <p:cNvPr id="16" name="Journey arrow"/>
          <p:cNvSpPr/>
          <p:nvPr/>
        </p:nvSpPr>
        <p:spPr>
          <a:xfrm>
            <a:off x="4879238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Journey stage"/>
          <p:cNvSpPr/>
          <p:nvPr/>
        </p:nvSpPr>
        <p:spPr>
          <a:xfrm>
            <a:off x="5025542" y="1280160"/>
            <a:ext cx="2110435" cy="3886200"/>
          </a:xfrm>
          <a:prstGeom prst="roundRect">
            <a:avLst>
              <a:gd name="adj" fmla="val 3466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5270" y="1371600"/>
            <a:ext cx="1890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plan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35270" y="1901952"/>
            <a:ext cx="1890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 leave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135270" y="2377440"/>
            <a:ext cx="18909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calculator users never reach login in the same journey</a:t>
            </a:r>
            <a:endParaRPr lang="en-US" sz="1200" dirty="0"/>
          </a:p>
        </p:txBody>
      </p:sp>
      <p:sp>
        <p:nvSpPr>
          <p:cNvPr id="21" name="Test star"/>
          <p:cNvSpPr/>
          <p:nvPr/>
        </p:nvSpPr>
        <p:spPr>
          <a:xfrm>
            <a:off x="5116982" y="3703320"/>
            <a:ext cx="1927555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90134" y="3703320"/>
            <a:ext cx="17812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T1 button names the plan</a:t>
            </a:r>
            <a:endParaRPr lang="en-US" sz="1100" dirty="0"/>
          </a:p>
        </p:txBody>
      </p:sp>
      <p:sp>
        <p:nvSpPr>
          <p:cNvPr id="23" name="Test star"/>
          <p:cNvSpPr/>
          <p:nvPr/>
        </p:nvSpPr>
        <p:spPr>
          <a:xfrm>
            <a:off x="5116982" y="4160520"/>
            <a:ext cx="1927555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90134" y="4160520"/>
            <a:ext cx="17812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T6 save the plan</a:t>
            </a:r>
            <a:endParaRPr lang="en-US" sz="1100" dirty="0"/>
          </a:p>
        </p:txBody>
      </p:sp>
      <p:sp>
        <p:nvSpPr>
          <p:cNvPr id="25" name="Journey arrow"/>
          <p:cNvSpPr/>
          <p:nvPr/>
        </p:nvSpPr>
        <p:spPr>
          <a:xfrm>
            <a:off x="7117690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Journey stage"/>
          <p:cNvSpPr/>
          <p:nvPr/>
        </p:nvSpPr>
        <p:spPr>
          <a:xfrm>
            <a:off x="7263994" y="1280160"/>
            <a:ext cx="2110435" cy="3886200"/>
          </a:xfrm>
          <a:prstGeom prst="roundRect">
            <a:avLst>
              <a:gd name="adj" fmla="val 3466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73722" y="1371600"/>
            <a:ext cx="1890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gate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73722" y="1901952"/>
            <a:ext cx="1890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2.7% | 1.4%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373722" y="2377440"/>
            <a:ext cx="18909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reach a login page from the calculator | from fund pages (7,318 | 19,819)</a:t>
            </a:r>
            <a:endParaRPr lang="en-US" sz="1200" dirty="0"/>
          </a:p>
        </p:txBody>
      </p:sp>
      <p:sp>
        <p:nvSpPr>
          <p:cNvPr id="30" name="Test star"/>
          <p:cNvSpPr/>
          <p:nvPr/>
        </p:nvSpPr>
        <p:spPr>
          <a:xfrm>
            <a:off x="7355434" y="3703320"/>
            <a:ext cx="1927555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28586" y="3703320"/>
            <a:ext cx="17812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P7, P8 bring them back</a:t>
            </a:r>
            <a:endParaRPr lang="en-US" sz="1100" dirty="0"/>
          </a:p>
        </p:txBody>
      </p:sp>
      <p:sp>
        <p:nvSpPr>
          <p:cNvPr id="32" name="Journey arrow"/>
          <p:cNvSpPr/>
          <p:nvPr/>
        </p:nvSpPr>
        <p:spPr>
          <a:xfrm>
            <a:off x="9356141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Journey stage"/>
          <p:cNvSpPr/>
          <p:nvPr/>
        </p:nvSpPr>
        <p:spPr>
          <a:xfrm>
            <a:off x="9502445" y="1280160"/>
            <a:ext cx="2110435" cy="3886200"/>
          </a:xfrm>
          <a:prstGeom prst="roundRect">
            <a:avLst>
              <a:gd name="adj" fmla="val 3466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12173" y="1371600"/>
            <a:ext cx="1890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step (invest)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12173" y="1901952"/>
            <a:ext cx="1890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1,539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612173" y="2377440"/>
            <a:ext cx="18909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reach the SIP step from fund pages (7.8% of login arrivals); 1,132 are charged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marks a test or nudge from the roadmap. Login-page changes are not proposed in this round.</a:t>
            </a:r>
            <a:endParaRPr lang="en-US" sz="1200" dirty="0"/>
          </a:p>
        </p:txBody>
      </p:sp>
      <p:sp>
        <p:nvSpPr>
          <p:cNvPr id="38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NVECTA temporary funnels, 7-day window, steps not strictly ordered; a floor, because www visitors are anonymous until login. Charged counts any successful payment.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Post-login journey: SIP set-up, mandate, retention</a:t>
            </a:r>
            <a:endParaRPr lang="en-US" sz="2800" dirty="0"/>
          </a:p>
        </p:txBody>
      </p:sp>
      <p:sp>
        <p:nvSpPr>
          <p:cNvPr id="3" name="Journey stage"/>
          <p:cNvSpPr/>
          <p:nvPr/>
        </p:nvSpPr>
        <p:spPr>
          <a:xfrm>
            <a:off x="548640" y="1280160"/>
            <a:ext cx="1737360" cy="3886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3716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to purchase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019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33,975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start a purchase; 5,125 (15%) reach the SIP step</a:t>
            </a:r>
            <a:endParaRPr lang="en-US" sz="1200" dirty="0"/>
          </a:p>
        </p:txBody>
      </p:sp>
      <p:sp>
        <p:nvSpPr>
          <p:cNvPr id="7" name="Test star"/>
          <p:cNvSpPr/>
          <p:nvPr/>
        </p:nvSpPr>
        <p:spPr>
          <a:xfrm>
            <a:off x="640080" y="3703320"/>
            <a:ext cx="15544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3703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P1 restart a dormant SIP</a:t>
            </a:r>
            <a:endParaRPr lang="en-US" sz="1100" dirty="0"/>
          </a:p>
        </p:txBody>
      </p:sp>
      <p:sp>
        <p:nvSpPr>
          <p:cNvPr id="9" name="Journey arrow"/>
          <p:cNvSpPr/>
          <p:nvPr/>
        </p:nvSpPr>
        <p:spPr>
          <a:xfrm>
            <a:off x="2267712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Journey stage"/>
          <p:cNvSpPr/>
          <p:nvPr/>
        </p:nvSpPr>
        <p:spPr>
          <a:xfrm>
            <a:off x="2414016" y="1280160"/>
            <a:ext cx="1737360" cy="3886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23744" y="13716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SIP, payment, OTP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23744" y="19019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523744" y="237744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reach payment, 3,072 OTP; web 91% reach Charged, apps 71-87%</a:t>
            </a:r>
            <a:endParaRPr lang="en-US" sz="1200" dirty="0"/>
          </a:p>
        </p:txBody>
      </p:sp>
      <p:sp>
        <p:nvSpPr>
          <p:cNvPr id="14" name="Journey arrow"/>
          <p:cNvSpPr/>
          <p:nvPr/>
        </p:nvSpPr>
        <p:spPr>
          <a:xfrm>
            <a:off x="4133088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Journey stage"/>
          <p:cNvSpPr/>
          <p:nvPr/>
        </p:nvSpPr>
        <p:spPr>
          <a:xfrm>
            <a:off x="4279392" y="1280160"/>
            <a:ext cx="1737360" cy="3886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13716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Autopay mandate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19019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1,351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37744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hit a failure; app failure rate 40-60% vs 24% on web</a:t>
            </a:r>
            <a:endParaRPr lang="en-US" sz="1200" dirty="0"/>
          </a:p>
        </p:txBody>
      </p:sp>
      <p:sp>
        <p:nvSpPr>
          <p:cNvPr id="19" name="Test star"/>
          <p:cNvSpPr/>
          <p:nvPr/>
        </p:nvSpPr>
        <p:spPr>
          <a:xfrm>
            <a:off x="4370832" y="3703320"/>
            <a:ext cx="15544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43984" y="3703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P4 fix my autopay</a:t>
            </a:r>
            <a:endParaRPr lang="en-US" sz="1100" dirty="0"/>
          </a:p>
        </p:txBody>
      </p:sp>
      <p:sp>
        <p:nvSpPr>
          <p:cNvPr id="21" name="Journey arrow"/>
          <p:cNvSpPr/>
          <p:nvPr/>
        </p:nvSpPr>
        <p:spPr>
          <a:xfrm>
            <a:off x="5998464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Journey stage"/>
          <p:cNvSpPr/>
          <p:nvPr/>
        </p:nvSpPr>
        <p:spPr>
          <a:xfrm>
            <a:off x="6144768" y="1280160"/>
            <a:ext cx="1737360" cy="3886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54496" y="13716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SIP base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19019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2.8M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237744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SIP investors a month; median SIP Rs 1,001, average Rs 2,720; 56% digital</a:t>
            </a:r>
            <a:endParaRPr lang="en-US" sz="1200" dirty="0"/>
          </a:p>
        </p:txBody>
      </p:sp>
      <p:sp>
        <p:nvSpPr>
          <p:cNvPr id="26" name="Test star"/>
          <p:cNvSpPr/>
          <p:nvPr/>
        </p:nvSpPr>
        <p:spPr>
          <a:xfrm>
            <a:off x="6236208" y="3703320"/>
            <a:ext cx="15544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3703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P2 raise your SIP</a:t>
            </a:r>
            <a:endParaRPr lang="en-US" sz="1100" dirty="0"/>
          </a:p>
        </p:txBody>
      </p:sp>
      <p:sp>
        <p:nvSpPr>
          <p:cNvPr id="28" name="Test star"/>
          <p:cNvSpPr/>
          <p:nvPr/>
        </p:nvSpPr>
        <p:spPr>
          <a:xfrm>
            <a:off x="6236208" y="4160520"/>
            <a:ext cx="15544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41605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P6 add a second SIP</a:t>
            </a:r>
            <a:endParaRPr lang="en-US" sz="1100" dirty="0"/>
          </a:p>
        </p:txBody>
      </p:sp>
      <p:sp>
        <p:nvSpPr>
          <p:cNvPr id="30" name="Journey arrow"/>
          <p:cNvSpPr/>
          <p:nvPr/>
        </p:nvSpPr>
        <p:spPr>
          <a:xfrm>
            <a:off x="7863840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Journey stage"/>
          <p:cNvSpPr/>
          <p:nvPr/>
        </p:nvSpPr>
        <p:spPr>
          <a:xfrm>
            <a:off x="8010144" y="1280160"/>
            <a:ext cx="1737360" cy="3886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19872" y="13716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or pause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19019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2,253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119872" y="237744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cancelled vs 483 paused; 1,622 left the cancel page without cancelling</a:t>
            </a:r>
            <a:endParaRPr lang="en-US" sz="1200" dirty="0"/>
          </a:p>
        </p:txBody>
      </p:sp>
      <p:sp>
        <p:nvSpPr>
          <p:cNvPr id="35" name="Test star"/>
          <p:cNvSpPr/>
          <p:nvPr/>
        </p:nvSpPr>
        <p:spPr>
          <a:xfrm>
            <a:off x="8101584" y="3703320"/>
            <a:ext cx="15544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74736" y="3703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P5 pause or lower</a:t>
            </a:r>
            <a:endParaRPr lang="en-US" sz="1100" dirty="0"/>
          </a:p>
        </p:txBody>
      </p:sp>
      <p:sp>
        <p:nvSpPr>
          <p:cNvPr id="37" name="Journey arrow"/>
          <p:cNvSpPr/>
          <p:nvPr/>
        </p:nvSpPr>
        <p:spPr>
          <a:xfrm>
            <a:off x="9729216" y="1993392"/>
            <a:ext cx="164592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Journey stage"/>
          <p:cNvSpPr/>
          <p:nvPr/>
        </p:nvSpPr>
        <p:spPr>
          <a:xfrm>
            <a:off x="9875520" y="1280160"/>
            <a:ext cx="1737360" cy="3886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85248" y="13716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folio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985248" y="19019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9985248" y="237744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1,811 new folios make a first SIP within 24 hours; 32% in 7 days</a:t>
            </a:r>
            <a:endParaRPr lang="en-US" sz="1200" dirty="0"/>
          </a:p>
        </p:txBody>
      </p:sp>
      <p:sp>
        <p:nvSpPr>
          <p:cNvPr id="42" name="Test star"/>
          <p:cNvSpPr/>
          <p:nvPr/>
        </p:nvSpPr>
        <p:spPr>
          <a:xfrm>
            <a:off x="9966960" y="3703320"/>
            <a:ext cx="15544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040112" y="3703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P3 start your first SIP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marks a personalised nudge from the roadmap; most can run now as NVECTA journeys.</a:t>
            </a:r>
            <a:endParaRPr lang="en-US" sz="1200" dirty="0"/>
          </a:p>
        </p:txBody>
      </p:sp>
      <p:sp>
        <p:nvSpPr>
          <p:cNvPr id="45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NVECTA saved funnels 3137, 3178, autopay, cancel, pause and folio funnels; transaction_new (all channels) for the SIP base, 14 Sep to 14 Oct 2026. Event-user counts are indicative.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investors worry about, and what it means for our pages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029200"/>
                <a:gridCol w="35661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for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drawdown for new investors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fell 5.3% in one March 2026 week; 486 of 556 schemes were negative in FY26 (as reported); stoppage ratio above 100% in Mar-Apr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Reassurance next to the button (T5)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young SIPs churn most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Under-35s opened 40% of new SIPs in 2025 (Bain, Groww via IBEF); churn is concentrated in newer, smaller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entry amounts, mobile-first (T1, T2, T4)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SIPs are thinning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older than 5 years fell 11.2% to 1.06 crore (as reported)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nudges: raise, pause, second SIP (P2, P5, P6)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own behaviour shows it too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Cancels beat pauses 5 to 1; 40-60% of app mandates fail; 1,622 left the cancel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 fear and payment friction are real (P4, P5)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arket strip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919472"/>
            <a:ext cx="1069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Backdrop: record Rs 32,490 crore of SIP inflow in September 2026, yet the stoppage ratio is 78.5% (95.5% in May). Money keeps flowing, but new and small SIPs are fragile. Retail has not left equities; the risk is at the margin.</a:t>
            </a:r>
            <a:endParaRPr lang="en-US" sz="1400" dirty="0"/>
          </a:p>
        </p:txBody>
      </p:sp>
      <p:sp>
        <p:nvSpPr>
          <p:cNvPr id="6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media reports of AMFI data and surveys (Angel One, Sahi, IBEF, Upstox, Business Standard, DSIJ), 2026; NVECTA behavioural data. Media figures are not independently verified.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Peers put the invest step on the page; we already match on mobile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/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MOAMC (own)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Home: SIP block or button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SIP block; 'Invest'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calculator widget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'SIP with ABSL MF' section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'Invest'; expert help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 Now'; no SIP 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'Start a SIP'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Home: guided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'Call back', 'WhatsApp us'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'Great for Beginners'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'Get Investment Plan'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'Speak to an expert'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'Talk to us'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'Guide me now'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Calculator: invest button on the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'Start SIP' (mobile); plan link unconfirmed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 Now' under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'Calculate'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'Start Investing' under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 box and 'Start Now'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 Now' on step-up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Calculator: presets and modes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Prefilled Rs 10,000, sliders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or SIP-amount modes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List: step-up, cost of delay, 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chips; SIP, Lumpsum, SWP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Goal-based ('I want to make')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/ Lumpsum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Calculator: SIP FAQs on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section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'Can I pause / modify a SIP?'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page (desktop): amount above the 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 Now', SIP/Lumpsum toggle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Panel: SIP tab, amount, chips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Panel: SIP and lumpsum amounts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'New Investment' 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'Invest' button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Quick Invest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page: minimum SIP shown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in 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Rs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Rs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500 on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page (mobile): invest button on first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 Now' + '6.5L have invested'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'Invest Now'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'Invest Now'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below first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'Invest'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'Invest Now'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tool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50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6A"/>
                </a:solidFill>
              </a:rPr>
              <a:t>Green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= clear SIP path on the page   </a:t>
            </a:r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</a:rPr>
              <a:t>Amber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= partial   </a:t>
            </a:r>
            <a:pPr indent="0" marL="0">
              <a:buNone/>
            </a:pPr>
            <a:r>
              <a:rPr lang="en-US" sz="1200" b="1" dirty="0">
                <a:solidFill>
                  <a:srgbClr val="D8504D"/>
                </a:solidFill>
              </a:rPr>
              <a:t>Red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= not seen on the page   </a:t>
            </a:r>
            <a:pPr indent="0" marL="0">
              <a:buNone/>
            </a:pPr>
            <a:r>
              <a:rPr lang="en-US" sz="1200" b="1" dirty="0">
                <a:solidFill>
                  <a:srgbClr val="7A8CA3"/>
                </a:solidFill>
              </a:rPr>
              <a:t>Grey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= neutral</a:t>
            </a:r>
            <a:endParaRPr lang="en-US" sz="1200" dirty="0"/>
          </a:p>
        </p:txBody>
      </p:sp>
      <p:sp>
        <p:nvSpPr>
          <p:cNvPr id="5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page snapshots, 14 Oct 2026 (desktop and phone viewport, 3 fresh sessions per page). Axis and Nippon SIP landing pages are blocked to scrapers; HDFC was dropped (robots.txt). Snapshots show content, not performance.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Six learnings from how peers handle SIP</a:t>
            </a:r>
            <a:endParaRPr lang="en-US" sz="2800" dirty="0"/>
          </a:p>
        </p:txBody>
      </p:sp>
      <p:sp>
        <p:nvSpPr>
          <p:cNvPr id="3" name="Learning card"/>
          <p:cNvSpPr/>
          <p:nvPr/>
        </p:nvSpPr>
        <p:spPr>
          <a:xfrm>
            <a:off x="54864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end the calculator with a button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3852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ICICI ('Start Investing'), Axis ('Invest Now') and SBI ('Start Now') put a button right under the result. Ours is a sticky 'Start SIP' that does not show the plan. Test T1.</a:t>
            </a:r>
            <a:endParaRPr lang="en-US" sz="1300" dirty="0"/>
          </a:p>
        </p:txBody>
      </p:sp>
      <p:sp>
        <p:nvSpPr>
          <p:cNvPr id="6" name="Learning card"/>
          <p:cNvSpPr/>
          <p:nvPr/>
        </p:nvSpPr>
        <p:spPr>
          <a:xfrm>
            <a:off x="429768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3484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collect contact details early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93852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SBI asks for PAN next to 'Start Now'; Axis offers a call-back form; ABSL offers 'Get Investment Plan'. We ask for nothing until login. Test T6.</a:t>
            </a:r>
            <a:endParaRPr lang="en-US" sz="1300" dirty="0"/>
          </a:p>
        </p:txBody>
      </p:sp>
      <p:sp>
        <p:nvSpPr>
          <p:cNvPr id="9" name="Learning card"/>
          <p:cNvSpPr/>
          <p:nvPr/>
        </p:nvSpPr>
        <p:spPr>
          <a:xfrm>
            <a:off x="804672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38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answer SIP worries on the page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93852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SBI's calculator page answers 'Can I pause my SIP?', 'Can I modify the amount?' and 'Can I renew?'. Test T5.</a:t>
            </a:r>
            <a:endParaRPr lang="en-US" sz="1300" dirty="0"/>
          </a:p>
        </p:txBody>
      </p:sp>
      <p:sp>
        <p:nvSpPr>
          <p:cNvPr id="12" name="Learning card"/>
          <p:cNvSpPr/>
          <p:nvPr/>
        </p:nvSpPr>
        <p:spPr>
          <a:xfrm>
            <a:off x="548640" y="3657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show an amount and the minimum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31596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fund pages Axis, ABSL and ICICI let visitors enter a SIP amount; minimums are Rs 100 to Rs 500. Ours asks for no amount. Test T2.</a:t>
            </a:r>
            <a:endParaRPr lang="en-US" sz="1300" dirty="0"/>
          </a:p>
        </p:txBody>
      </p:sp>
      <p:sp>
        <p:nvSpPr>
          <p:cNvPr id="15" name="Learning card"/>
          <p:cNvSpPr/>
          <p:nvPr/>
        </p:nvSpPr>
        <p:spPr>
          <a:xfrm>
            <a:off x="4297680" y="3657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484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offer more calculator options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431596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ICICI has amount chips and SIP / lumpsum / SWP tabs, ABSL lists step-up and goal tools, SBI has a Rs 1 crore goal calculator. Test T4.</a:t>
            </a:r>
            <a:endParaRPr lang="en-US" sz="1300" dirty="0"/>
          </a:p>
        </p:txBody>
      </p:sp>
      <p:sp>
        <p:nvSpPr>
          <p:cNvPr id="18" name="Learning card"/>
          <p:cNvSpPr/>
          <p:nvPr/>
        </p:nvSpPr>
        <p:spPr>
          <a:xfrm>
            <a:off x="8046720" y="3657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peers are already A/B testing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431596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Axis, ABSL, ICICI and Nippon run Adobe Target; ABSL's home cards and ICICI's hero change between visits. SBI and we show no tool, so we can start ahead of SBI.</a:t>
            </a:r>
            <a:endParaRPr lang="en-US" sz="13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page snapshots, 14 Oct 2026 (desktop and mobile). Peer choices show what others do, not what wins; each learning becomes a test.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 recommendations: five pre-login tests, mocked up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1920240"/>
                <a:gridCol w="548640"/>
                <a:gridCol w="1188720"/>
                <a:gridCol w="155448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uplift a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need from the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 button names the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 SIP calculator (mobile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/ 7-14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to 125 SIPs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what today's 'Start SIP' passes to the invest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SIP-first first screen on fund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pages, mobile first (Defence Index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 / 7-14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+115 to 230 SIPs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SIP per fund; how the amount is passed to the invest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Reassurance next to the SIP 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pages, mobile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/ 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 to 95 SIPs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approval of the wording; confirm the pause and stop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Calculator: presets, step-up and a clear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 SIP calculator (mobile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 / 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 to 85 SIPs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default return presets (8-13%) and illustration wording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the SIP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 SIP calculator (mobile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days / 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 to 160 SIPs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text and approved WhatsApp and email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T2 and T5 change the same fund-page first screen, so they run together as an A/B/C. T4 runs after T1 so the effects stack. All five are website changes with a 1-3 day build.</a:t>
            </a:r>
            <a:endParaRPr lang="en-US" sz="1300" dirty="0"/>
          </a:p>
        </p:txBody>
      </p:sp>
      <p:sp>
        <p:nvSpPr>
          <p:cNvPr id="5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Uplifts are hypotheses sized from this month's volumes; T1, T4 and T5 share the calculator and must not be added. Sample size: about 26k users per arm for the calculator, about 52k for one fund page.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T1  Calculator button names the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OBSERVATION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Analytics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SIP calculator is our top page: 267,573 users in 30 days, 99% from paid search and 91% on mobile. Only 2.7% reach a login page.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Competitors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ICICI, Axis and SBI end the calculator with a button under the result. Ours is a sticky 'Start SIP' that does not show the plan.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HYPOTHESIS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button that states the plan ('Start a SIP of Rs 10,000/month'), with 'Start from Rs 100, pause or stop anytime, 100% online' beneath it, raises clicks because visitors see what they are committing to.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Control: sticky 'Start SIP'. Variant: dynamic button with the chosen amount plus three trust points. Primary: calculator to login or invest click. Guardrail: calculator use per session.</a:t>
            </a:r>
            <a:endParaRPr lang="en-US" sz="1100" dirty="0"/>
          </a:p>
        </p:txBody>
      </p:sp>
      <p:sp>
        <p:nvSpPr>
          <p:cNvPr id="4" name="Uplift card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EXPECTED UPLIFT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85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+15-30%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relative lift in calculator to login (2.7% to 3.1-3.5%): about +1,100-2,200 login visits and +60-125 SIPs a month</a:t>
            </a:r>
            <a:endParaRPr lang="en-US" sz="1100" dirty="0"/>
          </a:p>
        </p:txBody>
      </p:sp>
      <p:pic>
        <p:nvPicPr>
          <p:cNvPr id="8" name="Mock design" descr="Mock design for Calculator button names the plan: control versus vari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875" y="1188720"/>
            <a:ext cx="5203005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T2  SIP-first first screen on fund pages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OBSERVATION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Analytics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Eight fund pages draw 130k-318k views each. Only 1.4% of 1.46M fund-page users reach a login page, and 'Invest Now' asks for no amount.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Competitors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Axis, ABSL and ICICI let desktop visitors enter a SIP amount (minimum Rs 100-500). SBI and Nippon show only 'Invest'.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HYPOTHESIS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Choosing a monthly amount on the first screen (Rs 500 / 1,000 / 2,000 / 5,000) makes starting a SIP feel small and concrete, and carries the amount into the invest flow.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Control: 'Invest Now'. Variant: 'Start a SIP' block with amount chips and 'Continue with Rs 500/month'. Primary: fund page to login or invest click. Guardrail: lumpsum starts. Check each fund's minimum first.</a:t>
            </a:r>
            <a:endParaRPr lang="en-US" sz="1100" dirty="0"/>
          </a:p>
        </p:txBody>
      </p:sp>
      <p:sp>
        <p:nvSpPr>
          <p:cNvPr id="4" name="Uplift card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EXPECTED UPLIFT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85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+10-20%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relative lift in fund page to login (1.4% to 1.5-1.6%): about +2,000-4,000 login visits and +115-230 SIPs a month across 8 pages</a:t>
            </a:r>
            <a:endParaRPr lang="en-US" sz="1100" dirty="0"/>
          </a:p>
        </p:txBody>
      </p:sp>
      <p:pic>
        <p:nvPicPr>
          <p:cNvPr id="8" name="Mock design" descr="Mock design for SIP-first first screen on fund pages: control versus vari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875" y="1188720"/>
            <a:ext cx="5203005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T5  Reassurance next to the SIP button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OBSERVATION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Analytics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Cancels outnumber pauses 5 to 1 (2,253 vs 483). The SIP stoppage ratio was above 100% in March and April 2026 and is still 78.5% in September.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Competitors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SBI's calculator page answers 'Can I pause my SIP?'. Axis publishes a guide to starting a SIP with Rs 100.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HYPOTHESIS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New investors fear locking in during a volatile market. A strip saying 'Start from Rs 500/month, pause or stop anytime, 100% online and secure' beside a SIP-first button lowers that fear.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Control: 'Invest Now'. Variant: trust strip, primary 'Start SIP from Rs 500/month', secondary 'Invest Now (Lumpsum)'. Primary: fund page to login or invest click. Guardrail: lumpsum starts. Runs with T2 as A/B/C.</a:t>
            </a:r>
            <a:endParaRPr lang="en-US" sz="1100" dirty="0"/>
          </a:p>
        </p:txBody>
      </p:sp>
      <p:sp>
        <p:nvSpPr>
          <p:cNvPr id="4" name="Uplift card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EXPECTED UPLIFT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85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+3-6%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relative lift in page to login across calculator and fund pages: about +800-1,600 login visits and +45-95 SIPs a month</a:t>
            </a:r>
            <a:endParaRPr lang="en-US" sz="1100" dirty="0"/>
          </a:p>
        </p:txBody>
      </p:sp>
      <p:pic>
        <p:nvPicPr>
          <p:cNvPr id="8" name="Mock design" descr="Mock design for Reassurance next to the SIP button: control versus vari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875" y="1188720"/>
            <a:ext cx="5203005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T4  Calculator: presets, step-up and a clear outcome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OBSERVATION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Analytics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91% of calculator users are on mobile and type into an open form. Step-up lives on a separate page with 28k views, 8% of the SIP calculator's.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Competitors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ICICI has amount chips and SIP / lumpsum / SWP tabs; ABSL lists step-up, cost-of-delay and goal tools; SBI has a Rs 1 crore goal calculator.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HYPOTHESIS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Tap-to-select amount, return and period, an optional step-up switch and a '1.6x your investment' outcome help more visitors complete a plan and see a bigger result, so more reach the button.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Control: sliders and open fields. Variant: preset chips, step-up (10% a year), outcome multiple and the dynamic button. Primary: plans completed and button clicks. Run after T1.</a:t>
            </a:r>
            <a:endParaRPr lang="en-US" sz="1100" dirty="0"/>
          </a:p>
        </p:txBody>
      </p:sp>
      <p:sp>
        <p:nvSpPr>
          <p:cNvPr id="4" name="Uplift card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EXPECTED UPLIFT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85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+10-20%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relative lift in calculator to login on top of T1: about +730-1,460 login visits and +40-85 SIPs a month</a:t>
            </a:r>
            <a:endParaRPr lang="en-US" sz="1100" dirty="0"/>
          </a:p>
        </p:txBody>
      </p:sp>
      <p:pic>
        <p:nvPicPr>
          <p:cNvPr id="8" name="Mock design" descr="Mock design for Calculator: presets, step-up and a clear outcome: control versus vari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875" y="1188720"/>
            <a:ext cx="5203005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T6  Save the SIP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OBSERVATION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Analytics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267,573 calculator users in 30 days and 97% never reach a login page. We already send WhatsApp (64), RCS (23) and email (145) campaigns a month, so a saved plan can be followed up in NVECTA.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Competitors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SBI asks for PAN beside 'Start Now' inside its calculator; Axis offers 'Get a Quick Call'; ABSL offers 'Get Investment Plan'.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HYPOTHESIS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Visitors who built a plan but are not ready to log in will take it with them if offered it by email or WhatsApp. A follow-up journey then brings some of them back to start the SIP.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Control: no capture. Variant: 'Save this SIP plan' with Send on Email / Send on WhatsApp and a consent line; follow-ups at 1 hour, 1 day and 3 days. Primary: capture rate, then SIPs within 14 days.</a:t>
            </a:r>
            <a:endParaRPr lang="en-US" sz="1100" dirty="0"/>
          </a:p>
        </p:txBody>
      </p:sp>
      <p:sp>
        <p:nvSpPr>
          <p:cNvPr id="4" name="Uplift card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EXPECTED UPLIFT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85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capture of calculator users (2,700-5,300 leads); if 2-3% start a SIP within 14 days: about +55-160 SIPs a month</a:t>
            </a:r>
            <a:endParaRPr lang="en-US" sz="1100" dirty="0"/>
          </a:p>
        </p:txBody>
      </p:sp>
      <p:pic>
        <p:nvPicPr>
          <p:cNvPr id="8" name="Mock design" descr="Mock design for Save the SIP plan: control versus vari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875" y="1188720"/>
            <a:ext cx="5203005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Personalisation: the signals we already hold</a:t>
            </a:r>
            <a:endParaRPr lang="en-US" sz="2800" dirty="0"/>
          </a:p>
        </p:txBody>
      </p:sp>
      <p:sp>
        <p:nvSpPr>
          <p:cNvPr id="3" name="Signal card"/>
          <p:cNvSpPr/>
          <p:nvPr/>
        </p:nvSpPr>
        <p:spPr>
          <a:xfrm>
            <a:off x="548640" y="1280160"/>
            <a:ext cx="53949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what the investor has told us or we have verified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 band (segments for 23-29, 30-39 and 40-50 already exist)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City and region; Direct or regular channel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KYC status; preferred channel and consent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Holdings and AUM band, including holdings at other AMCs (data lake segments)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Investor zone and scheme on every transaction (56% of SIP investors sit in Digital Sales)</a:t>
            </a:r>
            <a:endParaRPr lang="en-US" sz="1300" dirty="0"/>
          </a:p>
        </p:txBody>
      </p:sp>
      <p:sp>
        <p:nvSpPr>
          <p:cNvPr id="7" name="Signal card"/>
          <p:cNvSpPr/>
          <p:nvPr/>
        </p:nvSpPr>
        <p:spPr>
          <a:xfrm>
            <a:off x="6217920" y="1280160"/>
            <a:ext cx="53949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what the investor does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Funds and pages viewed, visit frequency, campaign and keyword that brought them ("Recently Visited Fund" journey already has 489k entries)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SIP history on every transaction: SIP or lumpsum, amount, scheme (3.97M SIP instalments from 2.8M investors in 30 days; median Rs 1,001)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Failures and friction: autopay failure, payment failure, cancel-page visit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Engagement: email opens, WhatsApp reads, RFM tier, market-fall cohort</a:t>
            </a:r>
            <a:endParaRPr lang="en-US" sz="13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NVECTA segment list (about 250 segments), journeys and events, Oct 2026. SIP amount and type sit on the transaction_new event; SIP start date and active status do not.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Eight nudges, before and after login, most runnable now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80160"/>
                <a:gridCol w="2286000"/>
                <a:gridCol w="1417320"/>
                <a:gridCol w="1508760"/>
                <a:gridCol w="1783080"/>
                <a:gridCol w="1874520"/>
                <a:gridCol w="5029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today (NVECTA)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Uplift a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your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 in 90+ days: 4.76M (4.58M on WhatsApp). Logged in, idle 30 days: 68k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last login, last 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home card; WhatsApp or push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now; on-page card needs invest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0.1% response = 4,800 restarts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your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investors: 2.8M a month, median SIP Rs 1,001; 1.58M in Digital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SIP amount, scheme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Debit-day message; invest home 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now (SIP debit journey exists); start date needed for 6+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0.1% response = 2,800 raised SIPs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your first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folio, no SIP yet: 1,811 a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folio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Folio confirmation; message within 1 hour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now; on-page card needs invest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+70-145 SIPs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my autopay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Autopay or mandate failure: 1,351 users a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failure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or push within 30 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now (event already received)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+270-400 mandates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or lower, don't cancel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Cancel-page visitors: 1,622. Market-fall cohort: 519k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cancel page view; market-fall 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after the visit; cancel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now; 3-option step needs invest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+225-340 SIPs kept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second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of Rs 1 lakh or more: 42k; one-fund holders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and implicit: AUM, holdings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home;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now (AUM and holding segments exist)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1% response = 420 second SIPs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back, start your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visitors on www: 31k on one fund page in 7 days, 99% anonymous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fund viewed, frequency, campaign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 banner naming the fund viewed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www change; NVECTA web campaign to confirm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1-2% start a SIP: +310-630 on that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your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high-intent users: 265k, only 39k reachable (15%)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Implicit: SIP high-intent 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WhatsApp, push,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1-2% of the 39k finish: +390-770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P7 is a pre-login banner on www; the rest are messages or on-page cards. Audiences are NVECTA segment counts, Oct 2026. 'Each 0.1%' shows the scale of one response-rate point, not a forecast; the other uplifts assume the stated rate.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we need from your team to measure and personalise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846320"/>
                <a:gridCol w="20116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platform on transaction_new and Charged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is blank on all 2.8M SIP investors, so SIPs cannot be split by website, m-site or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fund, amount, frequency and step-up with the SIP step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us read tests by fund and amount and personalise by SIP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T2, T4, P6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result event for autopay (bank and UPI) with a failure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a true failure rate and a recovery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campaign source from www to the invest 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 SIPs to paid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T1, T2, T6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start date and active or stopped status per investor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SIPs that have run 6+ months and SIPs that lapsed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P2, P5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Evidence: NVECTA event and attribute lookups, Oct 2026. transaction_new already carries SIP or lumpsum, amount, scheme, city and zone.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Next steps: 2-3 tests a week, SIP first</a:t>
            </a:r>
            <a:endParaRPr lang="en-US" sz="2800" dirty="0"/>
          </a:p>
        </p:txBody>
      </p:sp>
      <p:sp>
        <p:nvSpPr>
          <p:cNvPr id="3" name="Step card"/>
          <p:cNvSpPr/>
          <p:nvPr/>
        </p:nvSpPr>
        <p:spPr>
          <a:xfrm>
            <a:off x="548640" y="13716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Step number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Launch T1 and the T2/T5 A/B/C; start P8 retargeting; confirm client inputs and the data needs</a:t>
            </a:r>
            <a:endParaRPr lang="en-US" sz="1400" dirty="0"/>
          </a:p>
        </p:txBody>
      </p:sp>
      <p:sp>
        <p:nvSpPr>
          <p:cNvPr id="8" name="Step card"/>
          <p:cNvSpPr/>
          <p:nvPr/>
        </p:nvSpPr>
        <p:spPr>
          <a:xfrm>
            <a:off x="3367735" y="13716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Step number"/>
          <p:cNvSpPr/>
          <p:nvPr/>
        </p:nvSpPr>
        <p:spPr>
          <a:xfrm>
            <a:off x="3596335" y="15544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6335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96335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96335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Launch T4 and T6; start the P3 first-SIP journey</a:t>
            </a:r>
            <a:endParaRPr lang="en-US" sz="1400" dirty="0"/>
          </a:p>
        </p:txBody>
      </p:sp>
      <p:sp>
        <p:nvSpPr>
          <p:cNvPr id="13" name="Step card"/>
          <p:cNvSpPr/>
          <p:nvPr/>
        </p:nvSpPr>
        <p:spPr>
          <a:xfrm>
            <a:off x="6186830" y="13716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Step number"/>
          <p:cNvSpPr/>
          <p:nvPr/>
        </p:nvSpPr>
        <p:spPr>
          <a:xfrm>
            <a:off x="6415430" y="15544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543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1543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1543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P1, P4 and P5 journeys; read the week-1 tests</a:t>
            </a:r>
            <a:endParaRPr lang="en-US" sz="1400" dirty="0"/>
          </a:p>
        </p:txBody>
      </p:sp>
      <p:sp>
        <p:nvSpPr>
          <p:cNvPr id="18" name="Step card"/>
          <p:cNvSpPr/>
          <p:nvPr/>
        </p:nvSpPr>
        <p:spPr>
          <a:xfrm>
            <a:off x="9005926" y="13716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Step number"/>
          <p:cNvSpPr/>
          <p:nvPr/>
        </p:nvSpPr>
        <p:spPr>
          <a:xfrm>
            <a:off x="9234526" y="15544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452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4526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34526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P2, P6 and P7; scale winners; choose problem two for the same cadence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SIP, the same cadence moves to the next problem: mobile-site conversion (90% of visitors, 8% of purchase starts), new-folio activation, NFO and lumpsum payment failures.</a:t>
            </a:r>
            <a:endParaRPr lang="en-US" sz="1400" dirty="0"/>
          </a:p>
        </p:txBody>
      </p:sp>
      <p:sp>
        <p:nvSpPr>
          <p:cNvPr id="24" name="Source note"/>
          <p:cNvSpPr txBox="1"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Cadence follows the 1-3 day build time and the commitment of 2-3 tests a week per client.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P Growth Review">
  <a:themeElements>
    <a:clrScheme name="SIP Growth Review">
      <a:dk1>
        <a:srgbClr val="1B2733"/>
      </a:dk1>
      <a:lt1>
        <a:srgbClr val="FFFFFF"/>
      </a:lt1>
      <a:dk2>
        <a:srgbClr val="0F2A43"/>
      </a:dk2>
      <a:lt2>
        <a:srgbClr val="EEF3F7"/>
      </a:lt2>
      <a:accent1>
        <a:srgbClr val="1F6F8B"/>
      </a:accent1>
      <a:accent2>
        <a:srgbClr val="F2A33A"/>
      </a:accent2>
      <a:accent3>
        <a:srgbClr val="D8504D"/>
      </a:accent3>
      <a:accent4>
        <a:srgbClr val="2E8B6A"/>
      </a:accent4>
      <a:accent5>
        <a:srgbClr val="7A8CA3"/>
      </a:accent5>
      <a:accent6>
        <a:srgbClr val="5B4B8A"/>
      </a:accent6>
      <a:hlink>
        <a:srgbClr val="1F6F8B"/>
      </a:hlink>
      <a:folHlink>
        <a:srgbClr val="5B4B8A"/>
      </a:folHlink>
    </a:clrScheme>
    <a:fontScheme name="SIP Growth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 growth: findings, competitors and test recommendations</dc:title>
  <dc:subject>PptxGenJS Presentation</dc:subject>
  <dc:creator>Motilal Oswal AMC - digital optimisation</dc:creator>
  <cp:lastModifiedBy>Motilal Oswal AMC - digital optimisation</cp:lastModifiedBy>
  <cp:revision>1</cp:revision>
  <dcterms:created xsi:type="dcterms:W3CDTF">2026-10-14T10:00:13Z</dcterms:created>
  <dcterms:modified xsi:type="dcterms:W3CDTF">2026-10-14T10:00:13Z</dcterms:modified>
</cp:coreProperties>
</file>