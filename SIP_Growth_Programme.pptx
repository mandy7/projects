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48da4a-9e0b-8320-4c87-0a0d531ff17c}">
          <p14:sldIdLst>
            <p14:sldId id="256"/>
            <p14:sldId id="257"/>
          </p14:sldIdLst>
        </p14:section>
        <p14:section name="What the data says" id="{31741b47-163f-153d-b855-b069ef78c1b9}">
          <p14:sldIdLst>
            <p14:sldId id="258"/>
            <p14:sldId id="259"/>
            <p14:sldId id="260"/>
            <p14:sldId id="261"/>
            <p14:sldId id="262"/>
          </p14:sldIdLst>
        </p14:section>
        <p14:section name="Market and customer context" id="{731e42fc-4b87-f7bb-a84a-23f6918d2998}">
          <p14:sldIdLst>
            <p14:sldId id="263"/>
            <p14:sldId id="264"/>
            <p14:sldId id="265"/>
          </p14:sldIdLst>
        </p14:section>
        <p14:section name="Competitors" id="{1824ae52-e459-9b47-8a3f-041a353f4c39}">
          <p14:sldIdLst>
            <p14:sldId id="266"/>
            <p14:sldId id="267"/>
            <p14:sldId id="268"/>
            <p14:sldId id="269"/>
            <p14:sldId id="270"/>
            <p14:sldId id="271"/>
          </p14:sldIdLst>
        </p14:section>
        <p14:section name="Test programme" id="{41a0034b-7ca6-d235-ba77-393297c8700f}">
          <p14:sldIdLst>
            <p14:sldId id="272"/>
            <p14:sldId id="273"/>
            <p14:sldId id="274"/>
            <p14:sldId id="275"/>
            <p14:sldId id="276"/>
            <p14:sldId id="277"/>
            <p14:sldId id="278"/>
            <p14:sldId id="279"/>
            <p14:sldId id="280"/>
            <p14:sldId id="281"/>
            <p14:sldId id="282"/>
          </p14:sldIdLst>
        </p14:section>
        <p14:section name="Tracking" id="{fdc52490-19fa-c9b2-ab3a-539c2eb1e066}">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733"/>
                </a:solidFill>
                <a:latin typeface="+mn-lt"/>
              </a:defRPr>
            </a:pPr>
            <a:r>
              <a:rPr sz="1400" b="0" i="0" u="none" strike="noStrike">
                <a:solidFill>
                  <a:srgbClr val="1B2733"/>
                </a:solidFill>
                <a:latin typeface="+mn-lt"/>
              </a:rPr>
              <a:t>Share of purchase starters who reach the SIP step</a:t>
            </a:r>
          </a:p>
        </c:rich>
      </c:tx>
      <c:layout/>
      <c:overlay val="0"/>
    </c:title>
    <c:autoTitleDeleted val="0"/>
    <c:plotArea>
      <c:layout/>
      <c:barChart>
        <c:barDir val="col"/>
        <c:grouping val="clustered"/>
        <c:varyColors val="0"/>
        <c:ser>
          <c:idx val="0"/>
          <c:order val="0"/>
          <c:tx>
            <c:strRef>
              <c:f>Sheet1!$B$1</c:f>
              <c:strCache>
                <c:ptCount val="1"/>
                <c:pt idx="0">
                  <c:v>Choose SIP</c:v>
                </c:pt>
              </c:strCache>
            </c:strRef>
          </c:tx>
          <c:spPr>
            <a:solidFill>
              <a:srgbClr val="1F6F8B"/>
            </a:solidFill>
            <a:effectLst/>
          </c:spPr>
          <c:invertIfNegative val="0"/>
          <c:dLbls>
            <c:numFmt formatCode="0.0&quot;%&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dPt>
            <c:idx val="0"/>
            <c:invertIfNegative val="0"/>
            <c:bubble3D val="0"/>
            <c:spPr>
              <a:solidFill>
                <a:srgbClr val="1F6F8B"/>
              </a:solidFill>
              <a:effectLst/>
            </c:spPr>
          </c:dPt>
          <c:dPt>
            <c:idx val="1"/>
            <c:invertIfNegative val="0"/>
            <c:bubble3D val="0"/>
            <c:spPr>
              <a:solidFill>
                <a:srgbClr val="1F6F8B"/>
              </a:solidFill>
              <a:effectLst/>
            </c:spPr>
          </c:dPt>
          <c:dPt>
            <c:idx val="2"/>
            <c:invertIfNegative val="0"/>
            <c:bubble3D val="0"/>
            <c:spPr>
              <a:solidFill>
                <a:srgbClr val="D8504D"/>
              </a:solidFill>
              <a:effectLst/>
            </c:spPr>
          </c:dPt>
          <c:dPt>
            <c:idx val="3"/>
            <c:invertIfNegative val="0"/>
            <c:bubble3D val="0"/>
            <c:spPr>
              <a:solidFill>
                <a:srgbClr val="D8504D"/>
              </a:solidFill>
              <a:effectLst/>
            </c:spPr>
          </c:dPt>
          <c:cat>
            <c:multiLvlStrRef>
              <c:f>Sheet1!$A$2:$A$5</c:f>
              <c:multiLvlStrCache>
                <c:ptCount val="4"/>
                <c:lvl>
                  <c:pt idx="0">
                    <c:v>Website</c:v>
                  </c:pt>
                  <c:pt idx="1">
                    <c:v>m-site</c:v>
                  </c:pt>
                  <c:pt idx="2">
                    <c:v>Android app</c:v>
                  </c:pt>
                  <c:pt idx="3">
                    <c:v>iOS app</c:v>
                  </c:pt>
                </c:lvl>
              </c:multiLvlStrCache>
            </c:multiLvlStrRef>
          </c:cat>
          <c:val>
            <c:numRef>
              <c:f>Sheet1!$B$2:$B$5</c:f>
              <c:numCache>
                <c:formatCode>General</c:formatCode>
                <c:ptCount val="4"/>
                <c:pt idx="0">
                  <c:v>23.8</c:v>
                </c:pt>
                <c:pt idx="1">
                  <c:v>19</c:v>
                </c:pt>
                <c:pt idx="2">
                  <c:v>11.2</c:v>
                </c:pt>
                <c:pt idx="3">
                  <c:v>10.5</c:v>
                </c:pt>
              </c:numCache>
            </c:numRef>
          </c:val>
        </c:ser>
        <c:dLbls>
          <c:numFmt formatCode="0.0&quot;%&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2"/>
        <c:crosses val="autoZero"/>
        <c:auto val="1"/>
        <c:lblAlgn val="ctr"/>
        <c:noMultiLvlLbl val="1"/>
      </c:catAx>
      <c:valAx>
        <c:axId val="2094734552"/>
        <c:scaling>
          <c:orientation val="minMax"/>
          <c:max val="3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733"/>
                </a:solidFill>
                <a:latin typeface="+mn-lt"/>
              </a:defRPr>
            </a:pPr>
            <a:r>
              <a:rPr sz="1400" b="0" i="0" u="none" strike="noStrike">
                <a:solidFill>
                  <a:srgbClr val="1B2733"/>
                </a:solidFill>
                <a:latin typeface="+mn-lt"/>
              </a:rPr>
              <a:t>Top pre-login pages by page views (30 days)</a:t>
            </a:r>
          </a:p>
        </c:rich>
      </c:tx>
      <c:layout/>
      <c:overlay val="0"/>
    </c:title>
    <c:autoTitleDeleted val="0"/>
    <c:plotArea>
      <c:layout/>
      <c:barChart>
        <c:barDir val="bar"/>
        <c:grouping val="clustered"/>
        <c:varyColors val="0"/>
        <c:ser>
          <c:idx val="0"/>
          <c:order val="0"/>
          <c:tx>
            <c:strRef>
              <c:f>Sheet1!$B$1</c:f>
              <c:strCache>
                <c:ptCount val="1"/>
                <c:pt idx="0">
                  <c:v>Page views (k)</c:v>
                </c:pt>
              </c:strCache>
            </c:strRef>
          </c:tx>
          <c:spPr>
            <a:solidFill>
              <a:srgbClr val="1F6F8B"/>
            </a:solidFill>
            <a:effectLst/>
          </c:spPr>
          <c:invertIfNegative val="0"/>
          <c:dLbls>
            <c:numFmt formatCode="0&quot;k&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cat>
            <c:multiLvlStrRef>
              <c:f>Sheet1!$A$2:$A$11</c:f>
              <c:multiLvlStrCache>
                <c:ptCount val="10"/>
                <c:lvl>
                  <c:pt idx="0">
                    <c:v>SIP calculator</c:v>
                  </c:pt>
                  <c:pt idx="1">
                    <c:v>Special Opportunities Fund</c:v>
                  </c:pt>
                  <c:pt idx="2">
                    <c:v>Defence Index Fund</c:v>
                  </c:pt>
                  <c:pt idx="3">
                    <c:v>Midcap 150 Momentum 30</c:v>
                  </c:pt>
                  <c:pt idx="4">
                    <c:v>REITs &amp; Realty Index</c:v>
                  </c:pt>
                  <c:pt idx="5">
                    <c:v>Focused Fund</c:v>
                  </c:pt>
                  <c:pt idx="6">
                    <c:v>Enhanced Value Index</c:v>
                  </c:pt>
                  <c:pt idx="7">
                    <c:v>Innovation Opportunities</c:v>
                  </c:pt>
                  <c:pt idx="8">
                    <c:v>Midcap Fund</c:v>
                  </c:pt>
                  <c:pt idx="9">
                    <c:v>Login page</c:v>
                  </c:pt>
                </c:lvl>
              </c:multiLvlStrCache>
            </c:multiLvlStrRef>
          </c:cat>
          <c:val>
            <c:numRef>
              <c:f>Sheet1!$B$2:$B$11</c:f>
              <c:numCache>
                <c:formatCode>General</c:formatCode>
                <c:ptCount val="10"/>
                <c:pt idx="0">
                  <c:v>350</c:v>
                </c:pt>
                <c:pt idx="1">
                  <c:v>318</c:v>
                </c:pt>
                <c:pt idx="2">
                  <c:v>284</c:v>
                </c:pt>
                <c:pt idx="3">
                  <c:v>234</c:v>
                </c:pt>
                <c:pt idx="4">
                  <c:v>211</c:v>
                </c:pt>
                <c:pt idx="5">
                  <c:v>211</c:v>
                </c:pt>
                <c:pt idx="6">
                  <c:v>211</c:v>
                </c:pt>
                <c:pt idx="7">
                  <c:v>194</c:v>
                </c:pt>
                <c:pt idx="8">
                  <c:v>130</c:v>
                </c:pt>
                <c:pt idx="9">
                  <c:v>117</c:v>
                </c:pt>
              </c:numCache>
            </c:numRef>
          </c:val>
        </c:ser>
        <c:dLbls>
          <c:numFmt formatCode="0&quot;k&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2"/>
        <c:crosses val="autoZero"/>
        <c:auto val="1"/>
        <c:lblAlgn val="ctr"/>
        <c:noMultiLvlLbl val="1"/>
      </c:catAx>
      <c:valAx>
        <c:axId val="2094734552"/>
        <c:scaling>
          <c:orientation val="minMax"/>
          <c:max val="42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733"/>
                </a:solidFill>
                <a:latin typeface="+mn-lt"/>
              </a:defRPr>
            </a:pPr>
            <a:r>
              <a:rPr sz="1400" b="0" i="0" u="none" strike="noStrike">
                <a:solidFill>
                  <a:srgbClr val="1B2733"/>
                </a:solidFill>
                <a:latin typeface="+mn-lt"/>
              </a:rPr>
              <a:t>Autopay failure rate: failures / (successes + failures)</a:t>
            </a:r>
          </a:p>
        </c:rich>
      </c:tx>
      <c:layout/>
      <c:overlay val="0"/>
    </c:title>
    <c:autoTitleDeleted val="0"/>
    <c:plotArea>
      <c:layout/>
      <c:barChart>
        <c:barDir val="col"/>
        <c:grouping val="clustered"/>
        <c:varyColors val="0"/>
        <c:ser>
          <c:idx val="0"/>
          <c:order val="0"/>
          <c:tx>
            <c:strRef>
              <c:f>Sheet1!$B$1</c:f>
              <c:strCache>
                <c:ptCount val="1"/>
                <c:pt idx="0">
                  <c:v>Mandate events only</c:v>
                </c:pt>
              </c:strCache>
            </c:strRef>
          </c:tx>
          <c:spPr>
            <a:solidFill>
              <a:srgbClr val="D8504D"/>
            </a:solidFill>
            <a:effectLst/>
          </c:spPr>
          <c:invertIfNegative val="0"/>
          <c:dLbls>
            <c:numFmt formatCode="0&quot;%&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cat>
            <c:multiLvlStrRef>
              <c:f>Sheet1!$A$2:$A$5</c:f>
              <c:multiLvlStrCache>
                <c:ptCount val="4"/>
                <c:lvl>
                  <c:pt idx="0">
                    <c:v>Android app</c:v>
                  </c:pt>
                  <c:pt idx="1">
                    <c:v>iOS app</c:v>
                  </c:pt>
                  <c:pt idx="2">
                    <c:v>Website</c:v>
                  </c:pt>
                  <c:pt idx="3">
                    <c:v>m-site</c:v>
                  </c:pt>
                </c:lvl>
              </c:multiLvlStrCache>
            </c:multiLvlStrRef>
          </c:cat>
          <c:val>
            <c:numRef>
              <c:f>Sheet1!$B$2:$B$5</c:f>
              <c:numCache>
                <c:formatCode>General</c:formatCode>
                <c:ptCount val="4"/>
                <c:pt idx="0">
                  <c:v>60.2</c:v>
                </c:pt>
                <c:pt idx="1">
                  <c:v>55.8</c:v>
                </c:pt>
                <c:pt idx="2">
                  <c:v>23.9</c:v>
                </c:pt>
                <c:pt idx="3">
                  <c:v>25.3</c:v>
                </c:pt>
              </c:numCache>
            </c:numRef>
          </c:val>
        </c:ser>
        <c:ser>
          <c:idx val="1"/>
          <c:order val="1"/>
          <c:tx>
            <c:strRef>
              <c:f>Sheet1!$C$1</c:f>
              <c:strCache>
                <c:ptCount val="1"/>
                <c:pt idx="0">
                  <c:v>Including UPI autopay successes</c:v>
                </c:pt>
              </c:strCache>
            </c:strRef>
          </c:tx>
          <c:spPr>
            <a:solidFill>
              <a:srgbClr val="7A8CA3"/>
            </a:solidFill>
            <a:effectLst/>
          </c:spPr>
          <c:invertIfNegative val="0"/>
          <c:dLbls>
            <c:numFmt formatCode="0&quot;%&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cat>
            <c:multiLvlStrRef>
              <c:f>Sheet1!$A$2:$A$5</c:f>
              <c:multiLvlStrCache>
                <c:ptCount val="4"/>
                <c:lvl>
                  <c:pt idx="0">
                    <c:v>Android app</c:v>
                  </c:pt>
                  <c:pt idx="1">
                    <c:v>iOS app</c:v>
                  </c:pt>
                  <c:pt idx="2">
                    <c:v>Website</c:v>
                  </c:pt>
                  <c:pt idx="3">
                    <c:v>m-site</c:v>
                  </c:pt>
                </c:lvl>
              </c:multiLvlStrCache>
            </c:multiLvlStrRef>
          </c:cat>
          <c:val>
            <c:numRef>
              <c:f>Sheet1!$C$2:$C$5</c:f>
              <c:numCache>
                <c:formatCode>General</c:formatCode>
                <c:ptCount val="4"/>
                <c:pt idx="0">
                  <c:v>40.5</c:v>
                </c:pt>
                <c:pt idx="1">
                  <c:v>40.2</c:v>
                </c:pt>
                <c:pt idx="2">
                  <c:v>23.9</c:v>
                </c:pt>
                <c:pt idx="3">
                  <c:v>25.3</c:v>
                </c:pt>
              </c:numCache>
            </c:numRef>
          </c:val>
        </c:ser>
        <c:dLbls>
          <c:numFmt formatCode="0&quot;%&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2"/>
        <c:crosses val="autoZero"/>
        <c:auto val="1"/>
        <c:lblAlgn val="ctr"/>
        <c:noMultiLvlLbl val="1"/>
      </c:catAx>
      <c:valAx>
        <c:axId val="2094734552"/>
        <c:scaling>
          <c:orientation val="minMax"/>
          <c:max val="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7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733"/>
                </a:solidFill>
                <a:latin typeface="+mn-lt"/>
              </a:defRPr>
            </a:pPr>
            <a:r>
              <a:rPr sz="1400" b="0" i="0" u="none" strike="noStrike">
                <a:solidFill>
                  <a:srgbClr val="1B2733"/>
                </a:solidFill>
                <a:latin typeface="+mn-lt"/>
              </a:rPr>
              <a:t>SIP stoppage ratio, 2026 (stopped / new SIPs)</a:t>
            </a:r>
          </a:p>
        </c:rich>
      </c:tx>
      <c:layout/>
      <c:overlay val="0"/>
    </c:title>
    <c:autoTitleDeleted val="0"/>
    <c:plotArea>
      <c:layout/>
      <c:barChart>
        <c:barDir val="col"/>
        <c:grouping val="clustered"/>
        <c:varyColors val="0"/>
        <c:ser>
          <c:idx val="0"/>
          <c:order val="0"/>
          <c:tx>
            <c:strRef>
              <c:f>Sheet1!$B$1</c:f>
              <c:strCache>
                <c:ptCount val="1"/>
                <c:pt idx="0">
                  <c:v>Stoppage ratio</c:v>
                </c:pt>
              </c:strCache>
            </c:strRef>
          </c:tx>
          <c:spPr>
            <a:solidFill>
              <a:srgbClr val="1F6F8B"/>
            </a:solidFill>
            <a:effectLst/>
          </c:spPr>
          <c:invertIfNegative val="0"/>
          <c:dLbls>
            <c:numFmt formatCode="0.0&quot;%&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cat>
            <c:multiLvlStrRef>
              <c:f>Sheet1!$A$2:$A$6</c:f>
              <c:multiLvlStrCache>
                <c:ptCount val="5"/>
                <c:lvl>
                  <c:pt idx="0">
                    <c:v>May</c:v>
                  </c:pt>
                  <c:pt idx="1">
                    <c:v>Jun (about)</c:v>
                  </c:pt>
                  <c:pt idx="2">
                    <c:v>Jul</c:v>
                  </c:pt>
                  <c:pt idx="3">
                    <c:v>Aug</c:v>
                  </c:pt>
                  <c:pt idx="4">
                    <c:v>Sep</c:v>
                  </c:pt>
                </c:lvl>
              </c:multiLvlStrCache>
            </c:multiLvlStrRef>
          </c:cat>
          <c:val>
            <c:numRef>
              <c:f>Sheet1!$B$2:$B$6</c:f>
              <c:numCache>
                <c:formatCode>General</c:formatCode>
                <c:ptCount val="5"/>
                <c:pt idx="0">
                  <c:v>95.5</c:v>
                </c:pt>
                <c:pt idx="1">
                  <c:v>91</c:v>
                </c:pt>
                <c:pt idx="2">
                  <c:v>81.9</c:v>
                </c:pt>
                <c:pt idx="3">
                  <c:v>81.1</c:v>
                </c:pt>
                <c:pt idx="4">
                  <c:v>78.5</c:v>
                </c:pt>
              </c:numCache>
            </c:numRef>
          </c:val>
        </c:ser>
        <c:dLbls>
          <c:numFmt formatCode="0.0&quot;%&quot;" sourceLinked="0"/>
          <c:txPr>
            <a:bodyPr/>
            <a:lstStyle/>
            <a:p>
              <a:pPr>
                <a:defRPr b="1" i="0" strike="noStrike" sz="1200" u="none">
                  <a:solidFill>
                    <a:srgbClr val="1B27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2"/>
        <c:crosses val="autoZero"/>
        <c:auto val="1"/>
        <c:lblAlgn val="ctr"/>
        <c:noMultiLvlLbl val="1"/>
      </c:catAx>
      <c:valAx>
        <c:axId val="2094734552"/>
        <c:scaling>
          <c:orientation val="minMax"/>
          <c:max val="1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7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NVECTA data window: 14 Sep to 14 Oct 2026 unless stated. Competitor evidence: page snapshots on 14 Oct 2026 and following runs. Market data: media reports of AMFI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calculator funnel's login step uses page views containing 'login'. The 'login' event itself shows about 1 user because web uses login_completed and apps use login_with_otp. Known users: 33,829 of 43,100 on the invest site; across the whole site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Caveats: ratings are judgements from captured page text and screenshots. Our full-page desktop screenshots were captured with the mega-menu open, so above-the-fold desktop content on our pages should be confirmed by hand. SBI and Nippon have no defence fund, so their flagship small-cap page is compared. ABSL home fund cards and ICICI home hero differed between sessions (likely rotation or personalisation, not a confirmed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login visits x 5.74% (7.8% reach the SIP step x 73.6% charged, from the fund-page path). 1,098*0.0574=63; 2,195*0.0574=126. Sample: about 26k users per arm detects +15% relative at 95%/80%; calculator gets about 62k users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19,819 login visits from fund pages x 10-20% x 5.74%. One page delivers a fraction. Sample: about 52k users per arm at 1.36% baseline for +15% relative; Defence page gets about 66k views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19,819 x 1-2 points = 198-396 more SIP-step users x 73.6% charged = 146-292. Banner alone (no deep link) should be read as a smaller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7,318 x 10-20% x 5.74%. Low-to-medium confidence; depends on T1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(7,318 + 19,819) login visits x 3-6% x 5.74%. Needs compliance review of the claim 'pause or stop anytime'.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assumes capture 1-2% and 2-3% conversion of captured leads within 14 days; both are assumptions to confirm in week one. Consent and data-protection wording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confidence on size; the page and the traffic split are the dependencies. Reuse components from T1, T2 and T4.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2A4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822960" y="2011680"/>
            <a:ext cx="10515600" cy="16459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1"/>
          <p:cNvSpPr/>
          <p:nvPr>
            <p:ph idx="102" type="body" hasCustomPrompt="1"/>
          </p:nvPr>
        </p:nvSpPr>
        <p:spPr>
          <a:xfrm>
            <a:off x="822960" y="3840480"/>
            <a:ext cx="100584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F2A4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822960" y="237744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1"/>
          <p:cNvSpPr/>
          <p:nvPr>
            <p:ph idx="102" type="body" hasCustomPrompt="1"/>
          </p:nvPr>
        </p:nvSpPr>
        <p:spPr>
          <a:xfrm>
            <a:off x="822960" y="3566160"/>
            <a:ext cx="10058400" cy="9144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7A8CA3"/>
                </a:solidFill>
              </a:rPr>
              <a:t>Motilal Oswal AMC  |  SIP growth programme  |  Oct 2026</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822960" y="2011680"/>
            <a:ext cx="10515600" cy="1645920"/>
          </a:xfrm>
          <a:prstGeom prst="rect">
            <a:avLst/>
          </a:prstGeom>
          <a:noFill/>
          <a:ln/>
        </p:spPr>
        <p:txBody>
          <a:bodyPr wrap="square" lIns="0" tIns="0" rIns="0" bIns="0" rtlCol="0" anchor="t"/>
          <a:lstStyle/>
          <a:p>
            <a:pPr algn="l" indent="0" marL="0">
              <a:buNone/>
            </a:pPr>
            <a:r>
              <a:rPr lang="en-US" sz="4400" b="1" dirty="0">
                <a:solidFill>
                  <a:schemeClr val="bg1"/>
                </a:solidFill>
              </a:rPr>
              <a:t>Growing SIPs on the web: an ongoing test programme</a:t>
            </a:r>
            <a:endParaRPr lang="en-US" sz="4400" dirty="0"/>
          </a:p>
        </p:txBody>
      </p:sp>
      <p:sp>
        <p:nvSpPr>
          <p:cNvPr id="3" name="Text 1"/>
          <p:cNvSpPr/>
          <p:nvPr>
            <p:ph idx="102" type="body" hasCustomPrompt="1"/>
          </p:nvPr>
        </p:nvSpPr>
        <p:spPr>
          <a:xfrm>
            <a:off x="822960" y="3840480"/>
            <a:ext cx="10058400" cy="1097280"/>
          </a:xfrm>
          <a:prstGeom prst="rect">
            <a:avLst/>
          </a:prstGeom>
          <a:noFill/>
          <a:ln/>
        </p:spPr>
        <p:txBody>
          <a:bodyPr wrap="square" lIns="0" tIns="0" rIns="0" bIns="0" rtlCol="0" anchor="t"/>
          <a:lstStyle/>
          <a:p>
            <a:pPr algn="l" indent="0" marL="0">
              <a:buNone/>
            </a:pPr>
            <a:r>
              <a:rPr lang="en-US" sz="2000" dirty="0">
                <a:solidFill>
                  <a:schemeClr val="bg2"/>
                </a:solidFill>
              </a:rPr>
              <a:t>Analytics, market and customer context, competitor view, pre-login tests and tracking fixes  |  Motilal Oswal AMC  |  October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SIP growth starts before login: the pages are where we lose it</a:t>
            </a:r>
            <a:endParaRPr lang="en-US" sz="2800" dirty="0"/>
          </a:p>
        </p:txBody>
      </p:sp>
      <p:sp>
        <p:nvSpPr>
          <p:cNvPr id="3" name="Stat calculator"/>
          <p:cNvSpPr/>
          <p:nvPr/>
        </p:nvSpPr>
        <p:spPr>
          <a:xfrm>
            <a:off x="548640" y="1463040"/>
            <a:ext cx="3566160" cy="1737360"/>
          </a:xfrm>
          <a:prstGeom prst="roundRect">
            <a:avLst>
              <a:gd name="adj" fmla="val 4211"/>
            </a:avLst>
          </a:prstGeom>
          <a:solidFill>
            <a:schemeClr val="bg2"/>
          </a:solidFill>
          <a:ln/>
        </p:spPr>
      </p:sp>
      <p:sp>
        <p:nvSpPr>
          <p:cNvPr id="4" name="Text 2"/>
          <p:cNvSpPr txBox="1"/>
          <p:nvPr/>
        </p:nvSpPr>
        <p:spPr>
          <a:xfrm>
            <a:off x="731520" y="1572768"/>
            <a:ext cx="3200400" cy="781812"/>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2.7%</a:t>
            </a:r>
            <a:endParaRPr lang="en-US" sz="3400" dirty="0"/>
          </a:p>
        </p:txBody>
      </p:sp>
      <p:sp>
        <p:nvSpPr>
          <p:cNvPr id="5" name="Text 3"/>
          <p:cNvSpPr txBox="1"/>
          <p:nvPr/>
        </p:nvSpPr>
        <p:spPr>
          <a:xfrm>
            <a:off x="731520" y="2418588"/>
            <a:ext cx="3200400" cy="729691"/>
          </a:xfrm>
          <a:prstGeom prst="rect">
            <a:avLst/>
          </a:prstGeom>
          <a:noFill/>
          <a:ln/>
        </p:spPr>
        <p:txBody>
          <a:bodyPr wrap="square" lIns="0" tIns="0" rIns="0" bIns="0" rtlCol="0" anchor="t"/>
          <a:lstStyle/>
          <a:p>
            <a:pPr indent="0" marL="0">
              <a:buNone/>
            </a:pPr>
            <a:r>
              <a:rPr lang="en-US" sz="1400" dirty="0">
                <a:solidFill>
                  <a:schemeClr val="tx1"/>
                </a:solidFill>
              </a:rPr>
              <a:t>of SIP-calculator visitors (267k) reach any login page</a:t>
            </a:r>
            <a:endParaRPr lang="en-US" sz="1400" dirty="0"/>
          </a:p>
        </p:txBody>
      </p:sp>
      <p:sp>
        <p:nvSpPr>
          <p:cNvPr id="6" name="Stat paid"/>
          <p:cNvSpPr/>
          <p:nvPr/>
        </p:nvSpPr>
        <p:spPr>
          <a:xfrm>
            <a:off x="4297680" y="1463040"/>
            <a:ext cx="3566160" cy="1737360"/>
          </a:xfrm>
          <a:prstGeom prst="roundRect">
            <a:avLst>
              <a:gd name="adj" fmla="val 4211"/>
            </a:avLst>
          </a:prstGeom>
          <a:solidFill>
            <a:schemeClr val="bg2"/>
          </a:solidFill>
          <a:ln/>
        </p:spPr>
      </p:sp>
      <p:sp>
        <p:nvSpPr>
          <p:cNvPr id="7" name="Text 5"/>
          <p:cNvSpPr txBox="1"/>
          <p:nvPr/>
        </p:nvSpPr>
        <p:spPr>
          <a:xfrm>
            <a:off x="4480560" y="1572768"/>
            <a:ext cx="3200400" cy="781812"/>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99%</a:t>
            </a:r>
            <a:endParaRPr lang="en-US" sz="3400" dirty="0"/>
          </a:p>
        </p:txBody>
      </p:sp>
      <p:sp>
        <p:nvSpPr>
          <p:cNvPr id="8" name="Text 6"/>
          <p:cNvSpPr txBox="1"/>
          <p:nvPr/>
        </p:nvSpPr>
        <p:spPr>
          <a:xfrm>
            <a:off x="4480560" y="2418588"/>
            <a:ext cx="3200400" cy="729691"/>
          </a:xfrm>
          <a:prstGeom prst="rect">
            <a:avLst/>
          </a:prstGeom>
          <a:noFill/>
          <a:ln/>
        </p:spPr>
        <p:txBody>
          <a:bodyPr wrap="square" lIns="0" tIns="0" rIns="0" bIns="0" rtlCol="0" anchor="t"/>
          <a:lstStyle/>
          <a:p>
            <a:pPr indent="0" marL="0">
              <a:buNone/>
            </a:pPr>
            <a:r>
              <a:rPr lang="en-US" sz="1400" dirty="0">
                <a:solidFill>
                  <a:schemeClr val="tx1"/>
                </a:solidFill>
              </a:rPr>
              <a:t>of that calculator traffic is paid search, 91% of it on mobile</a:t>
            </a:r>
            <a:endParaRPr lang="en-US" sz="1400" dirty="0"/>
          </a:p>
        </p:txBody>
      </p:sp>
      <p:sp>
        <p:nvSpPr>
          <p:cNvPr id="9" name="Stat peers"/>
          <p:cNvSpPr/>
          <p:nvPr/>
        </p:nvSpPr>
        <p:spPr>
          <a:xfrm>
            <a:off x="8046720" y="1463040"/>
            <a:ext cx="3566160" cy="1737360"/>
          </a:xfrm>
          <a:prstGeom prst="roundRect">
            <a:avLst>
              <a:gd name="adj" fmla="val 4211"/>
            </a:avLst>
          </a:prstGeom>
          <a:solidFill>
            <a:schemeClr val="bg2"/>
          </a:solidFill>
          <a:ln/>
        </p:spPr>
      </p:sp>
      <p:sp>
        <p:nvSpPr>
          <p:cNvPr id="10" name="Text 8"/>
          <p:cNvSpPr txBox="1"/>
          <p:nvPr/>
        </p:nvSpPr>
        <p:spPr>
          <a:xfrm>
            <a:off x="8229600" y="1572768"/>
            <a:ext cx="3200400" cy="781812"/>
          </a:xfrm>
          <a:prstGeom prst="rect">
            <a:avLst/>
          </a:prstGeom>
          <a:noFill/>
          <a:ln/>
        </p:spPr>
        <p:txBody>
          <a:bodyPr wrap="square" lIns="0" tIns="0" rIns="0" bIns="0" rtlCol="0" anchor="ctr"/>
          <a:lstStyle/>
          <a:p>
            <a:pPr indent="0" marL="0">
              <a:buNone/>
            </a:pPr>
            <a:r>
              <a:rPr lang="en-US" sz="3400" b="1" dirty="0">
                <a:solidFill>
                  <a:schemeClr val="accent4"/>
                </a:solidFill>
                <a:latin typeface="Cambria" pitchFamily="34" charset="0"/>
                <a:ea typeface="Cambria" pitchFamily="34" charset="-122"/>
                <a:cs typeface="Cambria" pitchFamily="34" charset="-120"/>
              </a:rPr>
              <a:t>3 of 5</a:t>
            </a:r>
            <a:endParaRPr lang="en-US" sz="3400" dirty="0"/>
          </a:p>
        </p:txBody>
      </p:sp>
      <p:sp>
        <p:nvSpPr>
          <p:cNvPr id="11" name="Text 9"/>
          <p:cNvSpPr txBox="1"/>
          <p:nvPr/>
        </p:nvSpPr>
        <p:spPr>
          <a:xfrm>
            <a:off x="8229600" y="2418588"/>
            <a:ext cx="3200400" cy="729691"/>
          </a:xfrm>
          <a:prstGeom prst="rect">
            <a:avLst/>
          </a:prstGeom>
          <a:noFill/>
          <a:ln/>
        </p:spPr>
        <p:txBody>
          <a:bodyPr wrap="square" lIns="0" tIns="0" rIns="0" bIns="0" rtlCol="0" anchor="t"/>
          <a:lstStyle/>
          <a:p>
            <a:pPr indent="0" marL="0">
              <a:buNone/>
            </a:pPr>
            <a:r>
              <a:rPr lang="en-US" sz="1400" dirty="0">
                <a:solidFill>
                  <a:schemeClr val="tx1"/>
                </a:solidFill>
              </a:rPr>
              <a:t>peers close their SIP calculator with an invest button tied to the plan</a:t>
            </a:r>
            <a:endParaRPr lang="en-US" sz="1400" dirty="0"/>
          </a:p>
        </p:txBody>
      </p:sp>
      <p:sp>
        <p:nvSpPr>
          <p:cNvPr id="12" name="Text 10"/>
          <p:cNvSpPr txBox="1"/>
          <p:nvPr/>
        </p:nvSpPr>
        <p:spPr>
          <a:xfrm>
            <a:off x="548640" y="3474720"/>
            <a:ext cx="548640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we propose</a:t>
            </a:r>
            <a:endParaRPr lang="en-US" sz="2000" dirty="0"/>
          </a:p>
        </p:txBody>
      </p:sp>
      <p:sp>
        <p:nvSpPr>
          <p:cNvPr id="13" name="Text 11"/>
          <p:cNvSpPr txBox="1"/>
          <p:nvPr/>
        </p:nvSpPr>
        <p:spPr>
          <a:xfrm>
            <a:off x="548640" y="3931920"/>
            <a:ext cx="1106424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Seven pre-login tests, 2-3 a week, each built in 1-3 days and run for 1-2 weeks: calculator, fund pages, login page, reassurance, plan capture, paid landing page</a:t>
            </a:r>
            <a:endParaRPr lang="en-US" sz="1600" dirty="0"/>
          </a:p>
          <a:p>
            <a:pPr marL="342900" indent="-342900">
              <a:spcAft>
                <a:spcPts val="800"/>
              </a:spcAft>
              <a:buSzPct val="100000"/>
              <a:buChar char="•"/>
            </a:pPr>
            <a:r>
              <a:rPr lang="en-US" sz="1600" dirty="0">
                <a:solidFill>
                  <a:schemeClr val="tx1"/>
                </a:solidFill>
              </a:rPr>
              <a:t>Four post-login ideas to float: three can start now as NVECTA journeys with no site change</a:t>
            </a:r>
            <a:endParaRPr lang="en-US" sz="1600" dirty="0"/>
          </a:p>
          <a:p>
            <a:pPr marL="342900" indent="-342900">
              <a:spcAft>
                <a:spcPts val="800"/>
              </a:spcAft>
              <a:buSzPct val="100000"/>
              <a:buChar char="•"/>
            </a:pPr>
            <a:r>
              <a:rPr lang="en-US" sz="1600" dirty="0">
                <a:solidFill>
                  <a:schemeClr val="tx1"/>
                </a:solidFill>
              </a:rPr>
              <a:t>Nine tracking fixes alongside, so every test can be read and SIPs traced from first page view</a:t>
            </a:r>
            <a:endParaRPr lang="en-US" sz="1600" dirty="0"/>
          </a:p>
          <a:p>
            <a:pPr marL="342900" indent="-342900">
              <a:spcAft>
                <a:spcPts val="800"/>
              </a:spcAft>
              <a:buSzPct val="100000"/>
              <a:buChar char="•"/>
            </a:pPr>
            <a:r>
              <a:rPr lang="en-US" sz="1600" dirty="0">
                <a:solidFill>
                  <a:schemeClr val="tx1"/>
                </a:solidFill>
              </a:rPr>
              <a:t>SIP is problem one of an ongoing programme; the same cadence then moves to the next problem</a:t>
            </a:r>
            <a:endParaRPr lang="en-US" sz="1600" dirty="0"/>
          </a:p>
        </p:txBody>
      </p:sp>
      <p:sp>
        <p:nvSpPr>
          <p:cNvPr id="14"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NVECTA analytics, 14 Sep to 14 Oct 2026; competitor page snapshots, 14 Oct 2026.</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822960" y="2377440"/>
            <a:ext cx="10515600" cy="1097280"/>
          </a:xfrm>
          <a:prstGeom prst="rect">
            <a:avLst/>
          </a:prstGeom>
          <a:noFill/>
          <a:ln/>
        </p:spPr>
        <p:txBody>
          <a:bodyPr wrap="square" lIns="0" tIns="0" rIns="0" bIns="0" rtlCol="0" anchor="t"/>
          <a:lstStyle/>
          <a:p>
            <a:pPr algn="l" indent="0" marL="0">
              <a:buNone/>
            </a:pPr>
            <a:r>
              <a:rPr lang="en-US" sz="4000" b="1" dirty="0">
                <a:solidFill>
                  <a:schemeClr val="bg1"/>
                </a:solidFill>
              </a:rPr>
              <a:t>What the data says</a:t>
            </a:r>
            <a:endParaRPr lang="en-US" sz="4000" dirty="0"/>
          </a:p>
        </p:txBody>
      </p:sp>
      <p:sp>
        <p:nvSpPr>
          <p:cNvPr id="3" name="Text 1"/>
          <p:cNvSpPr/>
          <p:nvPr>
            <p:ph idx="102" type="body" hasCustomPrompt="1"/>
          </p:nvPr>
        </p:nvSpPr>
        <p:spPr>
          <a:xfrm>
            <a:off x="822960" y="3566160"/>
            <a:ext cx="10058400" cy="914400"/>
          </a:xfrm>
          <a:prstGeom prst="rect">
            <a:avLst/>
          </a:prstGeom>
          <a:noFill/>
          <a:ln/>
        </p:spPr>
        <p:txBody>
          <a:bodyPr wrap="square" lIns="0" tIns="0" rIns="0" bIns="0" rtlCol="0" anchor="t"/>
          <a:lstStyle/>
          <a:p>
            <a:pPr algn="l" indent="0" marL="0">
              <a:buNone/>
            </a:pPr>
            <a:r>
              <a:rPr lang="en-US" sz="1800" dirty="0">
                <a:solidFill>
                  <a:schemeClr val="bg2"/>
                </a:solidFill>
              </a:rPr>
              <a:t>Where SIP intent is lost, before and after login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Few purchase starters choose SIP, and apps choose it least</a:t>
            </a:r>
            <a:endParaRPr lang="en-US" sz="2800" dirty="0"/>
          </a:p>
        </p:txBody>
      </p:sp>
      <p:graphicFrame>
        <p:nvGraphicFramePr>
          <p:cNvPr id="3" name="Chart 0" descr=""/>
          <p:cNvGraphicFramePr/>
          <p:nvPr/>
        </p:nvGraphicFramePr>
        <p:xfrm>
          <a:off x="548640" y="1371600"/>
          <a:ext cx="566928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583680" y="1554480"/>
            <a:ext cx="50292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33,975 users started a purchase in 30 days; 5,125 (15%) reached the SIP step</a:t>
            </a:r>
            <a:endParaRPr lang="en-US" sz="1600" dirty="0"/>
          </a:p>
          <a:p>
            <a:pPr marL="342900" indent="-342900">
              <a:spcAft>
                <a:spcPts val="800"/>
              </a:spcAft>
              <a:buSzPct val="100000"/>
              <a:buChar char="•"/>
            </a:pPr>
            <a:r>
              <a:rPr lang="en-US" sz="1600" dirty="0">
                <a:solidFill>
                  <a:schemeClr val="tx1"/>
                </a:solidFill>
              </a:rPr>
              <a:t>On web, 14.5% of website purchase starters (8.8% on m-site) reach a Charged event</a:t>
            </a:r>
            <a:endParaRPr lang="en-US" sz="1600" dirty="0"/>
          </a:p>
          <a:p>
            <a:pPr marL="342900" indent="-342900">
              <a:spcAft>
                <a:spcPts val="800"/>
              </a:spcAft>
              <a:buSzPct val="100000"/>
              <a:buChar char="•"/>
            </a:pPr>
            <a:r>
              <a:rPr lang="en-US" sz="1600" dirty="0">
                <a:solidFill>
                  <a:schemeClr val="tx1"/>
                </a:solidFill>
              </a:rPr>
              <a:t>Apps hold 66% of purchase starts, so the biggest SIP-choice gap sits there</a:t>
            </a:r>
            <a:endParaRPr lang="en-US" sz="1600" dirty="0"/>
          </a:p>
          <a:p>
            <a:pPr marL="342900" indent="-342900">
              <a:spcAft>
                <a:spcPts val="800"/>
              </a:spcAft>
              <a:buSzPct val="100000"/>
              <a:buChar char="•"/>
            </a:pPr>
            <a:r>
              <a:rPr lang="en-US" sz="1600" dirty="0">
                <a:solidFill>
                  <a:schemeClr val="tx1"/>
                </a:solidFill>
              </a:rPr>
              <a:t>Our tests are web-first (website and m-site); app parity follows</a:t>
            </a:r>
            <a:endParaRPr lang="en-US" sz="1600" dirty="0"/>
          </a:p>
        </p:txBody>
      </p:sp>
      <p:sp>
        <p:nvSpPr>
          <p:cNvPr id="5"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NVECTA saved funnels 3137 (all platforms despite its name) and 3178 (website and m-site), split by Platform. Charged may include non-SIP payments.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Paid mobile search drives traffic, landing on a few pages</a:t>
            </a:r>
            <a:endParaRPr lang="en-US" sz="2800" dirty="0"/>
          </a:p>
        </p:txBody>
      </p:sp>
      <p:graphicFrame>
        <p:nvGraphicFramePr>
          <p:cNvPr id="3" name="Chart 0" descr=""/>
          <p:cNvGraphicFramePr/>
          <p:nvPr/>
        </p:nvGraphicFramePr>
        <p:xfrm>
          <a:off x="548640" y="1280160"/>
          <a:ext cx="6766560" cy="4663440"/>
        </p:xfrm>
        <a:graphic xmlns:a="http://schemas.openxmlformats.org/drawingml/2006/main">
          <a:graphicData uri="http://schemas.openxmlformats.org/drawingml/2006/chart">
            <c:chart xmlns:c="http://schemas.openxmlformats.org/drawingml/2006/chart" r:id="rId1"/>
          </a:graphicData>
        </a:graphic>
      </p:graphicFrame>
      <p:sp>
        <p:nvSpPr>
          <p:cNvPr id="4" name="Stat paid search"/>
          <p:cNvSpPr/>
          <p:nvPr/>
        </p:nvSpPr>
        <p:spPr>
          <a:xfrm>
            <a:off x="7680960" y="1463040"/>
            <a:ext cx="3931920" cy="1371600"/>
          </a:xfrm>
          <a:prstGeom prst="roundRect">
            <a:avLst>
              <a:gd name="adj" fmla="val 5333"/>
            </a:avLst>
          </a:prstGeom>
          <a:solidFill>
            <a:schemeClr val="bg2"/>
          </a:solidFill>
          <a:ln/>
        </p:spPr>
      </p:sp>
      <p:sp>
        <p:nvSpPr>
          <p:cNvPr id="5" name="Text 2"/>
          <p:cNvSpPr txBox="1"/>
          <p:nvPr/>
        </p:nvSpPr>
        <p:spPr>
          <a:xfrm>
            <a:off x="7863840" y="1572768"/>
            <a:ext cx="3566160" cy="61722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88%</a:t>
            </a:r>
            <a:endParaRPr lang="en-US" sz="3400" dirty="0"/>
          </a:p>
        </p:txBody>
      </p:sp>
      <p:sp>
        <p:nvSpPr>
          <p:cNvPr id="6" name="Text 3"/>
          <p:cNvSpPr txBox="1"/>
          <p:nvPr/>
        </p:nvSpPr>
        <p:spPr>
          <a:xfrm>
            <a:off x="7863840" y="2217420"/>
            <a:ext cx="3566160" cy="576072"/>
          </a:xfrm>
          <a:prstGeom prst="rect">
            <a:avLst/>
          </a:prstGeom>
          <a:noFill/>
          <a:ln/>
        </p:spPr>
        <p:txBody>
          <a:bodyPr wrap="square" lIns="0" tIns="0" rIns="0" bIns="0" rtlCol="0" anchor="t"/>
          <a:lstStyle/>
          <a:p>
            <a:pPr indent="0" marL="0">
              <a:buNone/>
            </a:pPr>
            <a:r>
              <a:rPr lang="en-US" sz="1400" dirty="0">
                <a:solidFill>
                  <a:schemeClr val="tx1"/>
                </a:solidFill>
              </a:rPr>
              <a:t>of all visitors arrive from paid search</a:t>
            </a:r>
            <a:endParaRPr lang="en-US" sz="1400" dirty="0"/>
          </a:p>
        </p:txBody>
      </p:sp>
      <p:sp>
        <p:nvSpPr>
          <p:cNvPr id="7" name="Stat calc paid"/>
          <p:cNvSpPr/>
          <p:nvPr/>
        </p:nvSpPr>
        <p:spPr>
          <a:xfrm>
            <a:off x="7680960" y="3017520"/>
            <a:ext cx="3931920" cy="1371600"/>
          </a:xfrm>
          <a:prstGeom prst="roundRect">
            <a:avLst>
              <a:gd name="adj" fmla="val 5333"/>
            </a:avLst>
          </a:prstGeom>
          <a:solidFill>
            <a:schemeClr val="bg2"/>
          </a:solidFill>
          <a:ln/>
        </p:spPr>
      </p:sp>
      <p:sp>
        <p:nvSpPr>
          <p:cNvPr id="8" name="Text 5"/>
          <p:cNvSpPr txBox="1"/>
          <p:nvPr/>
        </p:nvSpPr>
        <p:spPr>
          <a:xfrm>
            <a:off x="7863840" y="3127248"/>
            <a:ext cx="3566160" cy="61722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99.2%</a:t>
            </a:r>
            <a:endParaRPr lang="en-US" sz="3400" dirty="0"/>
          </a:p>
        </p:txBody>
      </p:sp>
      <p:sp>
        <p:nvSpPr>
          <p:cNvPr id="9" name="Text 6"/>
          <p:cNvSpPr txBox="1"/>
          <p:nvPr/>
        </p:nvSpPr>
        <p:spPr>
          <a:xfrm>
            <a:off x="7863840" y="3771900"/>
            <a:ext cx="3566160" cy="576072"/>
          </a:xfrm>
          <a:prstGeom prst="rect">
            <a:avLst/>
          </a:prstGeom>
          <a:noFill/>
          <a:ln/>
        </p:spPr>
        <p:txBody>
          <a:bodyPr wrap="square" lIns="0" tIns="0" rIns="0" bIns="0" rtlCol="0" anchor="t"/>
          <a:lstStyle/>
          <a:p>
            <a:pPr indent="0" marL="0">
              <a:buNone/>
            </a:pPr>
            <a:r>
              <a:rPr lang="en-US" sz="1400" dirty="0">
                <a:solidFill>
                  <a:schemeClr val="tx1"/>
                </a:solidFill>
              </a:rPr>
              <a:t>of SIP-calculator traffic is paid search</a:t>
            </a:r>
            <a:endParaRPr lang="en-US" sz="1400" dirty="0"/>
          </a:p>
        </p:txBody>
      </p:sp>
      <p:sp>
        <p:nvSpPr>
          <p:cNvPr id="10" name="Stat mobile"/>
          <p:cNvSpPr/>
          <p:nvPr/>
        </p:nvSpPr>
        <p:spPr>
          <a:xfrm>
            <a:off x="7680960" y="4572000"/>
            <a:ext cx="3931920" cy="1371600"/>
          </a:xfrm>
          <a:prstGeom prst="roundRect">
            <a:avLst>
              <a:gd name="adj" fmla="val 5333"/>
            </a:avLst>
          </a:prstGeom>
          <a:solidFill>
            <a:schemeClr val="bg2"/>
          </a:solidFill>
          <a:ln/>
        </p:spPr>
      </p:sp>
      <p:sp>
        <p:nvSpPr>
          <p:cNvPr id="11" name="Text 8"/>
          <p:cNvSpPr txBox="1"/>
          <p:nvPr/>
        </p:nvSpPr>
        <p:spPr>
          <a:xfrm>
            <a:off x="7863840" y="4681728"/>
            <a:ext cx="3566160" cy="61722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90%</a:t>
            </a:r>
            <a:endParaRPr lang="en-US" sz="3400" dirty="0"/>
          </a:p>
        </p:txBody>
      </p:sp>
      <p:sp>
        <p:nvSpPr>
          <p:cNvPr id="12" name="Text 9"/>
          <p:cNvSpPr txBox="1"/>
          <p:nvPr/>
        </p:nvSpPr>
        <p:spPr>
          <a:xfrm>
            <a:off x="7863840" y="5326380"/>
            <a:ext cx="3566160" cy="576072"/>
          </a:xfrm>
          <a:prstGeom prst="rect">
            <a:avLst/>
          </a:prstGeom>
          <a:noFill/>
          <a:ln/>
        </p:spPr>
        <p:txBody>
          <a:bodyPr wrap="square" lIns="0" tIns="0" rIns="0" bIns="0" rtlCol="0" anchor="t"/>
          <a:lstStyle/>
          <a:p>
            <a:pPr indent="0" marL="0">
              <a:buNone/>
            </a:pPr>
            <a:r>
              <a:rPr lang="en-US" sz="1400" dirty="0">
                <a:solidFill>
                  <a:schemeClr val="tx1"/>
                </a:solidFill>
              </a:rPr>
              <a:t>of visitors browse on the mobile site</a:t>
            </a:r>
            <a:endParaRPr lang="en-US" sz="1400" dirty="0"/>
          </a:p>
        </p:txBody>
      </p:sp>
      <p:sp>
        <p:nvSpPr>
          <p:cNvPr id="13"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NVECTA page_view by Page Url (events), Traffic Source and Platform (users), 14 Sep to 14 Oct 2026. 2.04M users; 3.8M page-view events.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Calculator and fund-page visitors disappear at the login gate</a:t>
            </a:r>
            <a:endParaRPr lang="en-US" sz="2800" dirty="0"/>
          </a:p>
        </p:txBody>
      </p:sp>
      <p:sp>
        <p:nvSpPr>
          <p:cNvPr id="3" name="Text 1"/>
          <p:cNvSpPr txBox="1"/>
          <p:nvPr/>
        </p:nvSpPr>
        <p:spPr>
          <a:xfrm>
            <a:off x="548640" y="1325880"/>
            <a:ext cx="1106424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From the SIP calculator (267,573 users)</a:t>
            </a:r>
            <a:endParaRPr lang="en-US" sz="1800" dirty="0"/>
          </a:p>
        </p:txBody>
      </p:sp>
      <p:sp>
        <p:nvSpPr>
          <p:cNvPr id="4" name="Flow step"/>
          <p:cNvSpPr/>
          <p:nvPr/>
        </p:nvSpPr>
        <p:spPr>
          <a:xfrm>
            <a:off x="548640" y="1783080"/>
            <a:ext cx="2011680" cy="1280160"/>
          </a:xfrm>
          <a:prstGeom prst="roundRect">
            <a:avLst>
              <a:gd name="adj" fmla="val 5714"/>
            </a:avLst>
          </a:prstGeom>
          <a:solidFill>
            <a:schemeClr val="bg2"/>
          </a:solidFill>
          <a:ln/>
        </p:spPr>
      </p:sp>
      <p:sp>
        <p:nvSpPr>
          <p:cNvPr id="5" name="Text 3"/>
          <p:cNvSpPr txBox="1"/>
          <p:nvPr/>
        </p:nvSpPr>
        <p:spPr>
          <a:xfrm>
            <a:off x="640080" y="1856232"/>
            <a:ext cx="1828800" cy="54864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267,573</a:t>
            </a:r>
            <a:endParaRPr lang="en-US" sz="2000" dirty="0"/>
          </a:p>
        </p:txBody>
      </p:sp>
      <p:sp>
        <p:nvSpPr>
          <p:cNvPr id="6" name="Text 4"/>
          <p:cNvSpPr txBox="1"/>
          <p:nvPr/>
        </p:nvSpPr>
        <p:spPr>
          <a:xfrm>
            <a:off x="640080" y="242316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view the SIP calculator</a:t>
            </a:r>
            <a:endParaRPr lang="en-US" sz="1200" dirty="0"/>
          </a:p>
        </p:txBody>
      </p:sp>
      <p:sp>
        <p:nvSpPr>
          <p:cNvPr id="7" name="Flow arrow"/>
          <p:cNvSpPr/>
          <p:nvPr/>
        </p:nvSpPr>
        <p:spPr>
          <a:xfrm>
            <a:off x="2587752" y="2286000"/>
            <a:ext cx="201168" cy="201168"/>
          </a:xfrm>
          <a:prstGeom prst="rightArrow">
            <a:avLst/>
          </a:prstGeom>
          <a:solidFill>
            <a:schemeClr val="accent5"/>
          </a:solidFill>
          <a:ln w="12700">
            <a:solidFill>
              <a:schemeClr val="accent5"/>
            </a:solidFill>
            <a:prstDash val="solid"/>
          </a:ln>
        </p:spPr>
      </p:sp>
      <p:sp>
        <p:nvSpPr>
          <p:cNvPr id="8" name="Flow step"/>
          <p:cNvSpPr/>
          <p:nvPr/>
        </p:nvSpPr>
        <p:spPr>
          <a:xfrm>
            <a:off x="2816352" y="1783080"/>
            <a:ext cx="2011680" cy="1280160"/>
          </a:xfrm>
          <a:prstGeom prst="roundRect">
            <a:avLst>
              <a:gd name="adj" fmla="val 5714"/>
            </a:avLst>
          </a:prstGeom>
          <a:solidFill>
            <a:schemeClr val="bg2"/>
          </a:solidFill>
          <a:ln/>
        </p:spPr>
      </p:sp>
      <p:sp>
        <p:nvSpPr>
          <p:cNvPr id="9" name="Text 7"/>
          <p:cNvSpPr txBox="1"/>
          <p:nvPr/>
        </p:nvSpPr>
        <p:spPr>
          <a:xfrm>
            <a:off x="2907792" y="1856232"/>
            <a:ext cx="1828800" cy="548640"/>
          </a:xfrm>
          <a:prstGeom prst="rect">
            <a:avLst/>
          </a:prstGeom>
          <a:noFill/>
          <a:ln/>
        </p:spPr>
        <p:txBody>
          <a:bodyPr wrap="square" lIns="0" tIns="0" rIns="0" bIns="0" rtlCol="0" anchor="ctr"/>
          <a:lstStyle/>
          <a:p>
            <a:pPr algn="ctr" indent="0" marL="0">
              <a:buNone/>
            </a:pPr>
            <a:r>
              <a:rPr lang="en-US" sz="2000" b="1" dirty="0">
                <a:solidFill>
                  <a:schemeClr val="accent3"/>
                </a:solidFill>
                <a:latin typeface="Cambria" pitchFamily="34" charset="0"/>
                <a:ea typeface="Cambria" pitchFamily="34" charset="-122"/>
                <a:cs typeface="Cambria" pitchFamily="34" charset="-120"/>
              </a:rPr>
              <a:t>7,318 (2.7%)</a:t>
            </a:r>
            <a:endParaRPr lang="en-US" sz="2000" dirty="0"/>
          </a:p>
        </p:txBody>
      </p:sp>
      <p:sp>
        <p:nvSpPr>
          <p:cNvPr id="10" name="Text 8"/>
          <p:cNvSpPr txBox="1"/>
          <p:nvPr/>
        </p:nvSpPr>
        <p:spPr>
          <a:xfrm>
            <a:off x="2907792" y="242316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reach a login page</a:t>
            </a:r>
            <a:endParaRPr lang="en-US" sz="1200" dirty="0"/>
          </a:p>
        </p:txBody>
      </p:sp>
      <p:sp>
        <p:nvSpPr>
          <p:cNvPr id="11" name="Flow arrow"/>
          <p:cNvSpPr/>
          <p:nvPr/>
        </p:nvSpPr>
        <p:spPr>
          <a:xfrm>
            <a:off x="4855464" y="2286000"/>
            <a:ext cx="201168" cy="201168"/>
          </a:xfrm>
          <a:prstGeom prst="rightArrow">
            <a:avLst/>
          </a:prstGeom>
          <a:solidFill>
            <a:schemeClr val="accent5"/>
          </a:solidFill>
          <a:ln w="12700">
            <a:solidFill>
              <a:schemeClr val="accent5"/>
            </a:solidFill>
            <a:prstDash val="solid"/>
          </a:ln>
        </p:spPr>
      </p:sp>
      <p:sp>
        <p:nvSpPr>
          <p:cNvPr id="12" name="Flow step"/>
          <p:cNvSpPr/>
          <p:nvPr/>
        </p:nvSpPr>
        <p:spPr>
          <a:xfrm>
            <a:off x="5084064" y="1783080"/>
            <a:ext cx="2011680" cy="1280160"/>
          </a:xfrm>
          <a:prstGeom prst="roundRect">
            <a:avLst>
              <a:gd name="adj" fmla="val 5714"/>
            </a:avLst>
          </a:prstGeom>
          <a:solidFill>
            <a:schemeClr val="bg2"/>
          </a:solidFill>
          <a:ln/>
        </p:spPr>
      </p:sp>
      <p:sp>
        <p:nvSpPr>
          <p:cNvPr id="13" name="Text 11"/>
          <p:cNvSpPr txBox="1"/>
          <p:nvPr/>
        </p:nvSpPr>
        <p:spPr>
          <a:xfrm>
            <a:off x="5175504" y="1856232"/>
            <a:ext cx="1828800" cy="54864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207</a:t>
            </a:r>
            <a:endParaRPr lang="en-US" sz="2000" dirty="0"/>
          </a:p>
        </p:txBody>
      </p:sp>
      <p:sp>
        <p:nvSpPr>
          <p:cNvPr id="14" name="Text 12"/>
          <p:cNvSpPr txBox="1"/>
          <p:nvPr/>
        </p:nvSpPr>
        <p:spPr>
          <a:xfrm>
            <a:off x="5175504" y="242316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start a purchase</a:t>
            </a:r>
            <a:endParaRPr lang="en-US" sz="1200" dirty="0"/>
          </a:p>
        </p:txBody>
      </p:sp>
      <p:sp>
        <p:nvSpPr>
          <p:cNvPr id="15" name="Flow arrow"/>
          <p:cNvSpPr/>
          <p:nvPr/>
        </p:nvSpPr>
        <p:spPr>
          <a:xfrm>
            <a:off x="7123176" y="2286000"/>
            <a:ext cx="201168" cy="201168"/>
          </a:xfrm>
          <a:prstGeom prst="rightArrow">
            <a:avLst/>
          </a:prstGeom>
          <a:solidFill>
            <a:schemeClr val="accent5"/>
          </a:solidFill>
          <a:ln w="12700">
            <a:solidFill>
              <a:schemeClr val="accent5"/>
            </a:solidFill>
            <a:prstDash val="solid"/>
          </a:ln>
        </p:spPr>
      </p:sp>
      <p:sp>
        <p:nvSpPr>
          <p:cNvPr id="16" name="Flow step"/>
          <p:cNvSpPr/>
          <p:nvPr/>
        </p:nvSpPr>
        <p:spPr>
          <a:xfrm>
            <a:off x="7351776" y="1783080"/>
            <a:ext cx="2011680" cy="1280160"/>
          </a:xfrm>
          <a:prstGeom prst="roundRect">
            <a:avLst>
              <a:gd name="adj" fmla="val 5714"/>
            </a:avLst>
          </a:prstGeom>
          <a:solidFill>
            <a:schemeClr val="bg2"/>
          </a:solidFill>
          <a:ln/>
        </p:spPr>
      </p:sp>
      <p:sp>
        <p:nvSpPr>
          <p:cNvPr id="17" name="Text 15"/>
          <p:cNvSpPr txBox="1"/>
          <p:nvPr/>
        </p:nvSpPr>
        <p:spPr>
          <a:xfrm>
            <a:off x="7443216" y="1856232"/>
            <a:ext cx="1828800" cy="54864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79</a:t>
            </a:r>
            <a:endParaRPr lang="en-US" sz="2000" dirty="0"/>
          </a:p>
        </p:txBody>
      </p:sp>
      <p:sp>
        <p:nvSpPr>
          <p:cNvPr id="18" name="Text 16"/>
          <p:cNvSpPr txBox="1"/>
          <p:nvPr/>
        </p:nvSpPr>
        <p:spPr>
          <a:xfrm>
            <a:off x="7443216" y="242316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reach the SIP step</a:t>
            </a:r>
            <a:endParaRPr lang="en-US" sz="1200" dirty="0"/>
          </a:p>
        </p:txBody>
      </p:sp>
      <p:sp>
        <p:nvSpPr>
          <p:cNvPr id="19" name="Flow arrow"/>
          <p:cNvSpPr/>
          <p:nvPr/>
        </p:nvSpPr>
        <p:spPr>
          <a:xfrm>
            <a:off x="9390888" y="2286000"/>
            <a:ext cx="201168" cy="201168"/>
          </a:xfrm>
          <a:prstGeom prst="rightArrow">
            <a:avLst/>
          </a:prstGeom>
          <a:solidFill>
            <a:schemeClr val="accent5"/>
          </a:solidFill>
          <a:ln w="12700">
            <a:solidFill>
              <a:schemeClr val="accent5"/>
            </a:solidFill>
            <a:prstDash val="solid"/>
          </a:ln>
        </p:spPr>
      </p:sp>
      <p:sp>
        <p:nvSpPr>
          <p:cNvPr id="20" name="Flow step"/>
          <p:cNvSpPr/>
          <p:nvPr/>
        </p:nvSpPr>
        <p:spPr>
          <a:xfrm>
            <a:off x="9619488" y="1783080"/>
            <a:ext cx="2011680" cy="1280160"/>
          </a:xfrm>
          <a:prstGeom prst="roundRect">
            <a:avLst>
              <a:gd name="adj" fmla="val 5714"/>
            </a:avLst>
          </a:prstGeom>
          <a:solidFill>
            <a:schemeClr val="bg2"/>
          </a:solidFill>
          <a:ln/>
        </p:spPr>
      </p:sp>
      <p:sp>
        <p:nvSpPr>
          <p:cNvPr id="21" name="Text 19"/>
          <p:cNvSpPr txBox="1"/>
          <p:nvPr/>
        </p:nvSpPr>
        <p:spPr>
          <a:xfrm>
            <a:off x="9710928" y="1856232"/>
            <a:ext cx="1828800" cy="54864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56</a:t>
            </a:r>
            <a:endParaRPr lang="en-US" sz="2000" dirty="0"/>
          </a:p>
        </p:txBody>
      </p:sp>
      <p:sp>
        <p:nvSpPr>
          <p:cNvPr id="22" name="Text 20"/>
          <p:cNvSpPr txBox="1"/>
          <p:nvPr/>
        </p:nvSpPr>
        <p:spPr>
          <a:xfrm>
            <a:off x="9710928" y="242316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are charged</a:t>
            </a:r>
            <a:endParaRPr lang="en-US" sz="1200" dirty="0"/>
          </a:p>
        </p:txBody>
      </p:sp>
      <p:sp>
        <p:nvSpPr>
          <p:cNvPr id="23" name="Text 21"/>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From fund pages (1,456,070 users)</a:t>
            </a:r>
            <a:endParaRPr lang="en-US" sz="1800" dirty="0"/>
          </a:p>
        </p:txBody>
      </p:sp>
      <p:sp>
        <p:nvSpPr>
          <p:cNvPr id="24" name="Flow step"/>
          <p:cNvSpPr/>
          <p:nvPr/>
        </p:nvSpPr>
        <p:spPr>
          <a:xfrm>
            <a:off x="548640" y="3794760"/>
            <a:ext cx="2011680" cy="1280160"/>
          </a:xfrm>
          <a:prstGeom prst="roundRect">
            <a:avLst>
              <a:gd name="adj" fmla="val 5714"/>
            </a:avLst>
          </a:prstGeom>
          <a:solidFill>
            <a:schemeClr val="bg2"/>
          </a:solidFill>
          <a:ln/>
        </p:spPr>
      </p:sp>
      <p:sp>
        <p:nvSpPr>
          <p:cNvPr id="25" name="Text 23"/>
          <p:cNvSpPr txBox="1"/>
          <p:nvPr/>
        </p:nvSpPr>
        <p:spPr>
          <a:xfrm>
            <a:off x="640080" y="3867912"/>
            <a:ext cx="1828800" cy="54864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1,456,070</a:t>
            </a:r>
            <a:endParaRPr lang="en-US" sz="2000" dirty="0"/>
          </a:p>
        </p:txBody>
      </p:sp>
      <p:sp>
        <p:nvSpPr>
          <p:cNvPr id="26" name="Text 24"/>
          <p:cNvSpPr txBox="1"/>
          <p:nvPr/>
        </p:nvSpPr>
        <p:spPr>
          <a:xfrm>
            <a:off x="640080" y="443484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view a fund page</a:t>
            </a:r>
            <a:endParaRPr lang="en-US" sz="1200" dirty="0"/>
          </a:p>
        </p:txBody>
      </p:sp>
      <p:sp>
        <p:nvSpPr>
          <p:cNvPr id="27" name="Flow arrow"/>
          <p:cNvSpPr/>
          <p:nvPr/>
        </p:nvSpPr>
        <p:spPr>
          <a:xfrm>
            <a:off x="2587752" y="4297680"/>
            <a:ext cx="201168" cy="201168"/>
          </a:xfrm>
          <a:prstGeom prst="rightArrow">
            <a:avLst/>
          </a:prstGeom>
          <a:solidFill>
            <a:schemeClr val="accent5"/>
          </a:solidFill>
          <a:ln w="12700">
            <a:solidFill>
              <a:schemeClr val="accent5"/>
            </a:solidFill>
            <a:prstDash val="solid"/>
          </a:ln>
        </p:spPr>
      </p:sp>
      <p:sp>
        <p:nvSpPr>
          <p:cNvPr id="28" name="Flow step"/>
          <p:cNvSpPr/>
          <p:nvPr/>
        </p:nvSpPr>
        <p:spPr>
          <a:xfrm>
            <a:off x="2816352" y="3794760"/>
            <a:ext cx="2011680" cy="1280160"/>
          </a:xfrm>
          <a:prstGeom prst="roundRect">
            <a:avLst>
              <a:gd name="adj" fmla="val 5714"/>
            </a:avLst>
          </a:prstGeom>
          <a:solidFill>
            <a:schemeClr val="bg2"/>
          </a:solidFill>
          <a:ln/>
        </p:spPr>
      </p:sp>
      <p:sp>
        <p:nvSpPr>
          <p:cNvPr id="29" name="Text 27"/>
          <p:cNvSpPr txBox="1"/>
          <p:nvPr/>
        </p:nvSpPr>
        <p:spPr>
          <a:xfrm>
            <a:off x="2907792" y="3867912"/>
            <a:ext cx="1828800" cy="548640"/>
          </a:xfrm>
          <a:prstGeom prst="rect">
            <a:avLst/>
          </a:prstGeom>
          <a:noFill/>
          <a:ln/>
        </p:spPr>
        <p:txBody>
          <a:bodyPr wrap="square" lIns="0" tIns="0" rIns="0" bIns="0" rtlCol="0" anchor="ctr"/>
          <a:lstStyle/>
          <a:p>
            <a:pPr algn="ctr" indent="0" marL="0">
              <a:buNone/>
            </a:pPr>
            <a:r>
              <a:rPr lang="en-US" sz="2000" b="1" dirty="0">
                <a:solidFill>
                  <a:schemeClr val="accent3"/>
                </a:solidFill>
                <a:latin typeface="Cambria" pitchFamily="34" charset="0"/>
                <a:ea typeface="Cambria" pitchFamily="34" charset="-122"/>
                <a:cs typeface="Cambria" pitchFamily="34" charset="-120"/>
              </a:rPr>
              <a:t>19,819 (1.4%)</a:t>
            </a:r>
            <a:endParaRPr lang="en-US" sz="2000" dirty="0"/>
          </a:p>
        </p:txBody>
      </p:sp>
      <p:sp>
        <p:nvSpPr>
          <p:cNvPr id="30" name="Text 28"/>
          <p:cNvSpPr txBox="1"/>
          <p:nvPr/>
        </p:nvSpPr>
        <p:spPr>
          <a:xfrm>
            <a:off x="2907792" y="443484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reach a login page</a:t>
            </a:r>
            <a:endParaRPr lang="en-US" sz="1200" dirty="0"/>
          </a:p>
        </p:txBody>
      </p:sp>
      <p:sp>
        <p:nvSpPr>
          <p:cNvPr id="31" name="Flow arrow"/>
          <p:cNvSpPr/>
          <p:nvPr/>
        </p:nvSpPr>
        <p:spPr>
          <a:xfrm>
            <a:off x="4855464" y="4297680"/>
            <a:ext cx="201168" cy="201168"/>
          </a:xfrm>
          <a:prstGeom prst="rightArrow">
            <a:avLst/>
          </a:prstGeom>
          <a:solidFill>
            <a:schemeClr val="accent5"/>
          </a:solidFill>
          <a:ln w="12700">
            <a:solidFill>
              <a:schemeClr val="accent5"/>
            </a:solidFill>
            <a:prstDash val="solid"/>
          </a:ln>
        </p:spPr>
      </p:sp>
      <p:sp>
        <p:nvSpPr>
          <p:cNvPr id="32" name="Flow step"/>
          <p:cNvSpPr/>
          <p:nvPr/>
        </p:nvSpPr>
        <p:spPr>
          <a:xfrm>
            <a:off x="5084064" y="3794760"/>
            <a:ext cx="2011680" cy="1280160"/>
          </a:xfrm>
          <a:prstGeom prst="roundRect">
            <a:avLst>
              <a:gd name="adj" fmla="val 5714"/>
            </a:avLst>
          </a:prstGeom>
          <a:solidFill>
            <a:schemeClr val="bg2"/>
          </a:solidFill>
          <a:ln/>
        </p:spPr>
      </p:sp>
      <p:sp>
        <p:nvSpPr>
          <p:cNvPr id="33" name="Text 31"/>
          <p:cNvSpPr txBox="1"/>
          <p:nvPr/>
        </p:nvSpPr>
        <p:spPr>
          <a:xfrm>
            <a:off x="5175504" y="3867912"/>
            <a:ext cx="1828800" cy="54864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1,539</a:t>
            </a:r>
            <a:endParaRPr lang="en-US" sz="2000" dirty="0"/>
          </a:p>
        </p:txBody>
      </p:sp>
      <p:sp>
        <p:nvSpPr>
          <p:cNvPr id="34" name="Text 32"/>
          <p:cNvSpPr txBox="1"/>
          <p:nvPr/>
        </p:nvSpPr>
        <p:spPr>
          <a:xfrm>
            <a:off x="5175504" y="443484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reach the SIP step</a:t>
            </a:r>
            <a:endParaRPr lang="en-US" sz="1200" dirty="0"/>
          </a:p>
        </p:txBody>
      </p:sp>
      <p:sp>
        <p:nvSpPr>
          <p:cNvPr id="35" name="Flow arrow"/>
          <p:cNvSpPr/>
          <p:nvPr/>
        </p:nvSpPr>
        <p:spPr>
          <a:xfrm>
            <a:off x="7123176" y="4297680"/>
            <a:ext cx="201168" cy="201168"/>
          </a:xfrm>
          <a:prstGeom prst="rightArrow">
            <a:avLst/>
          </a:prstGeom>
          <a:solidFill>
            <a:schemeClr val="accent5"/>
          </a:solidFill>
          <a:ln w="12700">
            <a:solidFill>
              <a:schemeClr val="accent5"/>
            </a:solidFill>
            <a:prstDash val="solid"/>
          </a:ln>
        </p:spPr>
      </p:sp>
      <p:sp>
        <p:nvSpPr>
          <p:cNvPr id="36" name="Flow step"/>
          <p:cNvSpPr/>
          <p:nvPr/>
        </p:nvSpPr>
        <p:spPr>
          <a:xfrm>
            <a:off x="7351776" y="3794760"/>
            <a:ext cx="2011680" cy="1280160"/>
          </a:xfrm>
          <a:prstGeom prst="roundRect">
            <a:avLst>
              <a:gd name="adj" fmla="val 5714"/>
            </a:avLst>
          </a:prstGeom>
          <a:solidFill>
            <a:schemeClr val="bg2"/>
          </a:solidFill>
          <a:ln/>
        </p:spPr>
      </p:sp>
      <p:sp>
        <p:nvSpPr>
          <p:cNvPr id="37" name="Text 35"/>
          <p:cNvSpPr txBox="1"/>
          <p:nvPr/>
        </p:nvSpPr>
        <p:spPr>
          <a:xfrm>
            <a:off x="7443216" y="3867912"/>
            <a:ext cx="1828800" cy="54864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1,132</a:t>
            </a:r>
            <a:endParaRPr lang="en-US" sz="2000" dirty="0"/>
          </a:p>
        </p:txBody>
      </p:sp>
      <p:sp>
        <p:nvSpPr>
          <p:cNvPr id="38" name="Text 36"/>
          <p:cNvSpPr txBox="1"/>
          <p:nvPr/>
        </p:nvSpPr>
        <p:spPr>
          <a:xfrm>
            <a:off x="7443216" y="4434840"/>
            <a:ext cx="1828800" cy="594360"/>
          </a:xfrm>
          <a:prstGeom prst="rect">
            <a:avLst/>
          </a:prstGeom>
          <a:noFill/>
          <a:ln/>
        </p:spPr>
        <p:txBody>
          <a:bodyPr wrap="square" lIns="0" tIns="0" rIns="0" bIns="0" rtlCol="0" anchor="t"/>
          <a:lstStyle/>
          <a:p>
            <a:pPr algn="ctr" indent="0" marL="0">
              <a:buNone/>
            </a:pPr>
            <a:r>
              <a:rPr lang="en-US" sz="1200" dirty="0">
                <a:solidFill>
                  <a:schemeClr val="tx1"/>
                </a:solidFill>
              </a:rPr>
              <a:t>are charged</a:t>
            </a:r>
            <a:endParaRPr lang="en-US" sz="1200" dirty="0"/>
          </a:p>
        </p:txBody>
      </p:sp>
      <p:sp>
        <p:nvSpPr>
          <p:cNvPr id="39" name="Caveat"/>
          <p:cNvSpPr/>
          <p:nvPr/>
        </p:nvSpPr>
        <p:spPr>
          <a:xfrm>
            <a:off x="548640" y="5257800"/>
            <a:ext cx="11064240" cy="685800"/>
          </a:xfrm>
          <a:prstGeom prst="roundRect">
            <a:avLst>
              <a:gd name="adj" fmla="val 10667"/>
            </a:avLst>
          </a:prstGeom>
          <a:solidFill>
            <a:schemeClr val="bg2"/>
          </a:solidFill>
          <a:ln/>
        </p:spPr>
      </p:sp>
      <p:sp>
        <p:nvSpPr>
          <p:cNvPr id="40" name="Text 38"/>
          <p:cNvSpPr txBox="1"/>
          <p:nvPr/>
        </p:nvSpPr>
        <p:spPr>
          <a:xfrm>
            <a:off x="731520" y="5285232"/>
            <a:ext cx="10698480" cy="640080"/>
          </a:xfrm>
          <a:prstGeom prst="rect">
            <a:avLst/>
          </a:prstGeom>
          <a:noFill/>
          <a:ln/>
        </p:spPr>
        <p:txBody>
          <a:bodyPr wrap="square" lIns="0" tIns="0" rIns="0" bIns="0" rtlCol="0" anchor="ctr"/>
          <a:lstStyle/>
          <a:p>
            <a:pPr indent="0" marL="0">
              <a:buNone/>
            </a:pPr>
            <a:r>
              <a:rPr lang="en-US" sz="1400" dirty="0">
                <a:solidFill>
                  <a:schemeClr val="tx1"/>
                </a:solidFill>
              </a:rPr>
              <a:t>Read these as a floor: on the invest site 57% of users are identified, but visitors on the www site are anonymous until login, so most journeys cannot be joined across the two sites today.</a:t>
            </a:r>
            <a:endParaRPr lang="en-US" sz="1400" dirty="0"/>
          </a:p>
        </p:txBody>
      </p:sp>
      <p:sp>
        <p:nvSpPr>
          <p:cNvPr id="41"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NVECTA temporary funnels, 7-day window, steps not strictly ordered; user type split of invest.motilaloswalmf.com page views. Charged counts any successful payment.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After login: mandates fail, cancels beat pauses, folios go idle</a:t>
            </a:r>
            <a:endParaRPr lang="en-US" sz="2800" dirty="0"/>
          </a:p>
        </p:txBody>
      </p:sp>
      <p:graphicFrame>
        <p:nvGraphicFramePr>
          <p:cNvPr id="3" name="Chart 0" descr=""/>
          <p:cNvGraphicFramePr/>
          <p:nvPr/>
        </p:nvGraphicFramePr>
        <p:xfrm>
          <a:off x="548640" y="128016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4" name="Stat failures"/>
          <p:cNvSpPr/>
          <p:nvPr/>
        </p:nvSpPr>
        <p:spPr>
          <a:xfrm>
            <a:off x="6675120" y="1371600"/>
            <a:ext cx="2423160" cy="1508760"/>
          </a:xfrm>
          <a:prstGeom prst="roundRect">
            <a:avLst>
              <a:gd name="adj" fmla="val 4848"/>
            </a:avLst>
          </a:prstGeom>
          <a:solidFill>
            <a:schemeClr val="bg2"/>
          </a:solidFill>
          <a:ln/>
        </p:spPr>
      </p:sp>
      <p:sp>
        <p:nvSpPr>
          <p:cNvPr id="5" name="Text 2"/>
          <p:cNvSpPr txBox="1"/>
          <p:nvPr/>
        </p:nvSpPr>
        <p:spPr>
          <a:xfrm>
            <a:off x="6858000" y="1481328"/>
            <a:ext cx="2057400" cy="678942"/>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1,351</a:t>
            </a:r>
            <a:endParaRPr lang="en-US" sz="3400" dirty="0"/>
          </a:p>
        </p:txBody>
      </p:sp>
      <p:sp>
        <p:nvSpPr>
          <p:cNvPr id="6" name="Text 3"/>
          <p:cNvSpPr txBox="1"/>
          <p:nvPr/>
        </p:nvSpPr>
        <p:spPr>
          <a:xfrm>
            <a:off x="6858000" y="2201418"/>
            <a:ext cx="2057400" cy="633679"/>
          </a:xfrm>
          <a:prstGeom prst="rect">
            <a:avLst/>
          </a:prstGeom>
          <a:noFill/>
          <a:ln/>
        </p:spPr>
        <p:txBody>
          <a:bodyPr wrap="square" lIns="0" tIns="0" rIns="0" bIns="0" rtlCol="0" anchor="t"/>
          <a:lstStyle/>
          <a:p>
            <a:pPr indent="0" marL="0">
              <a:buNone/>
            </a:pPr>
            <a:r>
              <a:rPr lang="en-US" sz="1400" dirty="0">
                <a:solidFill>
                  <a:schemeClr val="tx1"/>
                </a:solidFill>
              </a:rPr>
              <a:t>users hit an autopay failure in 30 days</a:t>
            </a:r>
            <a:endParaRPr lang="en-US" sz="1400" dirty="0"/>
          </a:p>
        </p:txBody>
      </p:sp>
      <p:sp>
        <p:nvSpPr>
          <p:cNvPr id="7" name="Stat mandate funnel"/>
          <p:cNvSpPr/>
          <p:nvPr/>
        </p:nvSpPr>
        <p:spPr>
          <a:xfrm>
            <a:off x="9235440" y="1371600"/>
            <a:ext cx="2423160" cy="1508760"/>
          </a:xfrm>
          <a:prstGeom prst="roundRect">
            <a:avLst>
              <a:gd name="adj" fmla="val 4848"/>
            </a:avLst>
          </a:prstGeom>
          <a:solidFill>
            <a:schemeClr val="bg2"/>
          </a:solidFill>
          <a:ln/>
        </p:spPr>
      </p:sp>
      <p:sp>
        <p:nvSpPr>
          <p:cNvPr id="8" name="Text 5"/>
          <p:cNvSpPr txBox="1"/>
          <p:nvPr/>
        </p:nvSpPr>
        <p:spPr>
          <a:xfrm>
            <a:off x="9418320" y="1481328"/>
            <a:ext cx="2057400" cy="678942"/>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37%</a:t>
            </a:r>
            <a:endParaRPr lang="en-US" sz="3400" dirty="0"/>
          </a:p>
        </p:txBody>
      </p:sp>
      <p:sp>
        <p:nvSpPr>
          <p:cNvPr id="9" name="Text 6"/>
          <p:cNvSpPr txBox="1"/>
          <p:nvPr/>
        </p:nvSpPr>
        <p:spPr>
          <a:xfrm>
            <a:off x="9418320" y="2201418"/>
            <a:ext cx="2057400" cy="633679"/>
          </a:xfrm>
          <a:prstGeom prst="rect">
            <a:avLst/>
          </a:prstGeom>
          <a:noFill/>
          <a:ln/>
        </p:spPr>
        <p:txBody>
          <a:bodyPr wrap="square" lIns="0" tIns="0" rIns="0" bIns="0" rtlCol="0" anchor="t"/>
          <a:lstStyle/>
          <a:p>
            <a:pPr indent="0" marL="0">
              <a:buNone/>
            </a:pPr>
            <a:r>
              <a:rPr lang="en-US" sz="1400" dirty="0">
                <a:solidFill>
                  <a:schemeClr val="tx1"/>
                </a:solidFill>
              </a:rPr>
              <a:t>finish the web bank-mandate flow (527 of 1,434)</a:t>
            </a:r>
            <a:endParaRPr lang="en-US" sz="1400" dirty="0"/>
          </a:p>
        </p:txBody>
      </p:sp>
      <p:sp>
        <p:nvSpPr>
          <p:cNvPr id="10" name="Stat cancel page"/>
          <p:cNvSpPr/>
          <p:nvPr/>
        </p:nvSpPr>
        <p:spPr>
          <a:xfrm>
            <a:off x="6675120" y="3017520"/>
            <a:ext cx="2423160" cy="1508760"/>
          </a:xfrm>
          <a:prstGeom prst="roundRect">
            <a:avLst>
              <a:gd name="adj" fmla="val 4848"/>
            </a:avLst>
          </a:prstGeom>
          <a:solidFill>
            <a:schemeClr val="bg2"/>
          </a:solidFill>
          <a:ln/>
        </p:spPr>
      </p:sp>
      <p:sp>
        <p:nvSpPr>
          <p:cNvPr id="11" name="Text 8"/>
          <p:cNvSpPr txBox="1"/>
          <p:nvPr/>
        </p:nvSpPr>
        <p:spPr>
          <a:xfrm>
            <a:off x="6858000" y="3127248"/>
            <a:ext cx="2057400" cy="678942"/>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1,622</a:t>
            </a:r>
            <a:endParaRPr lang="en-US" sz="3400" dirty="0"/>
          </a:p>
        </p:txBody>
      </p:sp>
      <p:sp>
        <p:nvSpPr>
          <p:cNvPr id="12" name="Text 9"/>
          <p:cNvSpPr txBox="1"/>
          <p:nvPr/>
        </p:nvSpPr>
        <p:spPr>
          <a:xfrm>
            <a:off x="6858000" y="3847338"/>
            <a:ext cx="2057400" cy="633679"/>
          </a:xfrm>
          <a:prstGeom prst="rect">
            <a:avLst/>
          </a:prstGeom>
          <a:noFill/>
          <a:ln/>
        </p:spPr>
        <p:txBody>
          <a:bodyPr wrap="square" lIns="0" tIns="0" rIns="0" bIns="0" rtlCol="0" anchor="t"/>
          <a:lstStyle/>
          <a:p>
            <a:pPr indent="0" marL="0">
              <a:buNone/>
            </a:pPr>
            <a:r>
              <a:rPr lang="en-US" sz="1400" dirty="0">
                <a:solidFill>
                  <a:schemeClr val="tx1"/>
                </a:solidFill>
              </a:rPr>
              <a:t>left the cancel page without cancelling; 15 paused</a:t>
            </a:r>
            <a:endParaRPr lang="en-US" sz="1400" dirty="0"/>
          </a:p>
        </p:txBody>
      </p:sp>
      <p:sp>
        <p:nvSpPr>
          <p:cNvPr id="13" name="Stat folio"/>
          <p:cNvSpPr/>
          <p:nvPr/>
        </p:nvSpPr>
        <p:spPr>
          <a:xfrm>
            <a:off x="9235440" y="3017520"/>
            <a:ext cx="2423160" cy="1508760"/>
          </a:xfrm>
          <a:prstGeom prst="roundRect">
            <a:avLst>
              <a:gd name="adj" fmla="val 4848"/>
            </a:avLst>
          </a:prstGeom>
          <a:solidFill>
            <a:schemeClr val="bg2"/>
          </a:solidFill>
          <a:ln/>
        </p:spPr>
      </p:sp>
      <p:sp>
        <p:nvSpPr>
          <p:cNvPr id="14" name="Text 11"/>
          <p:cNvSpPr txBox="1"/>
          <p:nvPr/>
        </p:nvSpPr>
        <p:spPr>
          <a:xfrm>
            <a:off x="9418320" y="3127248"/>
            <a:ext cx="2057400" cy="678942"/>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28%</a:t>
            </a:r>
            <a:endParaRPr lang="en-US" sz="3400" dirty="0"/>
          </a:p>
        </p:txBody>
      </p:sp>
      <p:sp>
        <p:nvSpPr>
          <p:cNvPr id="15" name="Text 12"/>
          <p:cNvSpPr txBox="1"/>
          <p:nvPr/>
        </p:nvSpPr>
        <p:spPr>
          <a:xfrm>
            <a:off x="9418320" y="3847338"/>
            <a:ext cx="2057400" cy="633679"/>
          </a:xfrm>
          <a:prstGeom prst="rect">
            <a:avLst/>
          </a:prstGeom>
          <a:noFill/>
          <a:ln/>
        </p:spPr>
        <p:txBody>
          <a:bodyPr wrap="square" lIns="0" tIns="0" rIns="0" bIns="0" rtlCol="0" anchor="t"/>
          <a:lstStyle/>
          <a:p>
            <a:pPr indent="0" marL="0">
              <a:buNone/>
            </a:pPr>
            <a:r>
              <a:rPr lang="en-US" sz="1400" dirty="0">
                <a:solidFill>
                  <a:schemeClr val="tx1"/>
                </a:solidFill>
              </a:rPr>
              <a:t>of new folios make a first SIP within 24 hours (32% in 7 days)</a:t>
            </a:r>
            <a:endParaRPr lang="en-US" sz="1400" dirty="0"/>
          </a:p>
        </p:txBody>
      </p:sp>
      <p:sp>
        <p:nvSpPr>
          <p:cNvPr id="16" name="Text 13"/>
          <p:cNvSpPr txBox="1"/>
          <p:nvPr/>
        </p:nvSpPr>
        <p:spPr>
          <a:xfrm>
            <a:off x="6675120" y="4709160"/>
            <a:ext cx="4983480" cy="1097280"/>
          </a:xfrm>
          <a:prstGeom prst="rect">
            <a:avLst/>
          </a:prstGeom>
          <a:noFill/>
          <a:ln/>
        </p:spPr>
        <p:txBody>
          <a:bodyPr wrap="square" lIns="0" tIns="0" rIns="0" bIns="0" rtlCol="0" anchor="t"/>
          <a:lstStyle/>
          <a:p>
            <a:pPr indent="0" marL="0">
              <a:buNone/>
            </a:pPr>
            <a:r>
              <a:rPr lang="en-US" sz="1400" dirty="0">
                <a:solidFill>
                  <a:schemeClr val="tx1"/>
                </a:solidFill>
              </a:rPr>
              <a:t>2,253 users cancelled a SIP against 483 pauses. Over 90 days: 5,213 autopay successes against 4,306 cancellations.</a:t>
            </a:r>
            <a:endParaRPr lang="en-US" sz="1400" dirty="0"/>
          </a:p>
        </p:txBody>
      </p:sp>
      <p:sp>
        <p:nvSpPr>
          <p:cNvPr id="17"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NVECTA autopay, cancel, pause and folio funnels, 14 Sep to 14 Oct 2026. Event-user counts are indicative; UPI autopay is app-only.</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822960" y="2377440"/>
            <a:ext cx="10515600" cy="1097280"/>
          </a:xfrm>
          <a:prstGeom prst="rect">
            <a:avLst/>
          </a:prstGeom>
          <a:noFill/>
          <a:ln/>
        </p:spPr>
        <p:txBody>
          <a:bodyPr wrap="square" lIns="0" tIns="0" rIns="0" bIns="0" rtlCol="0" anchor="t"/>
          <a:lstStyle/>
          <a:p>
            <a:pPr algn="l" indent="0" marL="0">
              <a:buNone/>
            </a:pPr>
            <a:r>
              <a:rPr lang="en-US" sz="4000" b="1" dirty="0">
                <a:solidFill>
                  <a:schemeClr val="bg1"/>
                </a:solidFill>
              </a:rPr>
              <a:t>Market and customer context</a:t>
            </a:r>
            <a:endParaRPr lang="en-US" sz="4000" dirty="0"/>
          </a:p>
        </p:txBody>
      </p:sp>
      <p:sp>
        <p:nvSpPr>
          <p:cNvPr id="3" name="Text 1"/>
          <p:cNvSpPr/>
          <p:nvPr>
            <p:ph idx="102" type="body" hasCustomPrompt="1"/>
          </p:nvPr>
        </p:nvSpPr>
        <p:spPr>
          <a:xfrm>
            <a:off x="822960" y="3566160"/>
            <a:ext cx="10058400" cy="914400"/>
          </a:xfrm>
          <a:prstGeom prst="rect">
            <a:avLst/>
          </a:prstGeom>
          <a:noFill/>
          <a:ln/>
        </p:spPr>
        <p:txBody>
          <a:bodyPr wrap="square" lIns="0" tIns="0" rIns="0" bIns="0" rtlCol="0" anchor="t"/>
          <a:lstStyle/>
          <a:p>
            <a:pPr algn="l" indent="0" marL="0">
              <a:buNone/>
            </a:pPr>
            <a:r>
              <a:rPr lang="en-US" sz="1800" dirty="0">
                <a:solidFill>
                  <a:schemeClr val="bg2"/>
                </a:solidFill>
              </a:rPr>
              <a:t>Are investors losing faith in SIPs, and what does that mean for our pages?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SIPs are being started and stopped at record rates</a:t>
            </a:r>
            <a:endParaRPr lang="en-US" sz="2800" dirty="0"/>
          </a:p>
        </p:txBody>
      </p:sp>
      <p:graphicFrame>
        <p:nvGraphicFramePr>
          <p:cNvPr id="3" name="Chart 0" descr=""/>
          <p:cNvGraphicFramePr/>
          <p:nvPr/>
        </p:nvGraphicFramePr>
        <p:xfrm>
          <a:off x="548640" y="1280160"/>
          <a:ext cx="5303520" cy="4389120"/>
        </p:xfrm>
        <a:graphic xmlns:a="http://schemas.openxmlformats.org/drawingml/2006/main">
          <a:graphicData uri="http://schemas.openxmlformats.org/drawingml/2006/chart">
            <c:chart xmlns:c="http://schemas.openxmlformats.org/drawingml/2006/chart" r:id="rId1"/>
          </a:graphicData>
        </a:graphic>
      </p:graphicFrame>
      <p:sp>
        <p:nvSpPr>
          <p:cNvPr id="4" name="Stat inflow"/>
          <p:cNvSpPr/>
          <p:nvPr/>
        </p:nvSpPr>
        <p:spPr>
          <a:xfrm>
            <a:off x="6126480" y="1371600"/>
            <a:ext cx="2651760" cy="1508760"/>
          </a:xfrm>
          <a:prstGeom prst="roundRect">
            <a:avLst>
              <a:gd name="adj" fmla="val 4848"/>
            </a:avLst>
          </a:prstGeom>
          <a:solidFill>
            <a:schemeClr val="bg2"/>
          </a:solidFill>
          <a:ln/>
        </p:spPr>
      </p:sp>
      <p:sp>
        <p:nvSpPr>
          <p:cNvPr id="5" name="Text 2"/>
          <p:cNvSpPr txBox="1"/>
          <p:nvPr/>
        </p:nvSpPr>
        <p:spPr>
          <a:xfrm>
            <a:off x="6309360" y="1481328"/>
            <a:ext cx="2286000" cy="678942"/>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Rs 32,490 cr</a:t>
            </a:r>
            <a:endParaRPr lang="en-US" sz="3400" dirty="0"/>
          </a:p>
        </p:txBody>
      </p:sp>
      <p:sp>
        <p:nvSpPr>
          <p:cNvPr id="6" name="Text 3"/>
          <p:cNvSpPr txBox="1"/>
          <p:nvPr/>
        </p:nvSpPr>
        <p:spPr>
          <a:xfrm>
            <a:off x="6309360" y="2201418"/>
            <a:ext cx="2286000" cy="633679"/>
          </a:xfrm>
          <a:prstGeom prst="rect">
            <a:avLst/>
          </a:prstGeom>
          <a:noFill/>
          <a:ln/>
        </p:spPr>
        <p:txBody>
          <a:bodyPr wrap="square" lIns="0" tIns="0" rIns="0" bIns="0" rtlCol="0" anchor="t"/>
          <a:lstStyle/>
          <a:p>
            <a:pPr indent="0" marL="0">
              <a:buNone/>
            </a:pPr>
            <a:r>
              <a:rPr lang="en-US" sz="1400" dirty="0">
                <a:solidFill>
                  <a:schemeClr val="tx1"/>
                </a:solidFill>
              </a:rPr>
              <a:t>record monthly SIP inflow, Sep 2026</a:t>
            </a:r>
            <a:endParaRPr lang="en-US" sz="1400" dirty="0"/>
          </a:p>
        </p:txBody>
      </p:sp>
      <p:sp>
        <p:nvSpPr>
          <p:cNvPr id="7" name="Stat stoppage"/>
          <p:cNvSpPr/>
          <p:nvPr/>
        </p:nvSpPr>
        <p:spPr>
          <a:xfrm>
            <a:off x="8961120" y="1371600"/>
            <a:ext cx="2651760" cy="1508760"/>
          </a:xfrm>
          <a:prstGeom prst="roundRect">
            <a:avLst>
              <a:gd name="adj" fmla="val 4848"/>
            </a:avLst>
          </a:prstGeom>
          <a:solidFill>
            <a:schemeClr val="bg2"/>
          </a:solidFill>
          <a:ln/>
        </p:spPr>
      </p:sp>
      <p:sp>
        <p:nvSpPr>
          <p:cNvPr id="8" name="Text 5"/>
          <p:cNvSpPr txBox="1"/>
          <p:nvPr/>
        </p:nvSpPr>
        <p:spPr>
          <a:xfrm>
            <a:off x="9144000" y="1481328"/>
            <a:ext cx="2286000" cy="678942"/>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100%+</a:t>
            </a:r>
            <a:endParaRPr lang="en-US" sz="3400" dirty="0"/>
          </a:p>
        </p:txBody>
      </p:sp>
      <p:sp>
        <p:nvSpPr>
          <p:cNvPr id="9" name="Text 6"/>
          <p:cNvSpPr txBox="1"/>
          <p:nvPr/>
        </p:nvSpPr>
        <p:spPr>
          <a:xfrm>
            <a:off x="9144000" y="2201418"/>
            <a:ext cx="2286000" cy="633679"/>
          </a:xfrm>
          <a:prstGeom prst="rect">
            <a:avLst/>
          </a:prstGeom>
          <a:noFill/>
          <a:ln/>
        </p:spPr>
        <p:txBody>
          <a:bodyPr wrap="square" lIns="0" tIns="0" rIns="0" bIns="0" rtlCol="0" anchor="t"/>
          <a:lstStyle/>
          <a:p>
            <a:pPr indent="0" marL="0">
              <a:buNone/>
            </a:pPr>
            <a:r>
              <a:rPr lang="en-US" sz="1400" dirty="0">
                <a:solidFill>
                  <a:schemeClr val="tx1"/>
                </a:solidFill>
              </a:rPr>
              <a:t>stoppage ratio in Mar and Apr 2026</a:t>
            </a:r>
            <a:endParaRPr lang="en-US" sz="1400" dirty="0"/>
          </a:p>
        </p:txBody>
      </p:sp>
      <p:sp>
        <p:nvSpPr>
          <p:cNvPr id="10" name="Stat accounts"/>
          <p:cNvSpPr/>
          <p:nvPr/>
        </p:nvSpPr>
        <p:spPr>
          <a:xfrm>
            <a:off x="6126480" y="3017520"/>
            <a:ext cx="2651760" cy="1508760"/>
          </a:xfrm>
          <a:prstGeom prst="roundRect">
            <a:avLst>
              <a:gd name="adj" fmla="val 4848"/>
            </a:avLst>
          </a:prstGeom>
          <a:solidFill>
            <a:schemeClr val="bg2"/>
          </a:solidFill>
          <a:ln/>
        </p:spPr>
      </p:sp>
      <p:sp>
        <p:nvSpPr>
          <p:cNvPr id="11" name="Text 8"/>
          <p:cNvSpPr txBox="1"/>
          <p:nvPr/>
        </p:nvSpPr>
        <p:spPr>
          <a:xfrm>
            <a:off x="6309360" y="3127248"/>
            <a:ext cx="2286000" cy="678942"/>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10 crore+</a:t>
            </a:r>
            <a:endParaRPr lang="en-US" sz="3400" dirty="0"/>
          </a:p>
        </p:txBody>
      </p:sp>
      <p:sp>
        <p:nvSpPr>
          <p:cNvPr id="12" name="Text 9"/>
          <p:cNvSpPr txBox="1"/>
          <p:nvPr/>
        </p:nvSpPr>
        <p:spPr>
          <a:xfrm>
            <a:off x="6309360" y="3847338"/>
            <a:ext cx="2286000" cy="633679"/>
          </a:xfrm>
          <a:prstGeom prst="rect">
            <a:avLst/>
          </a:prstGeom>
          <a:noFill/>
          <a:ln/>
        </p:spPr>
        <p:txBody>
          <a:bodyPr wrap="square" lIns="0" tIns="0" rIns="0" bIns="0" rtlCol="0" anchor="t"/>
          <a:lstStyle/>
          <a:p>
            <a:pPr indent="0" marL="0">
              <a:buNone/>
            </a:pPr>
            <a:r>
              <a:rPr lang="en-US" sz="1400" dirty="0">
                <a:solidFill>
                  <a:schemeClr val="tx1"/>
                </a:solidFill>
              </a:rPr>
              <a:t>contributing SIP accounts, Aug 2026</a:t>
            </a:r>
            <a:endParaRPr lang="en-US" sz="1400" dirty="0"/>
          </a:p>
        </p:txBody>
      </p:sp>
      <p:sp>
        <p:nvSpPr>
          <p:cNvPr id="13" name="Stat old accounts"/>
          <p:cNvSpPr/>
          <p:nvPr/>
        </p:nvSpPr>
        <p:spPr>
          <a:xfrm>
            <a:off x="8961120" y="3017520"/>
            <a:ext cx="2651760" cy="1508760"/>
          </a:xfrm>
          <a:prstGeom prst="roundRect">
            <a:avLst>
              <a:gd name="adj" fmla="val 4848"/>
            </a:avLst>
          </a:prstGeom>
          <a:solidFill>
            <a:schemeClr val="bg2"/>
          </a:solidFill>
          <a:ln/>
        </p:spPr>
      </p:sp>
      <p:sp>
        <p:nvSpPr>
          <p:cNvPr id="14" name="Text 11"/>
          <p:cNvSpPr txBox="1"/>
          <p:nvPr/>
        </p:nvSpPr>
        <p:spPr>
          <a:xfrm>
            <a:off x="9144000" y="3127248"/>
            <a:ext cx="2286000" cy="678942"/>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-11.2%</a:t>
            </a:r>
            <a:endParaRPr lang="en-US" sz="3400" dirty="0"/>
          </a:p>
        </p:txBody>
      </p:sp>
      <p:sp>
        <p:nvSpPr>
          <p:cNvPr id="15" name="Text 12"/>
          <p:cNvSpPr txBox="1"/>
          <p:nvPr/>
        </p:nvSpPr>
        <p:spPr>
          <a:xfrm>
            <a:off x="9144000" y="3847338"/>
            <a:ext cx="2286000" cy="633679"/>
          </a:xfrm>
          <a:prstGeom prst="rect">
            <a:avLst/>
          </a:prstGeom>
          <a:noFill/>
          <a:ln/>
        </p:spPr>
        <p:txBody>
          <a:bodyPr wrap="square" lIns="0" tIns="0" rIns="0" bIns="0" rtlCol="0" anchor="t"/>
          <a:lstStyle/>
          <a:p>
            <a:pPr indent="0" marL="0">
              <a:buNone/>
            </a:pPr>
            <a:r>
              <a:rPr lang="en-US" sz="1400" dirty="0">
                <a:solidFill>
                  <a:schemeClr val="tx1"/>
                </a:solidFill>
              </a:rPr>
              <a:t>accounts older than 5 years, year on year to Mar 2026</a:t>
            </a:r>
            <a:endParaRPr lang="en-US" sz="1400" dirty="0"/>
          </a:p>
        </p:txBody>
      </p:sp>
      <p:sp>
        <p:nvSpPr>
          <p:cNvPr id="16" name="Text 13"/>
          <p:cNvSpPr txBox="1"/>
          <p:nvPr/>
        </p:nvSpPr>
        <p:spPr>
          <a:xfrm>
            <a:off x="6126480" y="4709160"/>
            <a:ext cx="5486400" cy="1097280"/>
          </a:xfrm>
          <a:prstGeom prst="rect">
            <a:avLst/>
          </a:prstGeom>
          <a:noFill/>
          <a:ln/>
        </p:spPr>
        <p:txBody>
          <a:bodyPr wrap="square" lIns="0" tIns="0" rIns="0" bIns="0" rtlCol="0" anchor="t"/>
          <a:lstStyle/>
          <a:p>
            <a:pPr indent="0" marL="0">
              <a:buNone/>
            </a:pPr>
            <a:r>
              <a:rPr lang="en-US" sz="1400" dirty="0">
                <a:solidFill>
                  <a:schemeClr val="tx1"/>
                </a:solidFill>
              </a:rPr>
              <a:t>Money keeps flowing, but the base is fragile: new and small SIPs churn most. Retail has not left equities; the risk is at the margin, among first-time investors.</a:t>
            </a:r>
            <a:endParaRPr lang="en-US" sz="1400" dirty="0"/>
          </a:p>
        </p:txBody>
      </p:sp>
      <p:sp>
        <p:nvSpPr>
          <p:cNvPr id="17"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media reports of AMFI data (Angel One, Telangana Today, Finnovate, Finplann, Vibes of India), Sep 2026 and earlier. Not independently verified; June is reported as about 91%.</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What investors worry about, and what it means for our pages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468880"/>
                <a:gridCol w="4846320"/>
                <a:gridCol w="3749040"/>
              </a:tblGrid>
              <a:tr h="56692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Signal</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means for tests</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r>
              <a:tr h="566928">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First drawdown for new investors</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Nifty fell 5.3% in one March 2026 week; 486 of 556 schemes were negative in FY26 (as reported); stoppage ratio above 100% in Mar-Apr</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Reassurance and low entry amounts next to the button (T2, T5)</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Small, young SIPs churn most</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Under-35s opened 40% of new SIPs in 2025 (Bain and Groww via IBEF); churn is concentrated in newer, smaller accounts</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Mobile-first pages, Rs 100-500 starts, plain language (T1, T2, T4)</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Long-running SIPs are thinning</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Accounts older than 5 years fell 11.2% to 1.06 crore (as reported)</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Retention matters as much as starts: pause and step-up options (T4, post-login I3)</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Flows hold while sentiment wobbles</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Record inflows in Sep; commentary says retail no longer panic-sells, while features say small investors are losing faith (opinion)</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Do not over-claim an exit from equities; test, do not assume</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Our own behaviour shows the same friction</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Cancels beat pauses 5 to 1; 40-60% of app mandates fail; 1,622 left the cancel page</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Commitment fear and payment friction are real in our data (T5, I2, I3)</a:t>
                      </a:r>
                      <a:endParaRPr lang="en-US" sz="12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4" name="First party note"/>
          <p:cNvSpPr/>
          <p:nvPr/>
        </p:nvSpPr>
        <p:spPr>
          <a:xfrm>
            <a:off x="548640" y="5029200"/>
            <a:ext cx="11064240" cy="822960"/>
          </a:xfrm>
          <a:prstGeom prst="roundRect">
            <a:avLst>
              <a:gd name="adj" fmla="val 8889"/>
            </a:avLst>
          </a:prstGeom>
          <a:solidFill>
            <a:schemeClr val="bg2"/>
          </a:solidFill>
          <a:ln/>
        </p:spPr>
      </p:sp>
      <p:sp>
        <p:nvSpPr>
          <p:cNvPr id="5" name="Text 2"/>
          <p:cNvSpPr txBox="1"/>
          <p:nvPr/>
        </p:nvSpPr>
        <p:spPr>
          <a:xfrm>
            <a:off x="731520" y="5056632"/>
            <a:ext cx="10698480" cy="768096"/>
          </a:xfrm>
          <a:prstGeom prst="rect">
            <a:avLst/>
          </a:prstGeom>
          <a:noFill/>
          <a:ln/>
        </p:spPr>
        <p:txBody>
          <a:bodyPr wrap="square" lIns="0" tIns="0" rIns="0" bIns="0" rtlCol="0" anchor="ctr"/>
          <a:lstStyle/>
          <a:p>
            <a:pPr indent="0" marL="0">
              <a:buNone/>
            </a:pPr>
            <a:r>
              <a:rPr lang="en-US" sz="1400" dirty="0">
                <a:solidFill>
                  <a:schemeClr val="tx1"/>
                </a:solidFill>
              </a:rPr>
              <a:t>First-party voice is still to come: NVECTA holds 2,375 feedback-survey and 3,426 NPS responses in the last 90 days. With the survey IDs we can read the verbatims and add them here.</a:t>
            </a:r>
            <a:endParaRPr lang="en-US" sz="1400" dirty="0"/>
          </a:p>
        </p:txBody>
      </p:sp>
      <p:sp>
        <p:nvSpPr>
          <p:cNvPr id="6"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media reports of AMFI data and surveys (Sahi, Business Standard, IBEF, Upstox, DSIJ), 2026; NVECTA behavioural data. Media figures are not independently verified.</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822960" y="2377440"/>
            <a:ext cx="10515600" cy="1097280"/>
          </a:xfrm>
          <a:prstGeom prst="rect">
            <a:avLst/>
          </a:prstGeom>
          <a:noFill/>
          <a:ln/>
        </p:spPr>
        <p:txBody>
          <a:bodyPr wrap="square" lIns="0" tIns="0" rIns="0" bIns="0" rtlCol="0" anchor="t"/>
          <a:lstStyle/>
          <a:p>
            <a:pPr algn="l" indent="0" marL="0">
              <a:buNone/>
            </a:pPr>
            <a:r>
              <a:rPr lang="en-US" sz="4000" b="1" dirty="0">
                <a:solidFill>
                  <a:schemeClr val="bg1"/>
                </a:solidFill>
              </a:rPr>
              <a:t>How peer AMCs handle the same pages</a:t>
            </a:r>
            <a:endParaRPr lang="en-US" sz="4000" dirty="0"/>
          </a:p>
        </p:txBody>
      </p:sp>
      <p:sp>
        <p:nvSpPr>
          <p:cNvPr id="3" name="Text 1"/>
          <p:cNvSpPr/>
          <p:nvPr>
            <p:ph idx="102" type="body" hasCustomPrompt="1"/>
          </p:nvPr>
        </p:nvSpPr>
        <p:spPr>
          <a:xfrm>
            <a:off x="822960" y="3566160"/>
            <a:ext cx="10058400" cy="914400"/>
          </a:xfrm>
          <a:prstGeom prst="rect">
            <a:avLst/>
          </a:prstGeom>
          <a:noFill/>
          <a:ln/>
        </p:spPr>
        <p:txBody>
          <a:bodyPr wrap="square" lIns="0" tIns="0" rIns="0" bIns="0" rtlCol="0" anchor="t"/>
          <a:lstStyle/>
          <a:p>
            <a:pPr algn="l" indent="0" marL="0">
              <a:buNone/>
            </a:pPr>
            <a:r>
              <a:rPr lang="en-US" sz="1800" dirty="0">
                <a:solidFill>
                  <a:schemeClr val="bg2"/>
                </a:solidFill>
              </a:rPr>
              <a:t>Home, SIP calculator and fund page across Axis, ABSL, ICICI Prudential, SBI and Nippon India, desktop and mobile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Peers put the invest step on the page; we already match on mobile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011680"/>
                <a:gridCol w="1508760"/>
                <a:gridCol w="1508760"/>
                <a:gridCol w="1508760"/>
                <a:gridCol w="1508760"/>
                <a:gridCol w="1508760"/>
                <a:gridCol w="1508760"/>
              </a:tblGrid>
              <a:tr h="40233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Page / signal</a:t>
                      </a:r>
                      <a:endParaRPr lang="en-US" sz="12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MOAMC (own)</a:t>
                      </a:r>
                      <a:endParaRPr lang="en-US" sz="12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Axis</a:t>
                      </a:r>
                      <a:endParaRPr lang="en-US" sz="12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ABSL</a:t>
                      </a:r>
                      <a:endParaRPr lang="en-US" sz="12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ICICI Pru</a:t>
                      </a:r>
                      <a:endParaRPr lang="en-US" sz="12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SBI</a:t>
                      </a:r>
                      <a:endParaRPr lang="en-US" sz="12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Nippon</a:t>
                      </a:r>
                      <a:endParaRPr lang="en-US" sz="12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Home: SIP block or button</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No SIP block; 'Invest' only</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SIP calculator widget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'SIP with ABSL MF' section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expert help</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Now'; no SIP block</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'Start a SIP' button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Home: guided start</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'Call back', 'WhatsApp us'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'Great for Beginners'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'Get Investment Plan'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'Speak to an expert'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'Talk to us'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'Guide me now'</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Calculator: invest button on the plan</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Sticky 'Start SIP' (mobile); plan link unconfirmed</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Now' under result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'Calculate' only</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'Start Investing' under result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PAN box and 'Start Now'</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Now' on step-up only</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Calculator: presets and modes</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Prefilled Rs 10,000, sliders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Goal or SIP-amount modes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List: step-up, cost of delay, goal</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Amount chips; SIP, Lumpsum, SWP</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Goal-based ('I want to make')</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SIP / Lumpsum switch</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Calculator: SIP FAQs on page</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FAQ section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Explainers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None seen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Explainers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'Can I pause / modify a SIP?'</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Explainers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Fund page (desktop): amount above the fold</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Now', SIP/Lumpsum toggle</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Panel: SIP tab, amount, chips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Panel: SIP and lumpsum amounts</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'New Investment' panel</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button only</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Login / Quick Invest only</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Fund page: minimum SIP shown</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Not detected</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Not stated in panel</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Min Rs 500</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Min Rs 100</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Rs 500 on page</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Not detected</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D3D1"/>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Fund page (mobile): invest button on first screen</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Now' + '6.5L have invested'</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Sticky 'Invest Now'</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Sticky 'Invest Now'</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Panel below first screen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CE9C8"/>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button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'Invest Now' button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EBDD"/>
                    </a:solidFill>
                  </a:tcPr>
                </a:tc>
              </a:tr>
              <a:tr h="402336">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Testing tool detected</a:t>
                      </a:r>
                      <a:endParaRPr lang="en-US" sz="11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None seen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E7EC"/>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Adobe Target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E7EC"/>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Adobe Target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E7EC"/>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Adobe Target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E7EC"/>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None seen</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E7EC"/>
                    </a:solidFill>
                  </a:tcPr>
                </a:tc>
                <a:tc>
                  <a:txBody>
                    <a:bodyPr/>
                    <a:lstStyle/>
                    <a:p>
                      <a:pPr algn="ctr" indent="0" marL="0">
                        <a:buNone/>
                      </a:pPr>
                      <a:r>
                        <a:rPr lang="en-US" sz="1000" dirty="0">
                          <a:solidFill>
                            <a:srgbClr val="1B2733"/>
                          </a:solidFill>
                          <a:latin typeface="Calibri" pitchFamily="34" charset="0"/>
                          <a:ea typeface="Calibri" pitchFamily="34" charset="-122"/>
                          <a:cs typeface="Calibri" pitchFamily="34" charset="-120"/>
                        </a:rPr>
                        <a:t>Adobe Target</a:t>
                      </a:r>
                      <a:endParaRPr lang="en-US" sz="1000" dirty="0">
                        <a:latin typeface="Calibri" charset="0"/>
                        <a:ea typeface="Calibri" charset="0"/>
                        <a:cs typeface="Calibri" charset="0"/>
                      </a:endParaRPr>
                    </a:p>
                  </a:txBody>
                  <a:tcPr marL="36576" marR="36576"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E7EC"/>
                    </a:solidFill>
                  </a:tcPr>
                </a:tc>
              </a:tr>
            </a:tbl>
          </a:graphicData>
        </a:graphic>
      </p:graphicFrame>
      <p:sp>
        <p:nvSpPr>
          <p:cNvPr id="4" name="Text 1"/>
          <p:cNvSpPr txBox="1"/>
          <p:nvPr/>
        </p:nvSpPr>
        <p:spPr>
          <a:xfrm>
            <a:off x="548640" y="5650992"/>
            <a:ext cx="11064240" cy="274320"/>
          </a:xfrm>
          <a:prstGeom prst="rect">
            <a:avLst/>
          </a:prstGeom>
          <a:noFill/>
          <a:ln/>
        </p:spPr>
        <p:txBody>
          <a:bodyPr wrap="square" lIns="0" tIns="0" rIns="0" bIns="0" rtlCol="0" anchor="ctr"/>
          <a:lstStyle/>
          <a:p>
            <a:pPr indent="0" marL="0">
              <a:buNone/>
            </a:pPr>
            <a:r>
              <a:rPr lang="en-US" sz="1200" b="1" dirty="0">
                <a:solidFill>
                  <a:srgbClr val="2E8B6A"/>
                </a:solidFill>
              </a:rPr>
              <a:t>Green</a:t>
            </a:r>
            <a:pPr indent="0" marL="0">
              <a:buNone/>
            </a:pPr>
            <a:r>
              <a:rPr lang="en-US" sz="1200" dirty="0">
                <a:solidFill>
                  <a:schemeClr val="tx1"/>
                </a:solidFill>
              </a:rPr>
              <a:t> = clear SIP path on the page   </a:t>
            </a:r>
            <a:pPr indent="0" marL="0">
              <a:buNone/>
            </a:pPr>
            <a:r>
              <a:rPr lang="en-US" sz="1200" b="1" dirty="0">
                <a:solidFill>
                  <a:srgbClr val="B7791F"/>
                </a:solidFill>
              </a:rPr>
              <a:t>Amber</a:t>
            </a:r>
            <a:pPr indent="0" marL="0">
              <a:buNone/>
            </a:pPr>
            <a:r>
              <a:rPr lang="en-US" sz="1200" dirty="0">
                <a:solidFill>
                  <a:schemeClr val="tx1"/>
                </a:solidFill>
              </a:rPr>
              <a:t> = partial   </a:t>
            </a:r>
            <a:pPr indent="0" marL="0">
              <a:buNone/>
            </a:pPr>
            <a:r>
              <a:rPr lang="en-US" sz="1200" b="1" dirty="0">
                <a:solidFill>
                  <a:srgbClr val="D8504D"/>
                </a:solidFill>
              </a:rPr>
              <a:t>Red</a:t>
            </a:r>
            <a:pPr indent="0" marL="0">
              <a:buNone/>
            </a:pPr>
            <a:r>
              <a:rPr lang="en-US" sz="1200" dirty="0">
                <a:solidFill>
                  <a:schemeClr val="tx1"/>
                </a:solidFill>
              </a:rPr>
              <a:t> = not seen on the page   </a:t>
            </a:r>
            <a:pPr indent="0" marL="0">
              <a:buNone/>
            </a:pPr>
            <a:r>
              <a:rPr lang="en-US" sz="1200" b="1" dirty="0">
                <a:solidFill>
                  <a:srgbClr val="7A8CA3"/>
                </a:solidFill>
              </a:rPr>
              <a:t>Grey</a:t>
            </a:r>
            <a:pPr indent="0" marL="0">
              <a:buNone/>
            </a:pPr>
            <a:r>
              <a:rPr lang="en-US" sz="1200" dirty="0">
                <a:solidFill>
                  <a:schemeClr val="tx1"/>
                </a:solidFill>
              </a:rPr>
              <a:t> = neutral</a:t>
            </a:r>
            <a:endParaRPr lang="en-US" sz="1200" dirty="0"/>
          </a:p>
        </p:txBody>
      </p:sp>
      <p:sp>
        <p:nvSpPr>
          <p:cNvPr id="5"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page snapshots, 14 Oct 2026 (desktop and phone viewport, 3 fresh sessions per page). Axis and Nippon SIP landing pages are blocked to scrapers; HDFC was dropped (robots.txt). Snapshots show content, not performance.</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On desktop, three peers let visitors start a SIP on the page</a:t>
            </a:r>
            <a:endParaRPr lang="en-US" sz="2800" dirty="0"/>
          </a:p>
        </p:txBody>
      </p:sp>
      <p:sp>
        <p:nvSpPr>
          <p:cNvPr id="3" name="Reference card"/>
          <p:cNvSpPr/>
          <p:nvPr/>
        </p:nvSpPr>
        <p:spPr>
          <a:xfrm>
            <a:off x="548640" y="1280160"/>
            <a:ext cx="3566160" cy="4160520"/>
          </a:xfrm>
          <a:prstGeom prst="roundRect">
            <a:avLst>
              <a:gd name="adj" fmla="val 2051"/>
            </a:avLst>
          </a:prstGeom>
          <a:solidFill>
            <a:schemeClr val="bg2"/>
          </a:solidFill>
          <a:ln/>
        </p:spPr>
      </p:sp>
      <p:sp>
        <p:nvSpPr>
          <p:cNvPr id="4" name="Text 2"/>
          <p:cNvSpPr txBox="1"/>
          <p:nvPr/>
        </p:nvSpPr>
        <p:spPr>
          <a:xfrm>
            <a:off x="685800" y="137160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Axis MF: invest panel on the fund page</a:t>
            </a:r>
            <a:endParaRPr lang="en-US" sz="1500" dirty="0"/>
          </a:p>
        </p:txBody>
      </p:sp>
      <p:pic>
        <p:nvPicPr>
          <p:cNvPr id="5" name="Competitor screenshot" descr="Screenshot: Axis MF: invest panel on the fund page">    </p:cNvPr>
          <p:cNvPicPr>
            <a:picLocks noChangeAspect="1"/>
          </p:cNvPicPr>
          <p:nvPr/>
        </p:nvPicPr>
        <p:blipFill>
          <a:blip r:embed="rId1"/>
          <a:srcRect l="0" r="0" t="0" b="0"/>
          <a:stretch/>
        </p:blipFill>
        <p:spPr>
          <a:xfrm>
            <a:off x="685800" y="1920240"/>
            <a:ext cx="3291840" cy="2331720"/>
          </a:xfrm>
          <a:prstGeom prst="rect">
            <a:avLst/>
          </a:prstGeom>
        </p:spPr>
      </p:pic>
      <p:sp>
        <p:nvSpPr>
          <p:cNvPr id="6" name="Text 3"/>
          <p:cNvSpPr txBox="1"/>
          <p:nvPr/>
        </p:nvSpPr>
        <p:spPr>
          <a:xfrm>
            <a:off x="685800" y="4343400"/>
            <a:ext cx="3291840" cy="10515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SIP tab first, amount box, +Rs 500 / +Rs 1,000 chips, SIP debit day</a:t>
            </a:r>
            <a:endParaRPr lang="en-US" sz="1200" dirty="0"/>
          </a:p>
          <a:p>
            <a:pPr marL="342900" indent="-342900">
              <a:spcAft>
                <a:spcPts val="800"/>
              </a:spcAft>
              <a:buSzPct val="100000"/>
              <a:buChar char="•"/>
            </a:pPr>
            <a:r>
              <a:rPr lang="en-US" sz="1200" dirty="0">
                <a:solidFill>
                  <a:schemeClr val="tx1"/>
                </a:solidFill>
              </a:rPr>
              <a:t>Calculator result ends in 'Invest Now'; home has a calculator widget</a:t>
            </a:r>
            <a:endParaRPr lang="en-US" sz="1200" dirty="0"/>
          </a:p>
        </p:txBody>
      </p:sp>
      <p:sp>
        <p:nvSpPr>
          <p:cNvPr id="7" name="Reference card"/>
          <p:cNvSpPr/>
          <p:nvPr/>
        </p:nvSpPr>
        <p:spPr>
          <a:xfrm>
            <a:off x="4297680" y="1280160"/>
            <a:ext cx="3566160" cy="4160520"/>
          </a:xfrm>
          <a:prstGeom prst="roundRect">
            <a:avLst>
              <a:gd name="adj" fmla="val 2051"/>
            </a:avLst>
          </a:prstGeom>
          <a:solidFill>
            <a:schemeClr val="bg2"/>
          </a:solidFill>
          <a:ln/>
        </p:spPr>
      </p:sp>
      <p:sp>
        <p:nvSpPr>
          <p:cNvPr id="8" name="Text 5"/>
          <p:cNvSpPr txBox="1"/>
          <p:nvPr/>
        </p:nvSpPr>
        <p:spPr>
          <a:xfrm>
            <a:off x="4434840" y="137160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ICICI Pru MF: plan built on the page</a:t>
            </a:r>
            <a:endParaRPr lang="en-US" sz="1500" dirty="0"/>
          </a:p>
        </p:txBody>
      </p:sp>
      <p:pic>
        <p:nvPicPr>
          <p:cNvPr id="9" name="Competitor screenshot" descr="Screenshot: ICICI Pru MF: plan built on the page">    </p:cNvPr>
          <p:cNvPicPr>
            <a:picLocks noChangeAspect="1"/>
          </p:cNvPicPr>
          <p:nvPr/>
        </p:nvPicPr>
        <p:blipFill>
          <a:blip r:embed="rId2"/>
          <a:srcRect l="0" r="0" t="0" b="0"/>
          <a:stretch/>
        </p:blipFill>
        <p:spPr>
          <a:xfrm>
            <a:off x="4434840" y="1920240"/>
            <a:ext cx="3291840" cy="2331720"/>
          </a:xfrm>
          <a:prstGeom prst="rect">
            <a:avLst/>
          </a:prstGeom>
        </p:spPr>
      </p:pic>
      <p:sp>
        <p:nvSpPr>
          <p:cNvPr id="10" name="Text 6"/>
          <p:cNvSpPr txBox="1"/>
          <p:nvPr/>
        </p:nvSpPr>
        <p:spPr>
          <a:xfrm>
            <a:off x="4434840" y="4343400"/>
            <a:ext cx="3291840" cy="10515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Calculator: amount chips, SIP / Lumpsum / SWP tabs, 'Start Investing' under result</a:t>
            </a:r>
            <a:endParaRPr lang="en-US" sz="1200" dirty="0"/>
          </a:p>
          <a:p>
            <a:pPr marL="342900" indent="-342900">
              <a:spcAft>
                <a:spcPts val="800"/>
              </a:spcAft>
              <a:buSzPct val="100000"/>
              <a:buChar char="•"/>
            </a:pPr>
            <a:r>
              <a:rPr lang="en-US" sz="1200" dirty="0">
                <a:solidFill>
                  <a:schemeClr val="tx1"/>
                </a:solidFill>
              </a:rPr>
              <a:t>Fund page: 'New Investment' panel (min Rs 100, frequency, dates) and a fund simulator</a:t>
            </a:r>
            <a:endParaRPr lang="en-US" sz="1200" dirty="0"/>
          </a:p>
        </p:txBody>
      </p:sp>
      <p:sp>
        <p:nvSpPr>
          <p:cNvPr id="11" name="Reference card"/>
          <p:cNvSpPr/>
          <p:nvPr/>
        </p:nvSpPr>
        <p:spPr>
          <a:xfrm>
            <a:off x="8046720" y="1280160"/>
            <a:ext cx="3566160" cy="4160520"/>
          </a:xfrm>
          <a:prstGeom prst="roundRect">
            <a:avLst>
              <a:gd name="adj" fmla="val 2051"/>
            </a:avLst>
          </a:prstGeom>
          <a:solidFill>
            <a:schemeClr val="bg2"/>
          </a:solidFill>
          <a:ln/>
        </p:spPr>
      </p:sp>
      <p:sp>
        <p:nvSpPr>
          <p:cNvPr id="12" name="Text 8"/>
          <p:cNvSpPr txBox="1"/>
          <p:nvPr/>
        </p:nvSpPr>
        <p:spPr>
          <a:xfrm>
            <a:off x="8183880" y="137160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ABSL MF: SIP and lumpsum amounts side by side</a:t>
            </a:r>
            <a:endParaRPr lang="en-US" sz="1500" dirty="0"/>
          </a:p>
        </p:txBody>
      </p:sp>
      <p:pic>
        <p:nvPicPr>
          <p:cNvPr id="13" name="Competitor screenshot" descr="Screenshot: ABSL MF: SIP and lumpsum amounts side by side">    </p:cNvPr>
          <p:cNvPicPr>
            <a:picLocks noChangeAspect="1"/>
          </p:cNvPicPr>
          <p:nvPr/>
        </p:nvPicPr>
        <p:blipFill>
          <a:blip r:embed="rId3"/>
          <a:srcRect l="0" r="0" t="0" b="0"/>
          <a:stretch/>
        </p:blipFill>
        <p:spPr>
          <a:xfrm>
            <a:off x="8183880" y="1920240"/>
            <a:ext cx="3291840" cy="2331720"/>
          </a:xfrm>
          <a:prstGeom prst="rect">
            <a:avLst/>
          </a:prstGeom>
        </p:spPr>
      </p:pic>
      <p:sp>
        <p:nvSpPr>
          <p:cNvPr id="14" name="Text 9"/>
          <p:cNvSpPr txBox="1"/>
          <p:nvPr/>
        </p:nvSpPr>
        <p:spPr>
          <a:xfrm>
            <a:off x="8183880" y="4343400"/>
            <a:ext cx="3291840" cy="10515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Floating panel with SIP amount and lumpsum amount (min Rs 500) and 'Invest Now'</a:t>
            </a:r>
            <a:endParaRPr lang="en-US" sz="1200" dirty="0"/>
          </a:p>
          <a:p>
            <a:pPr marL="342900" indent="-342900">
              <a:spcAft>
                <a:spcPts val="800"/>
              </a:spcAft>
              <a:buSzPct val="100000"/>
              <a:buChar char="•"/>
            </a:pPr>
            <a:r>
              <a:rPr lang="en-US" sz="1200" dirty="0">
                <a:solidFill>
                  <a:schemeClr val="tx1"/>
                </a:solidFill>
              </a:rPr>
              <a:t>Home has a 'SIP with ABSL MF' section; one-click UPI AutoPay for SIPs since 2023</a:t>
            </a:r>
            <a:endParaRPr lang="en-US" sz="1200" dirty="0"/>
          </a:p>
        </p:txBody>
      </p:sp>
      <p:sp>
        <p:nvSpPr>
          <p:cNvPr id="15" name="Text 10"/>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200" dirty="0">
                <a:solidFill>
                  <a:schemeClr val="tx1"/>
                </a:solidFill>
              </a:rPr>
              <a:t>SBI and Nippon fund pages show only an 'Invest' button on desktop. HDFC could not be scraped (robots.txt); its public pages show a SIP, step-up, goal and top-up calculator hub and an active HDFC Defence Fund.</a:t>
            </a:r>
            <a:endParaRPr lang="en-US" sz="1200" dirty="0"/>
          </a:p>
        </p:txBody>
      </p:sp>
      <p:sp>
        <p:nvSpPr>
          <p:cNvPr id="16"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desktop page snapshots and screenshots, 14 Oct 2026. ABSL UPI AutoPay: ABSL press release, Dec 2023.</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Mobile fund pages: every site leads with an invest button</a:t>
            </a:r>
            <a:endParaRPr lang="en-US" sz="2800" dirty="0"/>
          </a:p>
        </p:txBody>
      </p:sp>
      <p:sp>
        <p:nvSpPr>
          <p:cNvPr id="3" name="Mobile card"/>
          <p:cNvSpPr/>
          <p:nvPr/>
        </p:nvSpPr>
        <p:spPr>
          <a:xfrm>
            <a:off x="548640" y="1234440"/>
            <a:ext cx="1729740" cy="4343400"/>
          </a:xfrm>
          <a:prstGeom prst="roundRect">
            <a:avLst>
              <a:gd name="adj" fmla="val 4229"/>
            </a:avLst>
          </a:prstGeom>
          <a:solidFill>
            <a:schemeClr val="bg2"/>
          </a:solidFill>
          <a:ln/>
        </p:spPr>
      </p:sp>
      <p:sp>
        <p:nvSpPr>
          <p:cNvPr id="4" name="Text 2"/>
          <p:cNvSpPr txBox="1"/>
          <p:nvPr/>
        </p:nvSpPr>
        <p:spPr>
          <a:xfrm>
            <a:off x="6400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MOAMC (own)</a:t>
            </a:r>
            <a:endParaRPr lang="en-US" sz="1300" dirty="0"/>
          </a:p>
        </p:txBody>
      </p:sp>
      <p:pic>
        <p:nvPicPr>
          <p:cNvPr id="5" name="Mobile screenshot" descr="Mobile screenshot: MOAMC (own)">    </p:cNvPr>
          <p:cNvPicPr>
            <a:picLocks noChangeAspect="1"/>
          </p:cNvPicPr>
          <p:nvPr/>
        </p:nvPicPr>
        <p:blipFill>
          <a:blip r:embed="rId1"/>
          <a:srcRect l="0" r="0" t="0" b="0"/>
          <a:stretch/>
        </p:blipFill>
        <p:spPr>
          <a:xfrm>
            <a:off x="640080" y="1645920"/>
            <a:ext cx="1546860" cy="2743200"/>
          </a:xfrm>
          <a:prstGeom prst="rect">
            <a:avLst/>
          </a:prstGeom>
        </p:spPr>
      </p:pic>
      <p:sp>
        <p:nvSpPr>
          <p:cNvPr id="6" name="Text 3"/>
          <p:cNvSpPr txBox="1"/>
          <p:nvPr/>
        </p:nvSpPr>
        <p:spPr>
          <a:xfrm>
            <a:off x="6400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'Invest Now' and '6.5L have invested' on first screen; no amount or minimum</a:t>
            </a:r>
            <a:endParaRPr lang="en-US" sz="1100" dirty="0"/>
          </a:p>
        </p:txBody>
      </p:sp>
      <p:sp>
        <p:nvSpPr>
          <p:cNvPr id="7" name="Mobile card"/>
          <p:cNvSpPr/>
          <p:nvPr/>
        </p:nvSpPr>
        <p:spPr>
          <a:xfrm>
            <a:off x="2415540" y="1234440"/>
            <a:ext cx="1729740" cy="4343400"/>
          </a:xfrm>
          <a:prstGeom prst="roundRect">
            <a:avLst>
              <a:gd name="adj" fmla="val 4229"/>
            </a:avLst>
          </a:prstGeom>
          <a:solidFill>
            <a:schemeClr val="bg2"/>
          </a:solidFill>
          <a:ln/>
        </p:spPr>
      </p:sp>
      <p:sp>
        <p:nvSpPr>
          <p:cNvPr id="8" name="Text 5"/>
          <p:cNvSpPr txBox="1"/>
          <p:nvPr/>
        </p:nvSpPr>
        <p:spPr>
          <a:xfrm>
            <a:off x="25069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Axis</a:t>
            </a:r>
            <a:endParaRPr lang="en-US" sz="1300" dirty="0"/>
          </a:p>
        </p:txBody>
      </p:sp>
      <p:pic>
        <p:nvPicPr>
          <p:cNvPr id="9" name="Mobile screenshot" descr="Mobile screenshot: Axis">    </p:cNvPr>
          <p:cNvPicPr>
            <a:picLocks noChangeAspect="1"/>
          </p:cNvPicPr>
          <p:nvPr/>
        </p:nvPicPr>
        <p:blipFill>
          <a:blip r:embed="rId2"/>
          <a:srcRect l="0" r="0" t="0" b="0"/>
          <a:stretch/>
        </p:blipFill>
        <p:spPr>
          <a:xfrm>
            <a:off x="2506980" y="1645920"/>
            <a:ext cx="1546860" cy="2743200"/>
          </a:xfrm>
          <a:prstGeom prst="rect">
            <a:avLst/>
          </a:prstGeom>
        </p:spPr>
      </p:pic>
      <p:sp>
        <p:nvSpPr>
          <p:cNvPr id="10" name="Text 6"/>
          <p:cNvSpPr txBox="1"/>
          <p:nvPr/>
        </p:nvSpPr>
        <p:spPr>
          <a:xfrm>
            <a:off x="25069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Sticky 'Invest Now' at the bottom</a:t>
            </a:r>
            <a:endParaRPr lang="en-US" sz="1100" dirty="0"/>
          </a:p>
        </p:txBody>
      </p:sp>
      <p:sp>
        <p:nvSpPr>
          <p:cNvPr id="11" name="Mobile card"/>
          <p:cNvSpPr/>
          <p:nvPr/>
        </p:nvSpPr>
        <p:spPr>
          <a:xfrm>
            <a:off x="4282440" y="1234440"/>
            <a:ext cx="1729740" cy="4343400"/>
          </a:xfrm>
          <a:prstGeom prst="roundRect">
            <a:avLst>
              <a:gd name="adj" fmla="val 4229"/>
            </a:avLst>
          </a:prstGeom>
          <a:solidFill>
            <a:schemeClr val="bg2"/>
          </a:solidFill>
          <a:ln/>
        </p:spPr>
      </p:sp>
      <p:sp>
        <p:nvSpPr>
          <p:cNvPr id="12" name="Text 8"/>
          <p:cNvSpPr txBox="1"/>
          <p:nvPr/>
        </p:nvSpPr>
        <p:spPr>
          <a:xfrm>
            <a:off x="43738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ABSL</a:t>
            </a:r>
            <a:endParaRPr lang="en-US" sz="1300" dirty="0"/>
          </a:p>
        </p:txBody>
      </p:sp>
      <p:pic>
        <p:nvPicPr>
          <p:cNvPr id="13" name="Mobile screenshot" descr="Mobile screenshot: ABSL">    </p:cNvPr>
          <p:cNvPicPr>
            <a:picLocks noChangeAspect="1"/>
          </p:cNvPicPr>
          <p:nvPr/>
        </p:nvPicPr>
        <p:blipFill>
          <a:blip r:embed="rId3"/>
          <a:srcRect l="0" r="0" t="0" b="0"/>
          <a:stretch/>
        </p:blipFill>
        <p:spPr>
          <a:xfrm>
            <a:off x="4373880" y="1645920"/>
            <a:ext cx="1546860" cy="2743200"/>
          </a:xfrm>
          <a:prstGeom prst="rect">
            <a:avLst/>
          </a:prstGeom>
        </p:spPr>
      </p:pic>
      <p:sp>
        <p:nvSpPr>
          <p:cNvPr id="14" name="Text 9"/>
          <p:cNvSpPr txBox="1"/>
          <p:nvPr/>
        </p:nvSpPr>
        <p:spPr>
          <a:xfrm>
            <a:off x="43738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Sticky 'Invest Now'; NFO banner on top</a:t>
            </a:r>
            <a:endParaRPr lang="en-US" sz="1100" dirty="0"/>
          </a:p>
        </p:txBody>
      </p:sp>
      <p:sp>
        <p:nvSpPr>
          <p:cNvPr id="15" name="Mobile card"/>
          <p:cNvSpPr/>
          <p:nvPr/>
        </p:nvSpPr>
        <p:spPr>
          <a:xfrm>
            <a:off x="6149340" y="1234440"/>
            <a:ext cx="1729740" cy="4343400"/>
          </a:xfrm>
          <a:prstGeom prst="roundRect">
            <a:avLst>
              <a:gd name="adj" fmla="val 4229"/>
            </a:avLst>
          </a:prstGeom>
          <a:solidFill>
            <a:schemeClr val="bg2"/>
          </a:solidFill>
          <a:ln/>
        </p:spPr>
      </p:sp>
      <p:sp>
        <p:nvSpPr>
          <p:cNvPr id="16" name="Text 11"/>
          <p:cNvSpPr txBox="1"/>
          <p:nvPr/>
        </p:nvSpPr>
        <p:spPr>
          <a:xfrm>
            <a:off x="62407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ICICI Pru</a:t>
            </a:r>
            <a:endParaRPr lang="en-US" sz="1300" dirty="0"/>
          </a:p>
        </p:txBody>
      </p:sp>
      <p:pic>
        <p:nvPicPr>
          <p:cNvPr id="17" name="Mobile screenshot" descr="Mobile screenshot: ICICI Pru">    </p:cNvPr>
          <p:cNvPicPr>
            <a:picLocks noChangeAspect="1"/>
          </p:cNvPicPr>
          <p:nvPr/>
        </p:nvPicPr>
        <p:blipFill>
          <a:blip r:embed="rId4"/>
          <a:srcRect l="0" r="0" t="0" b="0"/>
          <a:stretch/>
        </p:blipFill>
        <p:spPr>
          <a:xfrm>
            <a:off x="6240780" y="1645920"/>
            <a:ext cx="1546860" cy="2743200"/>
          </a:xfrm>
          <a:prstGeom prst="rect">
            <a:avLst/>
          </a:prstGeom>
        </p:spPr>
      </p:pic>
      <p:sp>
        <p:nvSpPr>
          <p:cNvPr id="18" name="Text 12"/>
          <p:cNvSpPr txBox="1"/>
          <p:nvPr/>
        </p:nvSpPr>
        <p:spPr>
          <a:xfrm>
            <a:off x="62407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Summary first; investment panel lower down</a:t>
            </a:r>
            <a:endParaRPr lang="en-US" sz="1100" dirty="0"/>
          </a:p>
        </p:txBody>
      </p:sp>
      <p:sp>
        <p:nvSpPr>
          <p:cNvPr id="19" name="Mobile card"/>
          <p:cNvSpPr/>
          <p:nvPr/>
        </p:nvSpPr>
        <p:spPr>
          <a:xfrm>
            <a:off x="8016240" y="1234440"/>
            <a:ext cx="1729740" cy="4343400"/>
          </a:xfrm>
          <a:prstGeom prst="roundRect">
            <a:avLst>
              <a:gd name="adj" fmla="val 4229"/>
            </a:avLst>
          </a:prstGeom>
          <a:solidFill>
            <a:schemeClr val="bg2"/>
          </a:solidFill>
          <a:ln/>
        </p:spPr>
      </p:sp>
      <p:sp>
        <p:nvSpPr>
          <p:cNvPr id="20" name="Text 14"/>
          <p:cNvSpPr txBox="1"/>
          <p:nvPr/>
        </p:nvSpPr>
        <p:spPr>
          <a:xfrm>
            <a:off x="81076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SBI</a:t>
            </a:r>
            <a:endParaRPr lang="en-US" sz="1300" dirty="0"/>
          </a:p>
        </p:txBody>
      </p:sp>
      <p:pic>
        <p:nvPicPr>
          <p:cNvPr id="21" name="Mobile screenshot" descr="Mobile screenshot: SBI">    </p:cNvPr>
          <p:cNvPicPr>
            <a:picLocks noChangeAspect="1"/>
          </p:cNvPicPr>
          <p:nvPr/>
        </p:nvPicPr>
        <p:blipFill>
          <a:blip r:embed="rId5"/>
          <a:srcRect l="0" r="0" t="0" b="0"/>
          <a:stretch/>
        </p:blipFill>
        <p:spPr>
          <a:xfrm>
            <a:off x="8107680" y="1645920"/>
            <a:ext cx="1546860" cy="2743200"/>
          </a:xfrm>
          <a:prstGeom prst="rect">
            <a:avLst/>
          </a:prstGeom>
        </p:spPr>
      </p:pic>
      <p:sp>
        <p:nvSpPr>
          <p:cNvPr id="22" name="Text 15"/>
          <p:cNvSpPr txBox="1"/>
          <p:nvPr/>
        </p:nvSpPr>
        <p:spPr>
          <a:xfrm>
            <a:off x="81076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'Invest' button; 'Find an AMFI distributor'</a:t>
            </a:r>
            <a:endParaRPr lang="en-US" sz="1100" dirty="0"/>
          </a:p>
        </p:txBody>
      </p:sp>
      <p:sp>
        <p:nvSpPr>
          <p:cNvPr id="23" name="Mobile card"/>
          <p:cNvSpPr/>
          <p:nvPr/>
        </p:nvSpPr>
        <p:spPr>
          <a:xfrm>
            <a:off x="9883140" y="1234440"/>
            <a:ext cx="1729740" cy="4343400"/>
          </a:xfrm>
          <a:prstGeom prst="roundRect">
            <a:avLst>
              <a:gd name="adj" fmla="val 4229"/>
            </a:avLst>
          </a:prstGeom>
          <a:solidFill>
            <a:schemeClr val="bg2"/>
          </a:solidFill>
          <a:ln/>
        </p:spPr>
      </p:sp>
      <p:sp>
        <p:nvSpPr>
          <p:cNvPr id="24" name="Text 17"/>
          <p:cNvSpPr txBox="1"/>
          <p:nvPr/>
        </p:nvSpPr>
        <p:spPr>
          <a:xfrm>
            <a:off x="99745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Nippon</a:t>
            </a:r>
            <a:endParaRPr lang="en-US" sz="1300" dirty="0"/>
          </a:p>
        </p:txBody>
      </p:sp>
      <p:pic>
        <p:nvPicPr>
          <p:cNvPr id="25" name="Mobile screenshot" descr="Mobile screenshot: Nippon">    </p:cNvPr>
          <p:cNvPicPr>
            <a:picLocks noChangeAspect="1"/>
          </p:cNvPicPr>
          <p:nvPr/>
        </p:nvPicPr>
        <p:blipFill>
          <a:blip r:embed="rId6"/>
          <a:srcRect l="0" r="0" t="0" b="0"/>
          <a:stretch/>
        </p:blipFill>
        <p:spPr>
          <a:xfrm>
            <a:off x="9974580" y="1645920"/>
            <a:ext cx="1546860" cy="2743200"/>
          </a:xfrm>
          <a:prstGeom prst="rect">
            <a:avLst/>
          </a:prstGeom>
        </p:spPr>
      </p:pic>
      <p:sp>
        <p:nvSpPr>
          <p:cNvPr id="26" name="Text 18"/>
          <p:cNvSpPr txBox="1"/>
          <p:nvPr/>
        </p:nvSpPr>
        <p:spPr>
          <a:xfrm>
            <a:off x="99745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'Invest Now' after a long intro; video</a:t>
            </a:r>
            <a:endParaRPr lang="en-US" sz="1100" dirty="0"/>
          </a:p>
        </p:txBody>
      </p:sp>
      <p:sp>
        <p:nvSpPr>
          <p:cNvPr id="27" name="Text 19"/>
          <p:cNvSpPr txBox="1"/>
          <p:nvPr/>
        </p:nvSpPr>
        <p:spPr>
          <a:xfrm>
            <a:off x="548640" y="5623560"/>
            <a:ext cx="11064240" cy="365760"/>
          </a:xfrm>
          <a:prstGeom prst="rect">
            <a:avLst/>
          </a:prstGeom>
          <a:noFill/>
          <a:ln/>
        </p:spPr>
        <p:txBody>
          <a:bodyPr wrap="square" lIns="0" tIns="0" rIns="0" bIns="0" rtlCol="0" anchor="t"/>
          <a:lstStyle/>
          <a:p>
            <a:pPr indent="0" marL="0">
              <a:buNone/>
            </a:pPr>
            <a:r>
              <a:rPr lang="en-US" sz="1200" dirty="0">
                <a:solidFill>
                  <a:schemeClr val="tx1"/>
                </a:solidFill>
              </a:rPr>
              <a:t>Our mobile fund page is already on par for the first screen. The gap is what the button asks and carries: no amount, no minimum, no SIP wording.</a:t>
            </a:r>
            <a:endParaRPr lang="en-US" sz="1200" dirty="0"/>
          </a:p>
        </p:txBody>
      </p:sp>
      <p:sp>
        <p:nvSpPr>
          <p:cNvPr id="28"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phone-viewport (390 px) screenshots, 14 Oct 2026. SBI and Nippon shown on their small-cap pages (no defence fund).</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Mobile calculators: the closing step differs most</a:t>
            </a:r>
            <a:endParaRPr lang="en-US" sz="2800" dirty="0"/>
          </a:p>
        </p:txBody>
      </p:sp>
      <p:sp>
        <p:nvSpPr>
          <p:cNvPr id="3" name="Mobile card"/>
          <p:cNvSpPr/>
          <p:nvPr/>
        </p:nvSpPr>
        <p:spPr>
          <a:xfrm>
            <a:off x="548640" y="1234440"/>
            <a:ext cx="1729740" cy="4343400"/>
          </a:xfrm>
          <a:prstGeom prst="roundRect">
            <a:avLst>
              <a:gd name="adj" fmla="val 4229"/>
            </a:avLst>
          </a:prstGeom>
          <a:solidFill>
            <a:schemeClr val="bg2"/>
          </a:solidFill>
          <a:ln/>
        </p:spPr>
      </p:sp>
      <p:sp>
        <p:nvSpPr>
          <p:cNvPr id="4" name="Text 2"/>
          <p:cNvSpPr txBox="1"/>
          <p:nvPr/>
        </p:nvSpPr>
        <p:spPr>
          <a:xfrm>
            <a:off x="6400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MOAMC (own)</a:t>
            </a:r>
            <a:endParaRPr lang="en-US" sz="1300" dirty="0"/>
          </a:p>
        </p:txBody>
      </p:sp>
      <p:pic>
        <p:nvPicPr>
          <p:cNvPr id="5" name="Mobile screenshot" descr="Mobile screenshot: MOAMC (own)">    </p:cNvPr>
          <p:cNvPicPr>
            <a:picLocks noChangeAspect="1"/>
          </p:cNvPicPr>
          <p:nvPr/>
        </p:nvPicPr>
        <p:blipFill>
          <a:blip r:embed="rId1"/>
          <a:srcRect l="0" r="0" t="0" b="0"/>
          <a:stretch/>
        </p:blipFill>
        <p:spPr>
          <a:xfrm>
            <a:off x="640080" y="1645920"/>
            <a:ext cx="1546860" cy="2743200"/>
          </a:xfrm>
          <a:prstGeom prst="rect">
            <a:avLst/>
          </a:prstGeom>
        </p:spPr>
      </p:pic>
      <p:sp>
        <p:nvSpPr>
          <p:cNvPr id="6" name="Text 3"/>
          <p:cNvSpPr txBox="1"/>
          <p:nvPr/>
        </p:nvSpPr>
        <p:spPr>
          <a:xfrm>
            <a:off x="6400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Prefilled Rs 10,000; sticky 'Start SIP' bar</a:t>
            </a:r>
            <a:endParaRPr lang="en-US" sz="1100" dirty="0"/>
          </a:p>
        </p:txBody>
      </p:sp>
      <p:sp>
        <p:nvSpPr>
          <p:cNvPr id="7" name="Mobile card"/>
          <p:cNvSpPr/>
          <p:nvPr/>
        </p:nvSpPr>
        <p:spPr>
          <a:xfrm>
            <a:off x="2415540" y="1234440"/>
            <a:ext cx="1729740" cy="4343400"/>
          </a:xfrm>
          <a:prstGeom prst="roundRect">
            <a:avLst>
              <a:gd name="adj" fmla="val 4229"/>
            </a:avLst>
          </a:prstGeom>
          <a:solidFill>
            <a:schemeClr val="bg2"/>
          </a:solidFill>
          <a:ln/>
        </p:spPr>
      </p:sp>
      <p:sp>
        <p:nvSpPr>
          <p:cNvPr id="8" name="Text 5"/>
          <p:cNvSpPr txBox="1"/>
          <p:nvPr/>
        </p:nvSpPr>
        <p:spPr>
          <a:xfrm>
            <a:off x="25069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Axis</a:t>
            </a:r>
            <a:endParaRPr lang="en-US" sz="1300" dirty="0"/>
          </a:p>
        </p:txBody>
      </p:sp>
      <p:pic>
        <p:nvPicPr>
          <p:cNvPr id="9" name="Mobile screenshot" descr="Mobile screenshot: Axis">    </p:cNvPr>
          <p:cNvPicPr>
            <a:picLocks noChangeAspect="1"/>
          </p:cNvPicPr>
          <p:nvPr/>
        </p:nvPicPr>
        <p:blipFill>
          <a:blip r:embed="rId2"/>
          <a:srcRect l="0" r="0" t="0" b="0"/>
          <a:stretch/>
        </p:blipFill>
        <p:spPr>
          <a:xfrm>
            <a:off x="2506980" y="1645920"/>
            <a:ext cx="1546860" cy="2743200"/>
          </a:xfrm>
          <a:prstGeom prst="rect">
            <a:avLst/>
          </a:prstGeom>
        </p:spPr>
      </p:pic>
      <p:sp>
        <p:nvSpPr>
          <p:cNvPr id="10" name="Text 6"/>
          <p:cNvSpPr txBox="1"/>
          <p:nvPr/>
        </p:nvSpPr>
        <p:spPr>
          <a:xfrm>
            <a:off x="25069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Goal-based inputs and a 'Get a Quick Call' form (desktop adds 'Invest Now' under the result)</a:t>
            </a:r>
            <a:endParaRPr lang="en-US" sz="1100" dirty="0"/>
          </a:p>
        </p:txBody>
      </p:sp>
      <p:sp>
        <p:nvSpPr>
          <p:cNvPr id="11" name="Mobile card"/>
          <p:cNvSpPr/>
          <p:nvPr/>
        </p:nvSpPr>
        <p:spPr>
          <a:xfrm>
            <a:off x="4282440" y="1234440"/>
            <a:ext cx="1729740" cy="4343400"/>
          </a:xfrm>
          <a:prstGeom prst="roundRect">
            <a:avLst>
              <a:gd name="adj" fmla="val 4229"/>
            </a:avLst>
          </a:prstGeom>
          <a:solidFill>
            <a:schemeClr val="bg2"/>
          </a:solidFill>
          <a:ln/>
        </p:spPr>
      </p:sp>
      <p:sp>
        <p:nvSpPr>
          <p:cNvPr id="12" name="Text 8"/>
          <p:cNvSpPr txBox="1"/>
          <p:nvPr/>
        </p:nvSpPr>
        <p:spPr>
          <a:xfrm>
            <a:off x="43738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ABSL</a:t>
            </a:r>
            <a:endParaRPr lang="en-US" sz="1300" dirty="0"/>
          </a:p>
        </p:txBody>
      </p:sp>
      <p:pic>
        <p:nvPicPr>
          <p:cNvPr id="13" name="Mobile screenshot" descr="Mobile screenshot: ABSL">    </p:cNvPr>
          <p:cNvPicPr>
            <a:picLocks noChangeAspect="1"/>
          </p:cNvPicPr>
          <p:nvPr/>
        </p:nvPicPr>
        <p:blipFill>
          <a:blip r:embed="rId3"/>
          <a:srcRect l="0" r="0" t="0" b="0"/>
          <a:stretch/>
        </p:blipFill>
        <p:spPr>
          <a:xfrm>
            <a:off x="4373880" y="1645920"/>
            <a:ext cx="1546860" cy="2743200"/>
          </a:xfrm>
          <a:prstGeom prst="rect">
            <a:avLst/>
          </a:prstGeom>
        </p:spPr>
      </p:pic>
      <p:sp>
        <p:nvSpPr>
          <p:cNvPr id="14" name="Text 9"/>
          <p:cNvSpPr txBox="1"/>
          <p:nvPr/>
        </p:nvSpPr>
        <p:spPr>
          <a:xfrm>
            <a:off x="43738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Plain form with 'Calculate'; no invest button seen</a:t>
            </a:r>
            <a:endParaRPr lang="en-US" sz="1100" dirty="0"/>
          </a:p>
        </p:txBody>
      </p:sp>
      <p:sp>
        <p:nvSpPr>
          <p:cNvPr id="15" name="Mobile card"/>
          <p:cNvSpPr/>
          <p:nvPr/>
        </p:nvSpPr>
        <p:spPr>
          <a:xfrm>
            <a:off x="6149340" y="1234440"/>
            <a:ext cx="1729740" cy="4343400"/>
          </a:xfrm>
          <a:prstGeom prst="roundRect">
            <a:avLst>
              <a:gd name="adj" fmla="val 4229"/>
            </a:avLst>
          </a:prstGeom>
          <a:solidFill>
            <a:schemeClr val="bg2"/>
          </a:solidFill>
          <a:ln/>
        </p:spPr>
      </p:sp>
      <p:sp>
        <p:nvSpPr>
          <p:cNvPr id="16" name="Text 11"/>
          <p:cNvSpPr txBox="1"/>
          <p:nvPr/>
        </p:nvSpPr>
        <p:spPr>
          <a:xfrm>
            <a:off x="62407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ICICI Pru</a:t>
            </a:r>
            <a:endParaRPr lang="en-US" sz="1300" dirty="0"/>
          </a:p>
        </p:txBody>
      </p:sp>
      <p:pic>
        <p:nvPicPr>
          <p:cNvPr id="17" name="Mobile screenshot" descr="Mobile screenshot: ICICI Pru">    </p:cNvPr>
          <p:cNvPicPr>
            <a:picLocks noChangeAspect="1"/>
          </p:cNvPicPr>
          <p:nvPr/>
        </p:nvPicPr>
        <p:blipFill>
          <a:blip r:embed="rId4"/>
          <a:srcRect l="0" r="0" t="0" b="0"/>
          <a:stretch/>
        </p:blipFill>
        <p:spPr>
          <a:xfrm>
            <a:off x="6240780" y="1645920"/>
            <a:ext cx="1546860" cy="2743200"/>
          </a:xfrm>
          <a:prstGeom prst="rect">
            <a:avLst/>
          </a:prstGeom>
        </p:spPr>
      </p:pic>
      <p:sp>
        <p:nvSpPr>
          <p:cNvPr id="18" name="Text 12"/>
          <p:cNvSpPr txBox="1"/>
          <p:nvPr/>
        </p:nvSpPr>
        <p:spPr>
          <a:xfrm>
            <a:off x="62407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SIP / Lumpsum / SWP tabs; amount chips; 'Start Investing'</a:t>
            </a:r>
            <a:endParaRPr lang="en-US" sz="1100" dirty="0"/>
          </a:p>
        </p:txBody>
      </p:sp>
      <p:sp>
        <p:nvSpPr>
          <p:cNvPr id="19" name="Mobile card"/>
          <p:cNvSpPr/>
          <p:nvPr/>
        </p:nvSpPr>
        <p:spPr>
          <a:xfrm>
            <a:off x="8016240" y="1234440"/>
            <a:ext cx="1729740" cy="4343400"/>
          </a:xfrm>
          <a:prstGeom prst="roundRect">
            <a:avLst>
              <a:gd name="adj" fmla="val 4229"/>
            </a:avLst>
          </a:prstGeom>
          <a:solidFill>
            <a:schemeClr val="bg2"/>
          </a:solidFill>
          <a:ln/>
        </p:spPr>
      </p:sp>
      <p:sp>
        <p:nvSpPr>
          <p:cNvPr id="20" name="Text 14"/>
          <p:cNvSpPr txBox="1"/>
          <p:nvPr/>
        </p:nvSpPr>
        <p:spPr>
          <a:xfrm>
            <a:off x="81076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SBI</a:t>
            </a:r>
            <a:endParaRPr lang="en-US" sz="1300" dirty="0"/>
          </a:p>
        </p:txBody>
      </p:sp>
      <p:pic>
        <p:nvPicPr>
          <p:cNvPr id="21" name="Mobile screenshot" descr="Mobile screenshot: SBI">    </p:cNvPr>
          <p:cNvPicPr>
            <a:picLocks noChangeAspect="1"/>
          </p:cNvPicPr>
          <p:nvPr/>
        </p:nvPicPr>
        <p:blipFill>
          <a:blip r:embed="rId5"/>
          <a:srcRect l="0" r="0" t="0" b="0"/>
          <a:stretch/>
        </p:blipFill>
        <p:spPr>
          <a:xfrm>
            <a:off x="8107680" y="1645920"/>
            <a:ext cx="1546860" cy="2743200"/>
          </a:xfrm>
          <a:prstGeom prst="rect">
            <a:avLst/>
          </a:prstGeom>
        </p:spPr>
      </p:pic>
      <p:sp>
        <p:nvSpPr>
          <p:cNvPr id="22" name="Text 15"/>
          <p:cNvSpPr txBox="1"/>
          <p:nvPr/>
        </p:nvSpPr>
        <p:spPr>
          <a:xfrm>
            <a:off x="81076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Goal result, then 'Enter your PAN' with 'Start Now'</a:t>
            </a:r>
            <a:endParaRPr lang="en-US" sz="1100" dirty="0"/>
          </a:p>
        </p:txBody>
      </p:sp>
      <p:sp>
        <p:nvSpPr>
          <p:cNvPr id="23" name="Mobile card"/>
          <p:cNvSpPr/>
          <p:nvPr/>
        </p:nvSpPr>
        <p:spPr>
          <a:xfrm>
            <a:off x="9883140" y="1234440"/>
            <a:ext cx="1729740" cy="4343400"/>
          </a:xfrm>
          <a:prstGeom prst="roundRect">
            <a:avLst>
              <a:gd name="adj" fmla="val 4229"/>
            </a:avLst>
          </a:prstGeom>
          <a:solidFill>
            <a:schemeClr val="bg2"/>
          </a:solidFill>
          <a:ln/>
        </p:spPr>
      </p:sp>
      <p:sp>
        <p:nvSpPr>
          <p:cNvPr id="24" name="Text 17"/>
          <p:cNvSpPr txBox="1"/>
          <p:nvPr/>
        </p:nvSpPr>
        <p:spPr>
          <a:xfrm>
            <a:off x="9974580" y="1280160"/>
            <a:ext cx="1546860" cy="320040"/>
          </a:xfrm>
          <a:prstGeom prst="rect">
            <a:avLst/>
          </a:prstGeom>
          <a:noFill/>
          <a:ln/>
        </p:spPr>
        <p:txBody>
          <a:bodyPr wrap="square" lIns="0" tIns="0" rIns="0" bIns="0" rtlCol="0" anchor="t"/>
          <a:lstStyle/>
          <a:p>
            <a:pPr algn="ctr" indent="0" marL="0">
              <a:buNone/>
            </a:pPr>
            <a:r>
              <a:rPr lang="en-US" sz="1300" b="1" dirty="0">
                <a:solidFill>
                  <a:schemeClr val="tx2"/>
                </a:solidFill>
                <a:latin typeface="Cambria" pitchFamily="34" charset="0"/>
                <a:ea typeface="Cambria" pitchFamily="34" charset="-122"/>
                <a:cs typeface="Cambria" pitchFamily="34" charset="-120"/>
              </a:rPr>
              <a:t>Nippon</a:t>
            </a:r>
            <a:endParaRPr lang="en-US" sz="1300" dirty="0"/>
          </a:p>
        </p:txBody>
      </p:sp>
      <p:pic>
        <p:nvPicPr>
          <p:cNvPr id="25" name="Mobile screenshot" descr="Mobile screenshot: Nippon">    </p:cNvPr>
          <p:cNvPicPr>
            <a:picLocks noChangeAspect="1"/>
          </p:cNvPicPr>
          <p:nvPr/>
        </p:nvPicPr>
        <p:blipFill>
          <a:blip r:embed="rId6"/>
          <a:srcRect l="0" r="0" t="0" b="0"/>
          <a:stretch/>
        </p:blipFill>
        <p:spPr>
          <a:xfrm>
            <a:off x="9974580" y="1645920"/>
            <a:ext cx="1546860" cy="2743200"/>
          </a:xfrm>
          <a:prstGeom prst="rect">
            <a:avLst/>
          </a:prstGeom>
        </p:spPr>
      </p:pic>
      <p:sp>
        <p:nvSpPr>
          <p:cNvPr id="26" name="Text 18"/>
          <p:cNvSpPr txBox="1"/>
          <p:nvPr/>
        </p:nvSpPr>
        <p:spPr>
          <a:xfrm>
            <a:off x="9974580" y="4434840"/>
            <a:ext cx="1546860" cy="1097280"/>
          </a:xfrm>
          <a:prstGeom prst="rect">
            <a:avLst/>
          </a:prstGeom>
          <a:noFill/>
          <a:ln/>
        </p:spPr>
        <p:txBody>
          <a:bodyPr wrap="square" lIns="0" tIns="0" rIns="0" bIns="0" rtlCol="0" anchor="t"/>
          <a:lstStyle/>
          <a:p>
            <a:pPr algn="ctr" indent="0" marL="0">
              <a:buNone/>
            </a:pPr>
            <a:r>
              <a:rPr lang="en-US" sz="1100" dirty="0">
                <a:solidFill>
                  <a:schemeClr val="tx1"/>
                </a:solidFill>
              </a:rPr>
              <a:t>SIP / Lumpsum switch and goal questions</a:t>
            </a:r>
            <a:endParaRPr lang="en-US" sz="1100" dirty="0"/>
          </a:p>
        </p:txBody>
      </p:sp>
      <p:sp>
        <p:nvSpPr>
          <p:cNvPr id="27" name="Text 19"/>
          <p:cNvSpPr txBox="1"/>
          <p:nvPr/>
        </p:nvSpPr>
        <p:spPr>
          <a:xfrm>
            <a:off x="548640" y="5623560"/>
            <a:ext cx="11064240" cy="365760"/>
          </a:xfrm>
          <a:prstGeom prst="rect">
            <a:avLst/>
          </a:prstGeom>
          <a:noFill/>
          <a:ln/>
        </p:spPr>
        <p:txBody>
          <a:bodyPr wrap="square" lIns="0" tIns="0" rIns="0" bIns="0" rtlCol="0" anchor="t"/>
          <a:lstStyle/>
          <a:p>
            <a:pPr indent="0" marL="0">
              <a:buNone/>
            </a:pPr>
            <a:r>
              <a:rPr lang="en-US" sz="1200" dirty="0">
                <a:solidFill>
                  <a:schemeClr val="tx1"/>
                </a:solidFill>
              </a:rPr>
              <a:t>SBI asks for the PAN inside the calculator and Axis offers a call-back form: both capture an identity before the visitor reaches login.</a:t>
            </a:r>
            <a:endParaRPr lang="en-US" sz="1200" dirty="0"/>
          </a:p>
        </p:txBody>
      </p:sp>
      <p:sp>
        <p:nvSpPr>
          <p:cNvPr id="28"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phone-viewport (390 px) screenshots, 14 Oct 2026. SBI and Nippon shown on their small-cap pages (no defence fund).</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Six learnings from the peer snapshots</a:t>
            </a:r>
            <a:endParaRPr lang="en-US" sz="2800" dirty="0"/>
          </a:p>
        </p:txBody>
      </p:sp>
      <p:sp>
        <p:nvSpPr>
          <p:cNvPr id="3" name="Learning card"/>
          <p:cNvSpPr/>
          <p:nvPr/>
        </p:nvSpPr>
        <p:spPr>
          <a:xfrm>
            <a:off x="548640" y="1280160"/>
            <a:ext cx="3566160" cy="2148840"/>
          </a:xfrm>
          <a:prstGeom prst="roundRect">
            <a:avLst>
              <a:gd name="adj" fmla="val 3404"/>
            </a:avLst>
          </a:prstGeom>
          <a:solidFill>
            <a:schemeClr val="bg2"/>
          </a:solidFill>
          <a:ln/>
        </p:spPr>
      </p:sp>
      <p:sp>
        <p:nvSpPr>
          <p:cNvPr id="4" name="Text 2"/>
          <p:cNvSpPr txBox="1"/>
          <p:nvPr/>
        </p:nvSpPr>
        <p:spPr>
          <a:xfrm>
            <a:off x="685800" y="137160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Plan-linked buttons are standard</a:t>
            </a:r>
            <a:endParaRPr lang="en-US" sz="1500" dirty="0"/>
          </a:p>
        </p:txBody>
      </p:sp>
      <p:sp>
        <p:nvSpPr>
          <p:cNvPr id="5" name="Text 3"/>
          <p:cNvSpPr txBox="1"/>
          <p:nvPr/>
        </p:nvSpPr>
        <p:spPr>
          <a:xfrm>
            <a:off x="685800" y="1920240"/>
            <a:ext cx="3291840" cy="1417320"/>
          </a:xfrm>
          <a:prstGeom prst="rect">
            <a:avLst/>
          </a:prstGeom>
          <a:noFill/>
          <a:ln/>
        </p:spPr>
        <p:txBody>
          <a:bodyPr wrap="square" lIns="0" tIns="0" rIns="0" bIns="0" rtlCol="0" anchor="t"/>
          <a:lstStyle/>
          <a:p>
            <a:pPr indent="0" marL="0">
              <a:buNone/>
            </a:pPr>
            <a:r>
              <a:rPr lang="en-US" sz="1300" dirty="0">
                <a:solidFill>
                  <a:schemeClr val="tx1"/>
                </a:solidFill>
              </a:rPr>
              <a:t>ICICI ('Start Investing'), Axis ('Invest Now') and SBI ('Start Now') close the calculator under the plan. Ours is a sticky 'Start SIP' whose plan link we have not confirmed. Feeds T1.</a:t>
            </a:r>
            <a:endParaRPr lang="en-US" sz="1300" dirty="0"/>
          </a:p>
        </p:txBody>
      </p:sp>
      <p:sp>
        <p:nvSpPr>
          <p:cNvPr id="6" name="Learning card"/>
          <p:cNvSpPr/>
          <p:nvPr/>
        </p:nvSpPr>
        <p:spPr>
          <a:xfrm>
            <a:off x="4297680" y="1280160"/>
            <a:ext cx="3566160" cy="2148840"/>
          </a:xfrm>
          <a:prstGeom prst="roundRect">
            <a:avLst>
              <a:gd name="adj" fmla="val 3404"/>
            </a:avLst>
          </a:prstGeom>
          <a:solidFill>
            <a:schemeClr val="bg2"/>
          </a:solidFill>
          <a:ln/>
        </p:spPr>
      </p:sp>
      <p:sp>
        <p:nvSpPr>
          <p:cNvPr id="7" name="Text 5"/>
          <p:cNvSpPr txBox="1"/>
          <p:nvPr/>
        </p:nvSpPr>
        <p:spPr>
          <a:xfrm>
            <a:off x="4434840" y="137160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Capture identity inside the calculator</a:t>
            </a:r>
            <a:endParaRPr lang="en-US" sz="1500" dirty="0"/>
          </a:p>
        </p:txBody>
      </p:sp>
      <p:sp>
        <p:nvSpPr>
          <p:cNvPr id="8" name="Text 6"/>
          <p:cNvSpPr txBox="1"/>
          <p:nvPr/>
        </p:nvSpPr>
        <p:spPr>
          <a:xfrm>
            <a:off x="4434840" y="1920240"/>
            <a:ext cx="3291840" cy="1417320"/>
          </a:xfrm>
          <a:prstGeom prst="rect">
            <a:avLst/>
          </a:prstGeom>
          <a:noFill/>
          <a:ln/>
        </p:spPr>
        <p:txBody>
          <a:bodyPr wrap="square" lIns="0" tIns="0" rIns="0" bIns="0" rtlCol="0" anchor="t"/>
          <a:lstStyle/>
          <a:p>
            <a:pPr indent="0" marL="0">
              <a:buNone/>
            </a:pPr>
            <a:r>
              <a:rPr lang="en-US" sz="1300" dirty="0">
                <a:solidFill>
                  <a:schemeClr val="tx1"/>
                </a:solidFill>
              </a:rPr>
              <a:t>SBI asks for PAN next to 'Start Now'; Axis offers 'Get a Quick Call'; ABSL 'Get Investment Plan'. Ours captures nothing before login. Feeds T6.</a:t>
            </a:r>
            <a:endParaRPr lang="en-US" sz="1300" dirty="0"/>
          </a:p>
        </p:txBody>
      </p:sp>
      <p:sp>
        <p:nvSpPr>
          <p:cNvPr id="9" name="Learning card"/>
          <p:cNvSpPr/>
          <p:nvPr/>
        </p:nvSpPr>
        <p:spPr>
          <a:xfrm>
            <a:off x="8046720" y="1280160"/>
            <a:ext cx="3566160" cy="2148840"/>
          </a:xfrm>
          <a:prstGeom prst="roundRect">
            <a:avLst>
              <a:gd name="adj" fmla="val 3404"/>
            </a:avLst>
          </a:prstGeom>
          <a:solidFill>
            <a:schemeClr val="bg2"/>
          </a:solidFill>
          <a:ln/>
        </p:spPr>
      </p:sp>
      <p:sp>
        <p:nvSpPr>
          <p:cNvPr id="10" name="Text 8"/>
          <p:cNvSpPr txBox="1"/>
          <p:nvPr/>
        </p:nvSpPr>
        <p:spPr>
          <a:xfrm>
            <a:off x="8183880" y="137160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Peers answer SIP worries on the page</a:t>
            </a:r>
            <a:endParaRPr lang="en-US" sz="1500" dirty="0"/>
          </a:p>
        </p:txBody>
      </p:sp>
      <p:sp>
        <p:nvSpPr>
          <p:cNvPr id="11" name="Text 9"/>
          <p:cNvSpPr txBox="1"/>
          <p:nvPr/>
        </p:nvSpPr>
        <p:spPr>
          <a:xfrm>
            <a:off x="8183880" y="1920240"/>
            <a:ext cx="3291840" cy="1417320"/>
          </a:xfrm>
          <a:prstGeom prst="rect">
            <a:avLst/>
          </a:prstGeom>
          <a:noFill/>
          <a:ln/>
        </p:spPr>
        <p:txBody>
          <a:bodyPr wrap="square" lIns="0" tIns="0" rIns="0" bIns="0" rtlCol="0" anchor="t"/>
          <a:lstStyle/>
          <a:p>
            <a:pPr indent="0" marL="0">
              <a:buNone/>
            </a:pPr>
            <a:r>
              <a:rPr lang="en-US" sz="1300" dirty="0">
                <a:solidFill>
                  <a:schemeClr val="tx1"/>
                </a:solidFill>
              </a:rPr>
              <a:t>SBI's calculator page answers 'Can I pause my SIP?', 'Can I modify the amount?' and 'Can I renew?'. Feeds T5.</a:t>
            </a:r>
            <a:endParaRPr lang="en-US" sz="1300" dirty="0"/>
          </a:p>
        </p:txBody>
      </p:sp>
      <p:sp>
        <p:nvSpPr>
          <p:cNvPr id="12" name="Learning card"/>
          <p:cNvSpPr/>
          <p:nvPr/>
        </p:nvSpPr>
        <p:spPr>
          <a:xfrm>
            <a:off x="548640" y="3611880"/>
            <a:ext cx="3566160" cy="2148840"/>
          </a:xfrm>
          <a:prstGeom prst="roundRect">
            <a:avLst>
              <a:gd name="adj" fmla="val 3404"/>
            </a:avLst>
          </a:prstGeom>
          <a:solidFill>
            <a:schemeClr val="bg2"/>
          </a:solidFill>
          <a:ln/>
        </p:spPr>
      </p:sp>
      <p:sp>
        <p:nvSpPr>
          <p:cNvPr id="13" name="Text 11"/>
          <p:cNvSpPr txBox="1"/>
          <p:nvPr/>
        </p:nvSpPr>
        <p:spPr>
          <a:xfrm>
            <a:off x="685800" y="370332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Desktop fund pages carry an amount</a:t>
            </a:r>
            <a:endParaRPr lang="en-US" sz="1500" dirty="0"/>
          </a:p>
        </p:txBody>
      </p:sp>
      <p:sp>
        <p:nvSpPr>
          <p:cNvPr id="14" name="Text 12"/>
          <p:cNvSpPr txBox="1"/>
          <p:nvPr/>
        </p:nvSpPr>
        <p:spPr>
          <a:xfrm>
            <a:off x="685800" y="4251960"/>
            <a:ext cx="3291840" cy="1417320"/>
          </a:xfrm>
          <a:prstGeom prst="rect">
            <a:avLst/>
          </a:prstGeom>
          <a:noFill/>
          <a:ln/>
        </p:spPr>
        <p:txBody>
          <a:bodyPr wrap="square" lIns="0" tIns="0" rIns="0" bIns="0" rtlCol="0" anchor="t"/>
          <a:lstStyle/>
          <a:p>
            <a:pPr indent="0" marL="0">
              <a:buNone/>
            </a:pPr>
            <a:r>
              <a:rPr lang="en-US" sz="1300" dirty="0">
                <a:solidFill>
                  <a:schemeClr val="tx1"/>
                </a:solidFill>
              </a:rPr>
              <a:t>Axis, ABSL and ICICI show an amount panel; ICICI shows min Rs 100, ABSL and SBI Rs 500. Ours shows no minimum. On mobile all lead with an invest button. Feeds T2.</a:t>
            </a:r>
            <a:endParaRPr lang="en-US" sz="1300" dirty="0"/>
          </a:p>
        </p:txBody>
      </p:sp>
      <p:sp>
        <p:nvSpPr>
          <p:cNvPr id="15" name="Learning card"/>
          <p:cNvSpPr/>
          <p:nvPr/>
        </p:nvSpPr>
        <p:spPr>
          <a:xfrm>
            <a:off x="4297680" y="3611880"/>
            <a:ext cx="3566160" cy="2148840"/>
          </a:xfrm>
          <a:prstGeom prst="roundRect">
            <a:avLst>
              <a:gd name="adj" fmla="val 3404"/>
            </a:avLst>
          </a:prstGeom>
          <a:solidFill>
            <a:schemeClr val="bg2"/>
          </a:solidFill>
          <a:ln/>
        </p:spPr>
      </p:sp>
      <p:sp>
        <p:nvSpPr>
          <p:cNvPr id="16" name="Text 14"/>
          <p:cNvSpPr txBox="1"/>
          <p:nvPr/>
        </p:nvSpPr>
        <p:spPr>
          <a:xfrm>
            <a:off x="4434840" y="370332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Calculator suites are richer</a:t>
            </a:r>
            <a:endParaRPr lang="en-US" sz="1500" dirty="0"/>
          </a:p>
        </p:txBody>
      </p:sp>
      <p:sp>
        <p:nvSpPr>
          <p:cNvPr id="17" name="Text 15"/>
          <p:cNvSpPr txBox="1"/>
          <p:nvPr/>
        </p:nvSpPr>
        <p:spPr>
          <a:xfrm>
            <a:off x="4434840" y="4251960"/>
            <a:ext cx="3291840" cy="1417320"/>
          </a:xfrm>
          <a:prstGeom prst="rect">
            <a:avLst/>
          </a:prstGeom>
          <a:noFill/>
          <a:ln/>
        </p:spPr>
        <p:txBody>
          <a:bodyPr wrap="square" lIns="0" tIns="0" rIns="0" bIns="0" rtlCol="0" anchor="t"/>
          <a:lstStyle/>
          <a:p>
            <a:pPr indent="0" marL="0">
              <a:buNone/>
            </a:pPr>
            <a:r>
              <a:rPr lang="en-US" sz="1300" dirty="0">
                <a:solidFill>
                  <a:schemeClr val="tx1"/>
                </a:solidFill>
              </a:rPr>
              <a:t>ABSL lists step-up, cost of delay, goal and SIP-with-EMI tools; ICICI combines SIP, lumpsum and SWP; SBI has a Crorepati goal tool. Feeds T4.</a:t>
            </a:r>
            <a:endParaRPr lang="en-US" sz="1300" dirty="0"/>
          </a:p>
        </p:txBody>
      </p:sp>
      <p:sp>
        <p:nvSpPr>
          <p:cNvPr id="18" name="Learning card"/>
          <p:cNvSpPr/>
          <p:nvPr/>
        </p:nvSpPr>
        <p:spPr>
          <a:xfrm>
            <a:off x="8046720" y="3611880"/>
            <a:ext cx="3566160" cy="2148840"/>
          </a:xfrm>
          <a:prstGeom prst="roundRect">
            <a:avLst>
              <a:gd name="adj" fmla="val 3404"/>
            </a:avLst>
          </a:prstGeom>
          <a:solidFill>
            <a:schemeClr val="bg2"/>
          </a:solidFill>
          <a:ln/>
        </p:spPr>
      </p:sp>
      <p:sp>
        <p:nvSpPr>
          <p:cNvPr id="19" name="Text 17"/>
          <p:cNvSpPr txBox="1"/>
          <p:nvPr/>
        </p:nvSpPr>
        <p:spPr>
          <a:xfrm>
            <a:off x="8183880" y="3703320"/>
            <a:ext cx="3291840" cy="50292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Testing maturity differs</a:t>
            </a:r>
            <a:endParaRPr lang="en-US" sz="1500" dirty="0"/>
          </a:p>
        </p:txBody>
      </p:sp>
      <p:sp>
        <p:nvSpPr>
          <p:cNvPr id="20" name="Text 18"/>
          <p:cNvSpPr txBox="1"/>
          <p:nvPr/>
        </p:nvSpPr>
        <p:spPr>
          <a:xfrm>
            <a:off x="8183880" y="4251960"/>
            <a:ext cx="3291840" cy="1417320"/>
          </a:xfrm>
          <a:prstGeom prst="rect">
            <a:avLst/>
          </a:prstGeom>
          <a:noFill/>
          <a:ln/>
        </p:spPr>
        <p:txBody>
          <a:bodyPr wrap="square" lIns="0" tIns="0" rIns="0" bIns="0" rtlCol="0" anchor="t"/>
          <a:lstStyle/>
          <a:p>
            <a:pPr indent="0" marL="0">
              <a:buNone/>
            </a:pPr>
            <a:r>
              <a:rPr lang="en-US" sz="1300" dirty="0">
                <a:solidFill>
                  <a:schemeClr val="tx1"/>
                </a:solidFill>
              </a:rPr>
              <a:t>Axis, ABSL, ICICI and Nippon run Adobe Target; ABSL home cards and ICICI's hero varied between sessions. SBI and we show none. We can lead on testing.</a:t>
            </a:r>
            <a:endParaRPr lang="en-US" sz="1300" dirty="0"/>
          </a:p>
        </p:txBody>
      </p:sp>
      <p:sp>
        <p:nvSpPr>
          <p:cNvPr id="21"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Source: snapshots 14 Oct 2026. Peer choices show what others do, not what wins; each learning becomes a test, not a copy.</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822960" y="2377440"/>
            <a:ext cx="10515600" cy="1097280"/>
          </a:xfrm>
          <a:prstGeom prst="rect">
            <a:avLst/>
          </a:prstGeom>
          <a:noFill/>
          <a:ln/>
        </p:spPr>
        <p:txBody>
          <a:bodyPr wrap="square" lIns="0" tIns="0" rIns="0" bIns="0" rtlCol="0" anchor="t"/>
          <a:lstStyle/>
          <a:p>
            <a:pPr algn="l" indent="0" marL="0">
              <a:buNone/>
            </a:pPr>
            <a:r>
              <a:rPr lang="en-US" sz="4000" b="1" dirty="0">
                <a:solidFill>
                  <a:schemeClr val="bg1"/>
                </a:solidFill>
              </a:rPr>
              <a:t>Test programme: pre-login first</a:t>
            </a:r>
            <a:endParaRPr lang="en-US" sz="4000" dirty="0"/>
          </a:p>
        </p:txBody>
      </p:sp>
      <p:sp>
        <p:nvSpPr>
          <p:cNvPr id="3" name="Text 1"/>
          <p:cNvSpPr/>
          <p:nvPr>
            <p:ph idx="102" type="body" hasCustomPrompt="1"/>
          </p:nvPr>
        </p:nvSpPr>
        <p:spPr>
          <a:xfrm>
            <a:off x="822960" y="3566160"/>
            <a:ext cx="10058400" cy="914400"/>
          </a:xfrm>
          <a:prstGeom prst="rect">
            <a:avLst/>
          </a:prstGeom>
          <a:noFill/>
          <a:ln/>
        </p:spPr>
        <p:txBody>
          <a:bodyPr wrap="square" lIns="0" tIns="0" rIns="0" bIns="0" rtlCol="0" anchor="t"/>
          <a:lstStyle/>
          <a:p>
            <a:pPr algn="l" indent="0" marL="0">
              <a:buNone/>
            </a:pPr>
            <a:r>
              <a:rPr lang="en-US" sz="1800" dirty="0">
                <a:solidFill>
                  <a:schemeClr val="bg2"/>
                </a:solidFill>
              </a:rPr>
              <a:t>Seven pre-login tests, four post-login ideas, 2-3 tests a week, ongoing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Cadence: 2-3 tests a week, built in 1-3 days, read in 1-2 weeks</a:t>
            </a:r>
            <a:endParaRPr lang="en-US" sz="2800" dirty="0"/>
          </a:p>
        </p:txBody>
      </p:sp>
      <p:sp>
        <p:nvSpPr>
          <p:cNvPr id="3" name="Week card"/>
          <p:cNvSpPr/>
          <p:nvPr/>
        </p:nvSpPr>
        <p:spPr>
          <a:xfrm>
            <a:off x="548640" y="1280160"/>
            <a:ext cx="2651760" cy="3063240"/>
          </a:xfrm>
          <a:prstGeom prst="roundRect">
            <a:avLst>
              <a:gd name="adj" fmla="val 2759"/>
            </a:avLst>
          </a:prstGeom>
          <a:solidFill>
            <a:schemeClr val="bg2"/>
          </a:solidFill>
          <a:ln/>
        </p:spPr>
      </p:sp>
      <p:sp>
        <p:nvSpPr>
          <p:cNvPr id="4" name="Text 2"/>
          <p:cNvSpPr txBox="1"/>
          <p:nvPr/>
        </p:nvSpPr>
        <p:spPr>
          <a:xfrm>
            <a:off x="731520" y="1371600"/>
            <a:ext cx="228600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Week 1</a:t>
            </a:r>
            <a:endParaRPr lang="en-US" sz="2000" dirty="0"/>
          </a:p>
        </p:txBody>
      </p:sp>
      <p:sp>
        <p:nvSpPr>
          <p:cNvPr id="5" name="Text 3"/>
          <p:cNvSpPr txBox="1"/>
          <p:nvPr/>
        </p:nvSpPr>
        <p:spPr>
          <a:xfrm>
            <a:off x="731520" y="1755648"/>
            <a:ext cx="2286000" cy="274320"/>
          </a:xfrm>
          <a:prstGeom prst="rect">
            <a:avLst/>
          </a:prstGeom>
          <a:noFill/>
          <a:ln/>
        </p:spPr>
        <p:txBody>
          <a:bodyPr wrap="square" lIns="0" tIns="0" rIns="0" bIns="0" rtlCol="0" anchor="ctr"/>
          <a:lstStyle/>
          <a:p>
            <a:pPr indent="0" marL="0">
              <a:buNone/>
            </a:pPr>
            <a:r>
              <a:rPr lang="en-US" sz="1200" b="1" dirty="0">
                <a:solidFill>
                  <a:schemeClr val="accent1"/>
                </a:solidFill>
              </a:rPr>
              <a:t>Launch 3</a:t>
            </a:r>
            <a:endParaRPr lang="en-US" sz="1200" dirty="0"/>
          </a:p>
        </p:txBody>
      </p:sp>
      <p:sp>
        <p:nvSpPr>
          <p:cNvPr id="6" name="Text 4"/>
          <p:cNvSpPr txBox="1"/>
          <p:nvPr/>
        </p:nvSpPr>
        <p:spPr>
          <a:xfrm>
            <a:off x="731520" y="2148840"/>
            <a:ext cx="228600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T1  SIP calculator</a:t>
            </a:r>
            <a:endParaRPr lang="en-US" sz="1300" dirty="0"/>
          </a:p>
          <a:p>
            <a:pPr marL="342900" indent="-342900">
              <a:spcAft>
                <a:spcPts val="800"/>
              </a:spcAft>
              <a:buSzPct val="100000"/>
              <a:buChar char="•"/>
            </a:pPr>
            <a:r>
              <a:rPr lang="en-US" sz="1300" dirty="0">
                <a:solidFill>
                  <a:schemeClr val="tx1"/>
                </a:solidFill>
              </a:rPr>
              <a:t>T2  Fund pages</a:t>
            </a:r>
            <a:endParaRPr lang="en-US" sz="1300" dirty="0"/>
          </a:p>
          <a:p>
            <a:pPr marL="342900" indent="-342900">
              <a:spcAft>
                <a:spcPts val="800"/>
              </a:spcAft>
              <a:buSzPct val="100000"/>
              <a:buChar char="•"/>
            </a:pPr>
            <a:r>
              <a:rPr lang="en-US" sz="1300" dirty="0">
                <a:solidFill>
                  <a:schemeClr val="tx1"/>
                </a:solidFill>
              </a:rPr>
              <a:t>T3  Login page</a:t>
            </a:r>
            <a:endParaRPr lang="en-US" sz="1300" dirty="0"/>
          </a:p>
        </p:txBody>
      </p:sp>
      <p:sp>
        <p:nvSpPr>
          <p:cNvPr id="7" name="Week card"/>
          <p:cNvSpPr/>
          <p:nvPr/>
        </p:nvSpPr>
        <p:spPr>
          <a:xfrm>
            <a:off x="3353105" y="1280160"/>
            <a:ext cx="2651760" cy="3063240"/>
          </a:xfrm>
          <a:prstGeom prst="roundRect">
            <a:avLst>
              <a:gd name="adj" fmla="val 2759"/>
            </a:avLst>
          </a:prstGeom>
          <a:solidFill>
            <a:schemeClr val="bg2"/>
          </a:solidFill>
          <a:ln/>
        </p:spPr>
      </p:sp>
      <p:sp>
        <p:nvSpPr>
          <p:cNvPr id="8" name="Text 6"/>
          <p:cNvSpPr txBox="1"/>
          <p:nvPr/>
        </p:nvSpPr>
        <p:spPr>
          <a:xfrm>
            <a:off x="3535985" y="1371600"/>
            <a:ext cx="228600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Week 2</a:t>
            </a:r>
            <a:endParaRPr lang="en-US" sz="2000" dirty="0"/>
          </a:p>
        </p:txBody>
      </p:sp>
      <p:sp>
        <p:nvSpPr>
          <p:cNvPr id="9" name="Text 7"/>
          <p:cNvSpPr txBox="1"/>
          <p:nvPr/>
        </p:nvSpPr>
        <p:spPr>
          <a:xfrm>
            <a:off x="3535985" y="1755648"/>
            <a:ext cx="2286000" cy="274320"/>
          </a:xfrm>
          <a:prstGeom prst="rect">
            <a:avLst/>
          </a:prstGeom>
          <a:noFill/>
          <a:ln/>
        </p:spPr>
        <p:txBody>
          <a:bodyPr wrap="square" lIns="0" tIns="0" rIns="0" bIns="0" rtlCol="0" anchor="ctr"/>
          <a:lstStyle/>
          <a:p>
            <a:pPr indent="0" marL="0">
              <a:buNone/>
            </a:pPr>
            <a:r>
              <a:rPr lang="en-US" sz="1200" b="1" dirty="0">
                <a:solidFill>
                  <a:schemeClr val="accent1"/>
                </a:solidFill>
              </a:rPr>
              <a:t>Launch 3</a:t>
            </a:r>
            <a:endParaRPr lang="en-US" sz="1200" dirty="0"/>
          </a:p>
        </p:txBody>
      </p:sp>
      <p:sp>
        <p:nvSpPr>
          <p:cNvPr id="10" name="Text 8"/>
          <p:cNvSpPr txBox="1"/>
          <p:nvPr/>
        </p:nvSpPr>
        <p:spPr>
          <a:xfrm>
            <a:off x="3535985" y="2148840"/>
            <a:ext cx="228600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T4  Calculator</a:t>
            </a:r>
            <a:endParaRPr lang="en-US" sz="1300" dirty="0"/>
          </a:p>
          <a:p>
            <a:pPr marL="342900" indent="-342900">
              <a:spcAft>
                <a:spcPts val="800"/>
              </a:spcAft>
              <a:buSzPct val="100000"/>
              <a:buChar char="•"/>
            </a:pPr>
            <a:r>
              <a:rPr lang="en-US" sz="1300" dirty="0">
                <a:solidFill>
                  <a:schemeClr val="tx1"/>
                </a:solidFill>
              </a:rPr>
              <a:t>T5  Reassurance line</a:t>
            </a:r>
            <a:endParaRPr lang="en-US" sz="1300" dirty="0"/>
          </a:p>
          <a:p>
            <a:pPr marL="342900" indent="-342900">
              <a:spcAft>
                <a:spcPts val="800"/>
              </a:spcAft>
              <a:buSzPct val="100000"/>
              <a:buChar char="•"/>
            </a:pPr>
            <a:r>
              <a:rPr lang="en-US" sz="1300" dirty="0">
                <a:solidFill>
                  <a:schemeClr val="tx1"/>
                </a:solidFill>
              </a:rPr>
              <a:t>T6  Calculator</a:t>
            </a:r>
            <a:endParaRPr lang="en-US" sz="1300" dirty="0"/>
          </a:p>
        </p:txBody>
      </p:sp>
      <p:sp>
        <p:nvSpPr>
          <p:cNvPr id="11" name="Week card"/>
          <p:cNvSpPr/>
          <p:nvPr/>
        </p:nvSpPr>
        <p:spPr>
          <a:xfrm>
            <a:off x="6157570" y="1280160"/>
            <a:ext cx="2651760" cy="3063240"/>
          </a:xfrm>
          <a:prstGeom prst="roundRect">
            <a:avLst>
              <a:gd name="adj" fmla="val 2759"/>
            </a:avLst>
          </a:prstGeom>
          <a:solidFill>
            <a:schemeClr val="bg2"/>
          </a:solidFill>
          <a:ln/>
        </p:spPr>
      </p:sp>
      <p:sp>
        <p:nvSpPr>
          <p:cNvPr id="12" name="Text 10"/>
          <p:cNvSpPr txBox="1"/>
          <p:nvPr/>
        </p:nvSpPr>
        <p:spPr>
          <a:xfrm>
            <a:off x="6340450" y="1371600"/>
            <a:ext cx="228600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Week 3</a:t>
            </a:r>
            <a:endParaRPr lang="en-US" sz="2000" dirty="0"/>
          </a:p>
        </p:txBody>
      </p:sp>
      <p:sp>
        <p:nvSpPr>
          <p:cNvPr id="13" name="Text 11"/>
          <p:cNvSpPr txBox="1"/>
          <p:nvPr/>
        </p:nvSpPr>
        <p:spPr>
          <a:xfrm>
            <a:off x="6340450" y="1755648"/>
            <a:ext cx="2286000" cy="274320"/>
          </a:xfrm>
          <a:prstGeom prst="rect">
            <a:avLst/>
          </a:prstGeom>
          <a:noFill/>
          <a:ln/>
        </p:spPr>
        <p:txBody>
          <a:bodyPr wrap="square" lIns="0" tIns="0" rIns="0" bIns="0" rtlCol="0" anchor="ctr"/>
          <a:lstStyle/>
          <a:p>
            <a:pPr indent="0" marL="0">
              <a:buNone/>
            </a:pPr>
            <a:r>
              <a:rPr lang="en-US" sz="1200" b="1" dirty="0">
                <a:solidFill>
                  <a:schemeClr val="accent1"/>
                </a:solidFill>
              </a:rPr>
              <a:t>Launch 1 + pilots</a:t>
            </a:r>
            <a:endParaRPr lang="en-US" sz="1200" dirty="0"/>
          </a:p>
        </p:txBody>
      </p:sp>
      <p:sp>
        <p:nvSpPr>
          <p:cNvPr id="14" name="Text 12"/>
          <p:cNvSpPr txBox="1"/>
          <p:nvPr/>
        </p:nvSpPr>
        <p:spPr>
          <a:xfrm>
            <a:off x="6340450" y="2148840"/>
            <a:ext cx="228600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T7  Paid search</a:t>
            </a:r>
            <a:endParaRPr lang="en-US" sz="1300" dirty="0"/>
          </a:p>
          <a:p>
            <a:pPr marL="342900" indent="-342900">
              <a:spcAft>
                <a:spcPts val="800"/>
              </a:spcAft>
              <a:buSzPct val="100000"/>
              <a:buChar char="•"/>
            </a:pPr>
            <a:r>
              <a:rPr lang="en-US" sz="1300" dirty="0">
                <a:solidFill>
                  <a:schemeClr val="tx1"/>
                </a:solidFill>
              </a:rPr>
              <a:t>I2 and I4 messaging journeys (no site change)</a:t>
            </a:r>
            <a:endParaRPr lang="en-US" sz="1300" dirty="0"/>
          </a:p>
        </p:txBody>
      </p:sp>
      <p:sp>
        <p:nvSpPr>
          <p:cNvPr id="15" name="Week card"/>
          <p:cNvSpPr/>
          <p:nvPr/>
        </p:nvSpPr>
        <p:spPr>
          <a:xfrm>
            <a:off x="8962034" y="1280160"/>
            <a:ext cx="2651760" cy="3063240"/>
          </a:xfrm>
          <a:prstGeom prst="roundRect">
            <a:avLst>
              <a:gd name="adj" fmla="val 2759"/>
            </a:avLst>
          </a:prstGeom>
          <a:solidFill>
            <a:schemeClr val="bg2"/>
          </a:solidFill>
          <a:ln/>
        </p:spPr>
      </p:sp>
      <p:sp>
        <p:nvSpPr>
          <p:cNvPr id="16" name="Text 14"/>
          <p:cNvSpPr txBox="1"/>
          <p:nvPr/>
        </p:nvSpPr>
        <p:spPr>
          <a:xfrm>
            <a:off x="9144914" y="1371600"/>
            <a:ext cx="228600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Week 4</a:t>
            </a:r>
            <a:endParaRPr lang="en-US" sz="2000" dirty="0"/>
          </a:p>
        </p:txBody>
      </p:sp>
      <p:sp>
        <p:nvSpPr>
          <p:cNvPr id="17" name="Text 15"/>
          <p:cNvSpPr txBox="1"/>
          <p:nvPr/>
        </p:nvSpPr>
        <p:spPr>
          <a:xfrm>
            <a:off x="9144914" y="1755648"/>
            <a:ext cx="2286000" cy="274320"/>
          </a:xfrm>
          <a:prstGeom prst="rect">
            <a:avLst/>
          </a:prstGeom>
          <a:noFill/>
          <a:ln/>
        </p:spPr>
        <p:txBody>
          <a:bodyPr wrap="square" lIns="0" tIns="0" rIns="0" bIns="0" rtlCol="0" anchor="ctr"/>
          <a:lstStyle/>
          <a:p>
            <a:pPr indent="0" marL="0">
              <a:buNone/>
            </a:pPr>
            <a:r>
              <a:rPr lang="en-US" sz="1200" b="1" dirty="0">
                <a:solidFill>
                  <a:schemeClr val="accent1"/>
                </a:solidFill>
              </a:rPr>
              <a:t>Read and scale</a:t>
            </a:r>
            <a:endParaRPr lang="en-US" sz="1200" dirty="0"/>
          </a:p>
        </p:txBody>
      </p:sp>
      <p:sp>
        <p:nvSpPr>
          <p:cNvPr id="18" name="Text 16"/>
          <p:cNvSpPr txBox="1"/>
          <p:nvPr/>
        </p:nvSpPr>
        <p:spPr>
          <a:xfrm>
            <a:off x="9144914" y="2148840"/>
            <a:ext cx="228600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Read-outs for T1 to T3</a:t>
            </a:r>
            <a:endParaRPr lang="en-US" sz="1300" dirty="0"/>
          </a:p>
          <a:p>
            <a:pPr marL="342900" indent="-342900">
              <a:spcAft>
                <a:spcPts val="800"/>
              </a:spcAft>
              <a:buSzPct val="100000"/>
              <a:buChar char="•"/>
            </a:pPr>
            <a:r>
              <a:rPr lang="en-US" sz="1300" dirty="0">
                <a:solidFill>
                  <a:schemeClr val="tx1"/>
                </a:solidFill>
              </a:rPr>
              <a:t>Roll winners to other fund pages and mobile</a:t>
            </a:r>
            <a:endParaRPr lang="en-US" sz="1300" dirty="0"/>
          </a:p>
          <a:p>
            <a:pPr marL="342900" indent="-342900">
              <a:spcAft>
                <a:spcPts val="800"/>
              </a:spcAft>
              <a:buSzPct val="100000"/>
              <a:buChar char="•"/>
            </a:pPr>
            <a:r>
              <a:rPr lang="en-US" sz="1300" dirty="0">
                <a:solidFill>
                  <a:schemeClr val="tx1"/>
                </a:solidFill>
              </a:rPr>
              <a:t>Pick the next problem</a:t>
            </a:r>
            <a:endParaRPr lang="en-US" sz="1300" dirty="0"/>
          </a:p>
        </p:txBody>
      </p:sp>
      <p:sp>
        <p:nvSpPr>
          <p:cNvPr id="19" name="Text 17"/>
          <p:cNvSpPr txBox="1"/>
          <p:nvPr/>
        </p:nvSpPr>
        <p:spPr>
          <a:xfrm>
            <a:off x="548640" y="4526280"/>
            <a:ext cx="1106424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SIP is problem one. Candidates for the same cadence next, each backed by data in this review:</a:t>
            </a:r>
            <a:endParaRPr lang="en-US" sz="1600" dirty="0"/>
          </a:p>
        </p:txBody>
      </p:sp>
      <p:sp>
        <p:nvSpPr>
          <p:cNvPr id="20" name="Text 18"/>
          <p:cNvSpPr txBox="1"/>
          <p:nvPr/>
        </p:nvSpPr>
        <p:spPr>
          <a:xfrm>
            <a:off x="548640" y="4892040"/>
            <a:ext cx="1106424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Mobile-site conversion: 90% of visitors but 8% of purchase starts</a:t>
            </a:r>
            <a:endParaRPr lang="en-US" sz="1300" dirty="0"/>
          </a:p>
          <a:p>
            <a:pPr marL="342900" indent="-342900">
              <a:spcAft>
                <a:spcPts val="800"/>
              </a:spcAft>
              <a:buSzPct val="100000"/>
              <a:buChar char="•"/>
            </a:pPr>
            <a:r>
              <a:rPr lang="en-US" sz="1300" dirty="0">
                <a:solidFill>
                  <a:schemeClr val="tx1"/>
                </a:solidFill>
              </a:rPr>
              <a:t>New-folio activation: only about half make any first transaction</a:t>
            </a:r>
            <a:endParaRPr lang="en-US" sz="1300" dirty="0"/>
          </a:p>
          <a:p>
            <a:pPr marL="342900" indent="-342900">
              <a:spcAft>
                <a:spcPts val="800"/>
              </a:spcAft>
              <a:buSzPct val="100000"/>
              <a:buChar char="•"/>
            </a:pPr>
            <a:r>
              <a:rPr lang="en-US" sz="1300" dirty="0">
                <a:solidFill>
                  <a:schemeClr val="tx1"/>
                </a:solidFill>
              </a:rPr>
              <a:t>NFO and lumpsum payment failures: journeys exist, funnels do not yet</a:t>
            </a:r>
            <a:endParaRPr lang="en-US" sz="1300" dirty="0"/>
          </a:p>
          <a:p>
            <a:pPr marL="342900" indent="-342900">
              <a:spcAft>
                <a:spcPts val="800"/>
              </a:spcAft>
              <a:buSzPct val="100000"/>
              <a:buChar char="•"/>
            </a:pPr>
            <a:r>
              <a:rPr lang="en-US" sz="1300" dirty="0">
                <a:solidFill>
                  <a:schemeClr val="tx1"/>
                </a:solidFill>
              </a:rPr>
              <a:t>KYC-incomplete users: journey running with 5,325 entries</a:t>
            </a:r>
            <a:endParaRPr lang="en-US" sz="1300" dirty="0"/>
          </a:p>
        </p:txBody>
      </p:sp>
      <p:sp>
        <p:nvSpPr>
          <p:cNvPr id="21"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Cadence reflects the 1-3 day build time and the two to three tests a week committed per client. Run time assumes the traffic on the roadmap slide.</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Roadmap: seven pre-login tests, then post-login ideas</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
                <a:gridCol w="3840480"/>
                <a:gridCol w="2286000"/>
                <a:gridCol w="594360"/>
                <a:gridCol w="1005840"/>
                <a:gridCol w="914400"/>
                <a:gridCol w="19659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Run</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Expected uplift a month</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r>
              <a:tr h="50292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T1</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SIP calculator: 'Start Rs X/month SIP' button that carries the plan</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www SIP calculator (mobile first)</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 day</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7-14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+60 to 125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0292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T2</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Fund pages: 'Start SIP from Rs X' bar (mobile) and amount panel (desktop)</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Defence Index Fund first, then 7 more</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1-2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7-14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+115 to 230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0292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T3</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Login page: 'Continue your SIP' with fund and amount kept</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www login pages, then invest hand-off</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2-3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14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+150 to 290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0292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T4</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Calculator: amount chips, goal presets and step-up in one view</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www SIP and step-up calculators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2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14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+40 to 85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0292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T5</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Reassurance line: 'From Rs X. Pause or stop anytime'</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Calculator and fund pages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 day</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14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+45 to 95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0292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T6</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Calculator: 'Send me this plan' on WhatsApp or email (consented)</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www SIP calculator</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2-3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14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+55 to 160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0292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T7</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Paid search: SIP-first landing page vs fund page</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Landing page plus ad destination split</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3 days + media</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14 days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Size after baseline</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4"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Uplifts are hypotheses sized from this month's volumes; they overlap (T1, T4 and T5 share the calculator) and must not be added. Sample sizes: about 26k users per arm for the calculator, about 52k for a fund page.</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T1  Calculator button names and carries the visitor's plan</a:t>
            </a:r>
            <a:endParaRPr lang="en-US" sz="2800" dirty="0"/>
          </a:p>
        </p:txBody>
      </p:sp>
      <p:sp>
        <p:nvSpPr>
          <p:cNvPr id="3" name="Text 1"/>
          <p:cNvSpPr txBox="1"/>
          <p:nvPr/>
        </p:nvSpPr>
        <p:spPr>
          <a:xfrm>
            <a:off x="548640" y="1097280"/>
            <a:ext cx="10972800" cy="274320"/>
          </a:xfrm>
          <a:prstGeom prst="rect">
            <a:avLst/>
          </a:prstGeom>
          <a:noFill/>
          <a:ln/>
        </p:spPr>
        <p:txBody>
          <a:bodyPr wrap="square" lIns="0" tIns="0" rIns="0" bIns="0" rtlCol="0" anchor="ctr"/>
          <a:lstStyle/>
          <a:p>
            <a:pPr indent="0" marL="0">
              <a:buNone/>
            </a:pPr>
            <a:r>
              <a:rPr lang="en-US" sz="1200" b="1" dirty="0">
                <a:solidFill>
                  <a:schemeClr val="accent1"/>
                </a:solidFill>
              </a:rPr>
              <a:t>Pre-login  |  www SIP calculator (mobile first)  |  Build 1 day  |  Run 7-14 days</a:t>
            </a:r>
            <a:endParaRPr lang="en-US" sz="1200" dirty="0"/>
          </a:p>
        </p:txBody>
      </p:sp>
      <p:sp>
        <p:nvSpPr>
          <p:cNvPr id="4" name="Observation card"/>
          <p:cNvSpPr/>
          <p:nvPr/>
        </p:nvSpPr>
        <p:spPr>
          <a:xfrm>
            <a:off x="548640" y="1508760"/>
            <a:ext cx="3794760" cy="4434840"/>
          </a:xfrm>
          <a:prstGeom prst="roundRect">
            <a:avLst>
              <a:gd name="adj" fmla="val 1928"/>
            </a:avLst>
          </a:prstGeom>
          <a:solidFill>
            <a:schemeClr val="bg2"/>
          </a:solidFill>
          <a:ln/>
        </p:spPr>
      </p:sp>
      <p:sp>
        <p:nvSpPr>
          <p:cNvPr id="5" name="Text 3"/>
          <p:cNvSpPr txBox="1"/>
          <p:nvPr/>
        </p:nvSpPr>
        <p:spPr>
          <a:xfrm>
            <a:off x="731520" y="1645920"/>
            <a:ext cx="3429000" cy="416052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OBSERVATION</a:t>
            </a:r>
            <a:endParaRPr lang="en-US" sz="1200" dirty="0"/>
          </a:p>
          <a:p>
            <a:pPr indent="0" marL="0">
              <a:buNone/>
            </a:pPr>
            <a:r>
              <a:rPr lang="en-US" sz="1400" b="1" dirty="0">
                <a:solidFill>
                  <a:schemeClr val="tx2"/>
                </a:solidFill>
              </a:rPr>
              <a:t>Analytics</a:t>
            </a:r>
            <a:endParaRPr lang="en-US" sz="1200" dirty="0"/>
          </a:p>
          <a:p>
            <a:pPr indent="0" marL="0">
              <a:spcAft>
                <a:spcPts val="800"/>
              </a:spcAft>
              <a:buNone/>
            </a:pPr>
            <a:r>
              <a:rPr lang="en-US" sz="1400" dirty="0">
                <a:solidFill>
                  <a:schemeClr val="tx1"/>
                </a:solidFill>
              </a:rPr>
              <a:t>The SIP calculator is our top page: 350k views and 267,573 users in 30 days, 99.2% from paid search and 91% on mobile. Only 2.7% reach a login page. On mobile the page already has a sticky 'Start SIP' bar.</a:t>
            </a:r>
            <a:endParaRPr lang="en-US" sz="1200" dirty="0"/>
          </a:p>
          <a:p>
            <a:pPr indent="0" marL="0">
              <a:buNone/>
            </a:pPr>
            <a:r>
              <a:rPr lang="en-US" sz="1400" b="1" dirty="0">
                <a:solidFill>
                  <a:schemeClr val="tx2"/>
                </a:solidFill>
              </a:rPr>
              <a:t>Competitors</a:t>
            </a:r>
            <a:endParaRPr lang="en-US" sz="1200" dirty="0"/>
          </a:p>
          <a:p>
            <a:pPr indent="0" marL="0">
              <a:buNone/>
            </a:pPr>
            <a:r>
              <a:rPr lang="en-US" sz="1400" dirty="0">
                <a:solidFill>
                  <a:schemeClr val="tx1"/>
                </a:solidFill>
              </a:rPr>
              <a:t>ICICI, Axis and SBI close the calculator under the plan ('Start Investing', 'Invest Now', PAN + 'Start Now'). Ours has a sticky 'Start SIP' on mobile; whether it carries the plan is unconfirmed.</a:t>
            </a:r>
            <a:endParaRPr lang="en-US" sz="1200" dirty="0"/>
          </a:p>
        </p:txBody>
      </p:sp>
      <p:sp>
        <p:nvSpPr>
          <p:cNvPr id="6" name="Text 4"/>
          <p:cNvSpPr txBox="1"/>
          <p:nvPr/>
        </p:nvSpPr>
        <p:spPr>
          <a:xfrm>
            <a:off x="4526280" y="1554480"/>
            <a:ext cx="3611880" cy="434340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HYPOTHESIS</a:t>
            </a:r>
            <a:endParaRPr lang="en-US" sz="1200" dirty="0"/>
          </a:p>
          <a:p>
            <a:pPr indent="0" marL="0">
              <a:spcAft>
                <a:spcPts val="1000"/>
              </a:spcAft>
              <a:buNone/>
            </a:pPr>
            <a:r>
              <a:rPr lang="en-US" sz="1400" dirty="0">
                <a:solidFill>
                  <a:schemeClr val="tx1"/>
                </a:solidFill>
              </a:rPr>
              <a:t>If the sticky button names the plan the visitor just built ('Start Rs 10,000/month SIP') and carries amount, tenure and fund into the invest flow, more visitors will act, because the plan becomes step one of purchase.</a:t>
            </a:r>
            <a:endParaRPr lang="en-US" sz="1200" dirty="0"/>
          </a:p>
          <a:p>
            <a:pPr indent="0" marL="0">
              <a:spcAft>
                <a:spcPts val="400"/>
              </a:spcAft>
              <a:buNone/>
            </a:pPr>
            <a:r>
              <a:rPr lang="en-US" sz="1200" b="1" dirty="0">
                <a:solidFill>
                  <a:schemeClr val="accent1"/>
                </a:solidFill>
              </a:rPr>
              <a:t>TEST</a:t>
            </a:r>
            <a:endParaRPr lang="en-US" sz="1200" dirty="0"/>
          </a:p>
          <a:p>
            <a:pPr indent="0" marL="0">
              <a:buNone/>
            </a:pPr>
            <a:r>
              <a:rPr lang="en-US" sz="1400" dirty="0">
                <a:solidFill>
                  <a:schemeClr val="tx1"/>
                </a:solidFill>
              </a:rPr>
              <a:t>Control: sticky 'Start SIP'. Variant: 'Start Rs X/month SIP' with the plan carried through; on desktop a button under the result. Primary: calculator to login or invest click. Guardrail: calculator use per session.</a:t>
            </a:r>
            <a:endParaRPr lang="en-US" sz="1200" dirty="0"/>
          </a:p>
        </p:txBody>
      </p:sp>
      <p:sp>
        <p:nvSpPr>
          <p:cNvPr id="7" name="Uplift card"/>
          <p:cNvSpPr/>
          <p:nvPr/>
        </p:nvSpPr>
        <p:spPr>
          <a:xfrm>
            <a:off x="8321040" y="1508760"/>
            <a:ext cx="3154680" cy="1783080"/>
          </a:xfrm>
          <a:prstGeom prst="roundRect">
            <a:avLst>
              <a:gd name="adj" fmla="val 4103"/>
            </a:avLst>
          </a:prstGeom>
          <a:solidFill>
            <a:schemeClr val="tx2"/>
          </a:solidFill>
          <a:ln/>
        </p:spPr>
      </p:sp>
      <p:sp>
        <p:nvSpPr>
          <p:cNvPr id="8" name="Text 6"/>
          <p:cNvSpPr txBox="1"/>
          <p:nvPr/>
        </p:nvSpPr>
        <p:spPr>
          <a:xfrm>
            <a:off x="8503920" y="1618488"/>
            <a:ext cx="2788920" cy="274320"/>
          </a:xfrm>
          <a:prstGeom prst="rect">
            <a:avLst/>
          </a:prstGeom>
          <a:noFill/>
          <a:ln/>
        </p:spPr>
        <p:txBody>
          <a:bodyPr wrap="square" lIns="0" tIns="0" rIns="0" bIns="0" rtlCol="0" anchor="ctr"/>
          <a:lstStyle/>
          <a:p>
            <a:pPr indent="0" marL="0">
              <a:buNone/>
            </a:pPr>
            <a:r>
              <a:rPr lang="en-US" sz="1200" b="1" dirty="0">
                <a:solidFill>
                  <a:schemeClr val="bg2"/>
                </a:solidFill>
              </a:rPr>
              <a:t>EXPECTED UPLIFT</a:t>
            </a:r>
            <a:endParaRPr lang="en-US" sz="1200" dirty="0"/>
          </a:p>
        </p:txBody>
      </p:sp>
      <p:sp>
        <p:nvSpPr>
          <p:cNvPr id="9" name="Text 7"/>
          <p:cNvSpPr txBox="1"/>
          <p:nvPr/>
        </p:nvSpPr>
        <p:spPr>
          <a:xfrm>
            <a:off x="8503920" y="1892808"/>
            <a:ext cx="2788920" cy="59436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+15-30%</a:t>
            </a:r>
            <a:endParaRPr lang="en-US" sz="2800" dirty="0"/>
          </a:p>
        </p:txBody>
      </p:sp>
      <p:sp>
        <p:nvSpPr>
          <p:cNvPr id="10" name="Text 8"/>
          <p:cNvSpPr txBox="1"/>
          <p:nvPr/>
        </p:nvSpPr>
        <p:spPr>
          <a:xfrm>
            <a:off x="8503920" y="2514600"/>
            <a:ext cx="2788920" cy="731520"/>
          </a:xfrm>
          <a:prstGeom prst="rect">
            <a:avLst/>
          </a:prstGeom>
          <a:noFill/>
          <a:ln/>
        </p:spPr>
        <p:txBody>
          <a:bodyPr wrap="square" lIns="0" tIns="0" rIns="0" bIns="0" rtlCol="0" anchor="t"/>
          <a:lstStyle/>
          <a:p>
            <a:pPr indent="0" marL="0">
              <a:buNone/>
            </a:pPr>
            <a:r>
              <a:rPr lang="en-US" sz="1200" dirty="0">
                <a:solidFill>
                  <a:schemeClr val="bg2"/>
                </a:solidFill>
              </a:rPr>
              <a:t>relative lift in calculator to login (2.7% to 3.1-3.5%): about +1,100-2,200 login visits, +60-125 SIPs a month</a:t>
            </a:r>
            <a:endParaRPr lang="en-US" sz="1200" dirty="0"/>
          </a:p>
        </p:txBody>
      </p:sp>
      <p:sp>
        <p:nvSpPr>
          <p:cNvPr id="11" name="Mock placeholder"/>
          <p:cNvSpPr/>
          <p:nvPr/>
        </p:nvSpPr>
        <p:spPr>
          <a:xfrm>
            <a:off x="8321040" y="3474720"/>
            <a:ext cx="3154680" cy="2468880"/>
          </a:xfrm>
          <a:prstGeom prst="roundRect">
            <a:avLst>
              <a:gd name="adj" fmla="val 2963"/>
            </a:avLst>
          </a:prstGeom>
          <a:solidFill>
            <a:srgbClr val="FFFFFF"/>
          </a:solidFill>
          <a:ln w="12700">
            <a:solidFill>
              <a:schemeClr val="accent5"/>
            </a:solidFill>
            <a:prstDash val="dash"/>
          </a:ln>
        </p:spPr>
      </p:sp>
      <p:sp>
        <p:nvSpPr>
          <p:cNvPr id="12" name="Text 10"/>
          <p:cNvSpPr txBox="1"/>
          <p:nvPr/>
        </p:nvSpPr>
        <p:spPr>
          <a:xfrm>
            <a:off x="8321040" y="3474720"/>
            <a:ext cx="3154680" cy="2468880"/>
          </a:xfrm>
          <a:prstGeom prst="rect">
            <a:avLst/>
          </a:prstGeom>
          <a:noFill/>
          <a:ln/>
        </p:spPr>
        <p:txBody>
          <a:bodyPr wrap="square" lIns="0" tIns="0" rIns="0" bIns="0" rtlCol="0" anchor="ctr"/>
          <a:lstStyle/>
          <a:p>
            <a:pPr algn="ctr" indent="0" marL="0">
              <a:buNone/>
            </a:pPr>
            <a:r>
              <a:rPr lang="en-US" sz="1400" dirty="0">
                <a:solidFill>
                  <a:schemeClr val="accent5"/>
                </a:solidFill>
              </a:rPr>
              <a:t>Mock to add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T2  'Start SIP from Rs X' and an amount on fund pages</a:t>
            </a:r>
            <a:endParaRPr lang="en-US" sz="2800" dirty="0"/>
          </a:p>
        </p:txBody>
      </p:sp>
      <p:sp>
        <p:nvSpPr>
          <p:cNvPr id="3" name="Text 1"/>
          <p:cNvSpPr txBox="1"/>
          <p:nvPr/>
        </p:nvSpPr>
        <p:spPr>
          <a:xfrm>
            <a:off x="548640" y="1097280"/>
            <a:ext cx="10972800" cy="274320"/>
          </a:xfrm>
          <a:prstGeom prst="rect">
            <a:avLst/>
          </a:prstGeom>
          <a:noFill/>
          <a:ln/>
        </p:spPr>
        <p:txBody>
          <a:bodyPr wrap="square" lIns="0" tIns="0" rIns="0" bIns="0" rtlCol="0" anchor="ctr"/>
          <a:lstStyle/>
          <a:p>
            <a:pPr indent="0" marL="0">
              <a:buNone/>
            </a:pPr>
            <a:r>
              <a:rPr lang="en-US" sz="1200" b="1" dirty="0">
                <a:solidFill>
                  <a:schemeClr val="accent1"/>
                </a:solidFill>
              </a:rPr>
              <a:t>Pre-login  |  Defence Index Fund first, then 7 more  |  Build 1-2 days  |  Run 7-14 days</a:t>
            </a:r>
            <a:endParaRPr lang="en-US" sz="1200" dirty="0"/>
          </a:p>
        </p:txBody>
      </p:sp>
      <p:sp>
        <p:nvSpPr>
          <p:cNvPr id="4" name="Observation card"/>
          <p:cNvSpPr/>
          <p:nvPr/>
        </p:nvSpPr>
        <p:spPr>
          <a:xfrm>
            <a:off x="548640" y="1508760"/>
            <a:ext cx="3794760" cy="4434840"/>
          </a:xfrm>
          <a:prstGeom prst="roundRect">
            <a:avLst>
              <a:gd name="adj" fmla="val 1928"/>
            </a:avLst>
          </a:prstGeom>
          <a:solidFill>
            <a:schemeClr val="bg2"/>
          </a:solidFill>
          <a:ln/>
        </p:spPr>
      </p:sp>
      <p:sp>
        <p:nvSpPr>
          <p:cNvPr id="5" name="Text 3"/>
          <p:cNvSpPr txBox="1"/>
          <p:nvPr/>
        </p:nvSpPr>
        <p:spPr>
          <a:xfrm>
            <a:off x="731520" y="1645920"/>
            <a:ext cx="3429000" cy="416052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OBSERVATION</a:t>
            </a:r>
            <a:endParaRPr lang="en-US" sz="1200" dirty="0"/>
          </a:p>
          <a:p>
            <a:pPr indent="0" marL="0">
              <a:buNone/>
            </a:pPr>
            <a:r>
              <a:rPr lang="en-US" sz="1400" b="1" dirty="0">
                <a:solidFill>
                  <a:schemeClr val="tx2"/>
                </a:solidFill>
              </a:rPr>
              <a:t>Analytics</a:t>
            </a:r>
            <a:endParaRPr lang="en-US" sz="1200" dirty="0"/>
          </a:p>
          <a:p>
            <a:pPr indent="0" marL="0">
              <a:spcAft>
                <a:spcPts val="800"/>
              </a:spcAft>
              <a:buNone/>
            </a:pPr>
            <a:r>
              <a:rPr lang="en-US" sz="1400" dirty="0">
                <a:solidFill>
                  <a:schemeClr val="tx1"/>
                </a:solidFill>
              </a:rPr>
              <a:t>Eight fund pages draw 130k-318k views each (Special Opportunities 318k, Defence Index 284k). Only 1.4% of 1.46M fund-page users reach a login page.</a:t>
            </a:r>
            <a:endParaRPr lang="en-US" sz="1200" dirty="0"/>
          </a:p>
          <a:p>
            <a:pPr indent="0" marL="0">
              <a:buNone/>
            </a:pPr>
            <a:r>
              <a:rPr lang="en-US" sz="1400" b="1" dirty="0">
                <a:solidFill>
                  <a:schemeClr val="tx2"/>
                </a:solidFill>
              </a:rPr>
              <a:t>Competitors</a:t>
            </a:r>
            <a:endParaRPr lang="en-US" sz="1200" dirty="0"/>
          </a:p>
          <a:p>
            <a:pPr indent="0" marL="0">
              <a:buNone/>
            </a:pPr>
            <a:r>
              <a:rPr lang="en-US" sz="1400" dirty="0">
                <a:solidFill>
                  <a:schemeClr val="tx1"/>
                </a:solidFill>
              </a:rPr>
              <a:t>On desktop Axis, ABSL and ICICI show an amount panel (ICICI min Rs 100, ABSL Rs 500). On mobile all peers lead with 'Invest Now', as do we, plus our '6.5L have invested' proof.</a:t>
            </a:r>
            <a:endParaRPr lang="en-US" sz="1200" dirty="0"/>
          </a:p>
        </p:txBody>
      </p:sp>
      <p:sp>
        <p:nvSpPr>
          <p:cNvPr id="6" name="Text 4"/>
          <p:cNvSpPr txBox="1"/>
          <p:nvPr/>
        </p:nvSpPr>
        <p:spPr>
          <a:xfrm>
            <a:off x="4526280" y="1554480"/>
            <a:ext cx="3611880" cy="434340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HYPOTHESIS</a:t>
            </a:r>
            <a:endParaRPr lang="en-US" sz="1200" dirty="0"/>
          </a:p>
          <a:p>
            <a:pPr indent="0" marL="0">
              <a:spcAft>
                <a:spcPts val="1000"/>
              </a:spcAft>
              <a:buNone/>
            </a:pPr>
            <a:r>
              <a:rPr lang="en-US" sz="1400" dirty="0">
                <a:solidFill>
                  <a:schemeClr val="tx1"/>
                </a:solidFill>
              </a:rPr>
              <a:t>Showing a SIP amount and the minimum next to the button lowers the commitment barrier and shortens the path from reading to starting. Mobile is 91% of traffic, so the mobile button copy matters most.</a:t>
            </a:r>
            <a:endParaRPr lang="en-US" sz="1200" dirty="0"/>
          </a:p>
          <a:p>
            <a:pPr indent="0" marL="0">
              <a:spcAft>
                <a:spcPts val="400"/>
              </a:spcAft>
              <a:buNone/>
            </a:pPr>
            <a:r>
              <a:rPr lang="en-US" sz="1200" b="1" dirty="0">
                <a:solidFill>
                  <a:schemeClr val="accent1"/>
                </a:solidFill>
              </a:rPr>
              <a:t>TEST</a:t>
            </a:r>
            <a:endParaRPr lang="en-US" sz="1200" dirty="0"/>
          </a:p>
          <a:p>
            <a:pPr indent="0" marL="0">
              <a:buNone/>
            </a:pPr>
            <a:r>
              <a:rPr lang="en-US" sz="1400" dirty="0">
                <a:solidFill>
                  <a:schemeClr val="tx1"/>
                </a:solidFill>
              </a:rPr>
              <a:t>Control: 'Invest Now'. Variant A (mobile): 'Start SIP from Rs [min]' bar opening amount chips. Variant B (desktop): SIP-first amount panel with minimum and debit date. Primary: fund page to login click.</a:t>
            </a:r>
            <a:endParaRPr lang="en-US" sz="1200" dirty="0"/>
          </a:p>
        </p:txBody>
      </p:sp>
      <p:sp>
        <p:nvSpPr>
          <p:cNvPr id="7" name="Uplift card"/>
          <p:cNvSpPr/>
          <p:nvPr/>
        </p:nvSpPr>
        <p:spPr>
          <a:xfrm>
            <a:off x="8321040" y="1508760"/>
            <a:ext cx="3154680" cy="1783080"/>
          </a:xfrm>
          <a:prstGeom prst="roundRect">
            <a:avLst>
              <a:gd name="adj" fmla="val 4103"/>
            </a:avLst>
          </a:prstGeom>
          <a:solidFill>
            <a:schemeClr val="tx2"/>
          </a:solidFill>
          <a:ln/>
        </p:spPr>
      </p:sp>
      <p:sp>
        <p:nvSpPr>
          <p:cNvPr id="8" name="Text 6"/>
          <p:cNvSpPr txBox="1"/>
          <p:nvPr/>
        </p:nvSpPr>
        <p:spPr>
          <a:xfrm>
            <a:off x="8503920" y="1618488"/>
            <a:ext cx="2788920" cy="274320"/>
          </a:xfrm>
          <a:prstGeom prst="rect">
            <a:avLst/>
          </a:prstGeom>
          <a:noFill/>
          <a:ln/>
        </p:spPr>
        <p:txBody>
          <a:bodyPr wrap="square" lIns="0" tIns="0" rIns="0" bIns="0" rtlCol="0" anchor="ctr"/>
          <a:lstStyle/>
          <a:p>
            <a:pPr indent="0" marL="0">
              <a:buNone/>
            </a:pPr>
            <a:r>
              <a:rPr lang="en-US" sz="1200" b="1" dirty="0">
                <a:solidFill>
                  <a:schemeClr val="bg2"/>
                </a:solidFill>
              </a:rPr>
              <a:t>EXPECTED UPLIFT</a:t>
            </a:r>
            <a:endParaRPr lang="en-US" sz="1200" dirty="0"/>
          </a:p>
        </p:txBody>
      </p:sp>
      <p:sp>
        <p:nvSpPr>
          <p:cNvPr id="9" name="Text 7"/>
          <p:cNvSpPr txBox="1"/>
          <p:nvPr/>
        </p:nvSpPr>
        <p:spPr>
          <a:xfrm>
            <a:off x="8503920" y="1892808"/>
            <a:ext cx="2788920" cy="59436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+10-20%</a:t>
            </a:r>
            <a:endParaRPr lang="en-US" sz="2800" dirty="0"/>
          </a:p>
        </p:txBody>
      </p:sp>
      <p:sp>
        <p:nvSpPr>
          <p:cNvPr id="10" name="Text 8"/>
          <p:cNvSpPr txBox="1"/>
          <p:nvPr/>
        </p:nvSpPr>
        <p:spPr>
          <a:xfrm>
            <a:off x="8503920" y="2514600"/>
            <a:ext cx="2788920" cy="731520"/>
          </a:xfrm>
          <a:prstGeom prst="rect">
            <a:avLst/>
          </a:prstGeom>
          <a:noFill/>
          <a:ln/>
        </p:spPr>
        <p:txBody>
          <a:bodyPr wrap="square" lIns="0" tIns="0" rIns="0" bIns="0" rtlCol="0" anchor="t"/>
          <a:lstStyle/>
          <a:p>
            <a:pPr indent="0" marL="0">
              <a:buNone/>
            </a:pPr>
            <a:r>
              <a:rPr lang="en-US" sz="1200" dirty="0">
                <a:solidFill>
                  <a:schemeClr val="bg2"/>
                </a:solidFill>
              </a:rPr>
              <a:t>relative lift in fund page to login (1.4% to 1.5-1.6%): about +2,000-4,000 login visits, +115-230 SIPs a month across 8 pages</a:t>
            </a:r>
            <a:endParaRPr lang="en-US" sz="1200" dirty="0"/>
          </a:p>
        </p:txBody>
      </p:sp>
      <p:sp>
        <p:nvSpPr>
          <p:cNvPr id="11" name="Mock placeholder"/>
          <p:cNvSpPr/>
          <p:nvPr/>
        </p:nvSpPr>
        <p:spPr>
          <a:xfrm>
            <a:off x="8321040" y="3474720"/>
            <a:ext cx="3154680" cy="2468880"/>
          </a:xfrm>
          <a:prstGeom prst="roundRect">
            <a:avLst>
              <a:gd name="adj" fmla="val 2963"/>
            </a:avLst>
          </a:prstGeom>
          <a:solidFill>
            <a:srgbClr val="FFFFFF"/>
          </a:solidFill>
          <a:ln w="12700">
            <a:solidFill>
              <a:schemeClr val="accent5"/>
            </a:solidFill>
            <a:prstDash val="dash"/>
          </a:ln>
        </p:spPr>
      </p:sp>
      <p:sp>
        <p:nvSpPr>
          <p:cNvPr id="12" name="Text 10"/>
          <p:cNvSpPr txBox="1"/>
          <p:nvPr/>
        </p:nvSpPr>
        <p:spPr>
          <a:xfrm>
            <a:off x="8321040" y="3474720"/>
            <a:ext cx="3154680" cy="2468880"/>
          </a:xfrm>
          <a:prstGeom prst="rect">
            <a:avLst/>
          </a:prstGeom>
          <a:noFill/>
          <a:ln/>
        </p:spPr>
        <p:txBody>
          <a:bodyPr wrap="square" lIns="0" tIns="0" rIns="0" bIns="0" rtlCol="0" anchor="ctr"/>
          <a:lstStyle/>
          <a:p>
            <a:pPr algn="ctr" indent="0" marL="0">
              <a:buNone/>
            </a:pPr>
            <a:r>
              <a:rPr lang="en-US" sz="1400" dirty="0">
                <a:solidFill>
                  <a:schemeClr val="accent5"/>
                </a:solidFill>
              </a:rPr>
              <a:t>Mock to add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T3  Login page remembers the SIP the visitor wanted</a:t>
            </a:r>
            <a:endParaRPr lang="en-US" sz="2800" dirty="0"/>
          </a:p>
        </p:txBody>
      </p:sp>
      <p:sp>
        <p:nvSpPr>
          <p:cNvPr id="3" name="Text 1"/>
          <p:cNvSpPr txBox="1"/>
          <p:nvPr/>
        </p:nvSpPr>
        <p:spPr>
          <a:xfrm>
            <a:off x="548640" y="1097280"/>
            <a:ext cx="10972800" cy="274320"/>
          </a:xfrm>
          <a:prstGeom prst="rect">
            <a:avLst/>
          </a:prstGeom>
          <a:noFill/>
          <a:ln/>
        </p:spPr>
        <p:txBody>
          <a:bodyPr wrap="square" lIns="0" tIns="0" rIns="0" bIns="0" rtlCol="0" anchor="ctr"/>
          <a:lstStyle/>
          <a:p>
            <a:pPr indent="0" marL="0">
              <a:buNone/>
            </a:pPr>
            <a:r>
              <a:rPr lang="en-US" sz="1200" b="1" dirty="0">
                <a:solidFill>
                  <a:schemeClr val="accent1"/>
                </a:solidFill>
              </a:rPr>
              <a:t>Pre-login  |  www login pages, then invest hand-off  |  Build 2-3 days  |  Run 14 days</a:t>
            </a:r>
            <a:endParaRPr lang="en-US" sz="1200" dirty="0"/>
          </a:p>
        </p:txBody>
      </p:sp>
      <p:sp>
        <p:nvSpPr>
          <p:cNvPr id="4" name="Observation card"/>
          <p:cNvSpPr/>
          <p:nvPr/>
        </p:nvSpPr>
        <p:spPr>
          <a:xfrm>
            <a:off x="548640" y="1508760"/>
            <a:ext cx="3794760" cy="4434840"/>
          </a:xfrm>
          <a:prstGeom prst="roundRect">
            <a:avLst>
              <a:gd name="adj" fmla="val 1928"/>
            </a:avLst>
          </a:prstGeom>
          <a:solidFill>
            <a:schemeClr val="bg2"/>
          </a:solidFill>
          <a:ln/>
        </p:spPr>
      </p:sp>
      <p:sp>
        <p:nvSpPr>
          <p:cNvPr id="5" name="Text 3"/>
          <p:cNvSpPr txBox="1"/>
          <p:nvPr/>
        </p:nvSpPr>
        <p:spPr>
          <a:xfrm>
            <a:off x="731520" y="1645920"/>
            <a:ext cx="3429000" cy="416052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OBSERVATION</a:t>
            </a:r>
            <a:endParaRPr lang="en-US" sz="1200" dirty="0"/>
          </a:p>
          <a:p>
            <a:pPr indent="0" marL="0">
              <a:buNone/>
            </a:pPr>
            <a:r>
              <a:rPr lang="en-US" sz="1400" b="1" dirty="0">
                <a:solidFill>
                  <a:schemeClr val="tx2"/>
                </a:solidFill>
              </a:rPr>
              <a:t>Analytics</a:t>
            </a:r>
            <a:endParaRPr lang="en-US" sz="1200" dirty="0"/>
          </a:p>
          <a:p>
            <a:pPr indent="0" marL="0">
              <a:spcAft>
                <a:spcPts val="800"/>
              </a:spcAft>
              <a:buNone/>
            </a:pPr>
            <a:r>
              <a:rPr lang="en-US" sz="1400" dirty="0">
                <a:solidFill>
                  <a:schemeClr val="tx1"/>
                </a:solidFill>
              </a:rPr>
              <a:t>Login pages draw 117k + 62k views and 84k SSO views. Of users reaching login from fund pages, 7.8% (1,539 of 19,819) reach the SIP step.</a:t>
            </a:r>
            <a:endParaRPr lang="en-US" sz="1200" dirty="0"/>
          </a:p>
          <a:p>
            <a:pPr indent="0" marL="0">
              <a:buNone/>
            </a:pPr>
            <a:r>
              <a:rPr lang="en-US" sz="1400" b="1" dirty="0">
                <a:solidFill>
                  <a:schemeClr val="tx2"/>
                </a:solidFill>
              </a:rPr>
              <a:t>Competitors</a:t>
            </a:r>
            <a:endParaRPr lang="en-US" sz="1200" dirty="0"/>
          </a:p>
          <a:p>
            <a:pPr indent="0" marL="0">
              <a:buNone/>
            </a:pPr>
            <a:r>
              <a:rPr lang="en-US" sz="1400" dirty="0">
                <a:solidFill>
                  <a:schemeClr val="tx1"/>
                </a:solidFill>
              </a:rPr>
              <a:t>Axis and ICICI collect the SIP amount on the public fund page, so the plan exists before sign-in. ABSL offers one-click UPI AutoPay for SIPs.</a:t>
            </a:r>
            <a:endParaRPr lang="en-US" sz="1200" dirty="0"/>
          </a:p>
        </p:txBody>
      </p:sp>
      <p:sp>
        <p:nvSpPr>
          <p:cNvPr id="6" name="Text 4"/>
          <p:cNvSpPr txBox="1"/>
          <p:nvPr/>
        </p:nvSpPr>
        <p:spPr>
          <a:xfrm>
            <a:off x="4526280" y="1554480"/>
            <a:ext cx="3611880" cy="434340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HYPOTHESIS</a:t>
            </a:r>
            <a:endParaRPr lang="en-US" sz="1200" dirty="0"/>
          </a:p>
          <a:p>
            <a:pPr indent="0" marL="0">
              <a:spcAft>
                <a:spcPts val="1000"/>
              </a:spcAft>
              <a:buNone/>
            </a:pPr>
            <a:r>
              <a:rPr lang="en-US" sz="1400" dirty="0">
                <a:solidFill>
                  <a:schemeClr val="tx1"/>
                </a:solidFill>
              </a:rPr>
              <a:t>Showing the fund and amount the visitor chose on the login page, and returning them to that step after sign-in, cuts the drop between login and the SIP step.</a:t>
            </a:r>
            <a:endParaRPr lang="en-US" sz="1200" dirty="0"/>
          </a:p>
          <a:p>
            <a:pPr indent="0" marL="0">
              <a:spcAft>
                <a:spcPts val="400"/>
              </a:spcAft>
              <a:buNone/>
            </a:pPr>
            <a:r>
              <a:rPr lang="en-US" sz="1200" b="1" dirty="0">
                <a:solidFill>
                  <a:schemeClr val="accent1"/>
                </a:solidFill>
              </a:rPr>
              <a:t>TEST</a:t>
            </a:r>
            <a:endParaRPr lang="en-US" sz="1200" dirty="0"/>
          </a:p>
          <a:p>
            <a:pPr indent="0" marL="0">
              <a:buNone/>
            </a:pPr>
            <a:r>
              <a:rPr lang="en-US" sz="1400" dirty="0">
                <a:solidFill>
                  <a:schemeClr val="tx1"/>
                </a:solidFill>
              </a:rPr>
              <a:t>Control: generic login. Variant: banner 'Continue your Rs X SIP in [fund]' and a deep link to the prefilled SIP step. Primary: login to SIP step. The banner is a www change; the deep link needs the invest team.</a:t>
            </a:r>
            <a:endParaRPr lang="en-US" sz="1200" dirty="0"/>
          </a:p>
        </p:txBody>
      </p:sp>
      <p:sp>
        <p:nvSpPr>
          <p:cNvPr id="7" name="Uplift card"/>
          <p:cNvSpPr/>
          <p:nvPr/>
        </p:nvSpPr>
        <p:spPr>
          <a:xfrm>
            <a:off x="8321040" y="1508760"/>
            <a:ext cx="3154680" cy="1783080"/>
          </a:xfrm>
          <a:prstGeom prst="roundRect">
            <a:avLst>
              <a:gd name="adj" fmla="val 4103"/>
            </a:avLst>
          </a:prstGeom>
          <a:solidFill>
            <a:schemeClr val="tx2"/>
          </a:solidFill>
          <a:ln/>
        </p:spPr>
      </p:sp>
      <p:sp>
        <p:nvSpPr>
          <p:cNvPr id="8" name="Text 6"/>
          <p:cNvSpPr txBox="1"/>
          <p:nvPr/>
        </p:nvSpPr>
        <p:spPr>
          <a:xfrm>
            <a:off x="8503920" y="1618488"/>
            <a:ext cx="2788920" cy="274320"/>
          </a:xfrm>
          <a:prstGeom prst="rect">
            <a:avLst/>
          </a:prstGeom>
          <a:noFill/>
          <a:ln/>
        </p:spPr>
        <p:txBody>
          <a:bodyPr wrap="square" lIns="0" tIns="0" rIns="0" bIns="0" rtlCol="0" anchor="ctr"/>
          <a:lstStyle/>
          <a:p>
            <a:pPr indent="0" marL="0">
              <a:buNone/>
            </a:pPr>
            <a:r>
              <a:rPr lang="en-US" sz="1200" b="1" dirty="0">
                <a:solidFill>
                  <a:schemeClr val="bg2"/>
                </a:solidFill>
              </a:rPr>
              <a:t>EXPECTED UPLIFT</a:t>
            </a:r>
            <a:endParaRPr lang="en-US" sz="1200" dirty="0"/>
          </a:p>
        </p:txBody>
      </p:sp>
      <p:sp>
        <p:nvSpPr>
          <p:cNvPr id="9" name="Text 7"/>
          <p:cNvSpPr txBox="1"/>
          <p:nvPr/>
        </p:nvSpPr>
        <p:spPr>
          <a:xfrm>
            <a:off x="8503920" y="1892808"/>
            <a:ext cx="2788920" cy="59436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+1-2 pts</a:t>
            </a:r>
            <a:endParaRPr lang="en-US" sz="2800" dirty="0"/>
          </a:p>
        </p:txBody>
      </p:sp>
      <p:sp>
        <p:nvSpPr>
          <p:cNvPr id="10" name="Text 8"/>
          <p:cNvSpPr txBox="1"/>
          <p:nvPr/>
        </p:nvSpPr>
        <p:spPr>
          <a:xfrm>
            <a:off x="8503920" y="2514600"/>
            <a:ext cx="2788920" cy="731520"/>
          </a:xfrm>
          <a:prstGeom prst="rect">
            <a:avLst/>
          </a:prstGeom>
          <a:noFill/>
          <a:ln/>
        </p:spPr>
        <p:txBody>
          <a:bodyPr wrap="square" lIns="0" tIns="0" rIns="0" bIns="0" rtlCol="0" anchor="t"/>
          <a:lstStyle/>
          <a:p>
            <a:pPr indent="0" marL="0">
              <a:buNone/>
            </a:pPr>
            <a:r>
              <a:rPr lang="en-US" sz="1200" dirty="0">
                <a:solidFill>
                  <a:schemeClr val="bg2"/>
                </a:solidFill>
              </a:rPr>
              <a:t>on login to SIP step (7.8% to 8.8-9.8%), with the deep link live: about +150-290 SIPs a month</a:t>
            </a:r>
            <a:endParaRPr lang="en-US" sz="1200" dirty="0"/>
          </a:p>
        </p:txBody>
      </p:sp>
      <p:sp>
        <p:nvSpPr>
          <p:cNvPr id="11" name="Mock placeholder"/>
          <p:cNvSpPr/>
          <p:nvPr/>
        </p:nvSpPr>
        <p:spPr>
          <a:xfrm>
            <a:off x="8321040" y="3474720"/>
            <a:ext cx="3154680" cy="2468880"/>
          </a:xfrm>
          <a:prstGeom prst="roundRect">
            <a:avLst>
              <a:gd name="adj" fmla="val 2963"/>
            </a:avLst>
          </a:prstGeom>
          <a:solidFill>
            <a:srgbClr val="FFFFFF"/>
          </a:solidFill>
          <a:ln w="12700">
            <a:solidFill>
              <a:schemeClr val="accent5"/>
            </a:solidFill>
            <a:prstDash val="dash"/>
          </a:ln>
        </p:spPr>
      </p:sp>
      <p:sp>
        <p:nvSpPr>
          <p:cNvPr id="12" name="Text 10"/>
          <p:cNvSpPr txBox="1"/>
          <p:nvPr/>
        </p:nvSpPr>
        <p:spPr>
          <a:xfrm>
            <a:off x="8321040" y="3474720"/>
            <a:ext cx="3154680" cy="2468880"/>
          </a:xfrm>
          <a:prstGeom prst="rect">
            <a:avLst/>
          </a:prstGeom>
          <a:noFill/>
          <a:ln/>
        </p:spPr>
        <p:txBody>
          <a:bodyPr wrap="square" lIns="0" tIns="0" rIns="0" bIns="0" rtlCol="0" anchor="ctr"/>
          <a:lstStyle/>
          <a:p>
            <a:pPr algn="ctr" indent="0" marL="0">
              <a:buNone/>
            </a:pPr>
            <a:r>
              <a:rPr lang="en-US" sz="1400" dirty="0">
                <a:solidFill>
                  <a:schemeClr val="accent5"/>
                </a:solidFill>
              </a:rPr>
              <a:t>Mock to add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T4  Calculator: presets, goals and step-up in one view</a:t>
            </a:r>
            <a:endParaRPr lang="en-US" sz="2800" dirty="0"/>
          </a:p>
        </p:txBody>
      </p:sp>
      <p:sp>
        <p:nvSpPr>
          <p:cNvPr id="3" name="Text 1"/>
          <p:cNvSpPr txBox="1"/>
          <p:nvPr/>
        </p:nvSpPr>
        <p:spPr>
          <a:xfrm>
            <a:off x="548640" y="1097280"/>
            <a:ext cx="10972800" cy="274320"/>
          </a:xfrm>
          <a:prstGeom prst="rect">
            <a:avLst/>
          </a:prstGeom>
          <a:noFill/>
          <a:ln/>
        </p:spPr>
        <p:txBody>
          <a:bodyPr wrap="square" lIns="0" tIns="0" rIns="0" bIns="0" rtlCol="0" anchor="ctr"/>
          <a:lstStyle/>
          <a:p>
            <a:pPr indent="0" marL="0">
              <a:buNone/>
            </a:pPr>
            <a:r>
              <a:rPr lang="en-US" sz="1200" b="1" dirty="0">
                <a:solidFill>
                  <a:schemeClr val="accent1"/>
                </a:solidFill>
              </a:rPr>
              <a:t>Pre-login  |  www SIP and step-up calculators  |  Build 2 days  |  Run 14 days</a:t>
            </a:r>
            <a:endParaRPr lang="en-US" sz="1200" dirty="0"/>
          </a:p>
        </p:txBody>
      </p:sp>
      <p:sp>
        <p:nvSpPr>
          <p:cNvPr id="4" name="Observation card"/>
          <p:cNvSpPr/>
          <p:nvPr/>
        </p:nvSpPr>
        <p:spPr>
          <a:xfrm>
            <a:off x="548640" y="1508760"/>
            <a:ext cx="3794760" cy="4434840"/>
          </a:xfrm>
          <a:prstGeom prst="roundRect">
            <a:avLst>
              <a:gd name="adj" fmla="val 1928"/>
            </a:avLst>
          </a:prstGeom>
          <a:solidFill>
            <a:schemeClr val="bg2"/>
          </a:solidFill>
          <a:ln/>
        </p:spPr>
      </p:sp>
      <p:sp>
        <p:nvSpPr>
          <p:cNvPr id="5" name="Text 3"/>
          <p:cNvSpPr txBox="1"/>
          <p:nvPr/>
        </p:nvSpPr>
        <p:spPr>
          <a:xfrm>
            <a:off x="731520" y="1645920"/>
            <a:ext cx="3429000" cy="416052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OBSERVATION</a:t>
            </a:r>
            <a:endParaRPr lang="en-US" sz="1200" dirty="0"/>
          </a:p>
          <a:p>
            <a:pPr indent="0" marL="0">
              <a:buNone/>
            </a:pPr>
            <a:r>
              <a:rPr lang="en-US" sz="1400" b="1" dirty="0">
                <a:solidFill>
                  <a:schemeClr val="tx2"/>
                </a:solidFill>
              </a:rPr>
              <a:t>Analytics</a:t>
            </a:r>
            <a:endParaRPr lang="en-US" sz="1200" dirty="0"/>
          </a:p>
          <a:p>
            <a:pPr indent="0" marL="0">
              <a:spcAft>
                <a:spcPts val="800"/>
              </a:spcAft>
              <a:buNone/>
            </a:pPr>
            <a:r>
              <a:rPr lang="en-US" sz="1400" dirty="0">
                <a:solidFill>
                  <a:schemeClr val="tx1"/>
                </a:solidFill>
              </a:rPr>
              <a:t>91% of calculator users are on mobile and must type into an empty form. Step-up is a separate page with 28k views, 8% of the SIP calculator's.</a:t>
            </a:r>
            <a:endParaRPr lang="en-US" sz="1200" dirty="0"/>
          </a:p>
          <a:p>
            <a:pPr indent="0" marL="0">
              <a:buNone/>
            </a:pPr>
            <a:r>
              <a:rPr lang="en-US" sz="1400" b="1" dirty="0">
                <a:solidFill>
                  <a:schemeClr val="tx2"/>
                </a:solidFill>
              </a:rPr>
              <a:t>Competitors</a:t>
            </a:r>
            <a:endParaRPr lang="en-US" sz="1200" dirty="0"/>
          </a:p>
          <a:p>
            <a:pPr indent="0" marL="0">
              <a:buNone/>
            </a:pPr>
            <a:r>
              <a:rPr lang="en-US" sz="1400" dirty="0">
                <a:solidFill>
                  <a:schemeClr val="tx1"/>
                </a:solidFill>
              </a:rPr>
              <a:t>ICICI has amount chips and SIP / Lumpsum / SWP tabs; ABSL lists step-up, cost-of-delay and goal tools; SBI has a Crorepati goal calculator; Nippon's step-up page ends in 'Invest Now'.</a:t>
            </a:r>
            <a:endParaRPr lang="en-US" sz="1200" dirty="0"/>
          </a:p>
        </p:txBody>
      </p:sp>
      <p:sp>
        <p:nvSpPr>
          <p:cNvPr id="6" name="Text 4"/>
          <p:cNvSpPr txBox="1"/>
          <p:nvPr/>
        </p:nvSpPr>
        <p:spPr>
          <a:xfrm>
            <a:off x="4526280" y="1554480"/>
            <a:ext cx="3611880" cy="434340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HYPOTHESIS</a:t>
            </a:r>
            <a:endParaRPr lang="en-US" sz="1200" dirty="0"/>
          </a:p>
          <a:p>
            <a:pPr indent="0" marL="0">
              <a:spcAft>
                <a:spcPts val="1000"/>
              </a:spcAft>
              <a:buNone/>
            </a:pPr>
            <a:r>
              <a:rPr lang="en-US" sz="1400" dirty="0">
                <a:solidFill>
                  <a:schemeClr val="tx1"/>
                </a:solidFill>
              </a:rPr>
              <a:t>Preset amounts, a goal preset ('Rs 1 crore in 15 years') and a step-up switch in the same view mean more visitors complete a plan and see a bigger result, so more reach the button from T1.</a:t>
            </a:r>
            <a:endParaRPr lang="en-US" sz="1200" dirty="0"/>
          </a:p>
          <a:p>
            <a:pPr indent="0" marL="0">
              <a:spcAft>
                <a:spcPts val="400"/>
              </a:spcAft>
              <a:buNone/>
            </a:pPr>
            <a:r>
              <a:rPr lang="en-US" sz="1200" b="1" dirty="0">
                <a:solidFill>
                  <a:schemeClr val="accent1"/>
                </a:solidFill>
              </a:rPr>
              <a:t>TEST</a:t>
            </a:r>
            <a:endParaRPr lang="en-US" sz="1200" dirty="0"/>
          </a:p>
          <a:p>
            <a:pPr indent="0" marL="0">
              <a:buNone/>
            </a:pPr>
            <a:r>
              <a:rPr lang="en-US" sz="1400" dirty="0">
                <a:solidFill>
                  <a:schemeClr val="tx1"/>
                </a:solidFill>
              </a:rPr>
              <a:t>Control: today's calculator. Variant: three amount chips, two goal presets and a step-up switch (10% a year). Primary: plans completed and button clicks. Run after T1 so the effect stacks.</a:t>
            </a:r>
            <a:endParaRPr lang="en-US" sz="1200" dirty="0"/>
          </a:p>
        </p:txBody>
      </p:sp>
      <p:sp>
        <p:nvSpPr>
          <p:cNvPr id="7" name="Uplift card"/>
          <p:cNvSpPr/>
          <p:nvPr/>
        </p:nvSpPr>
        <p:spPr>
          <a:xfrm>
            <a:off x="8321040" y="1508760"/>
            <a:ext cx="3154680" cy="1783080"/>
          </a:xfrm>
          <a:prstGeom prst="roundRect">
            <a:avLst>
              <a:gd name="adj" fmla="val 4103"/>
            </a:avLst>
          </a:prstGeom>
          <a:solidFill>
            <a:schemeClr val="tx2"/>
          </a:solidFill>
          <a:ln/>
        </p:spPr>
      </p:sp>
      <p:sp>
        <p:nvSpPr>
          <p:cNvPr id="8" name="Text 6"/>
          <p:cNvSpPr txBox="1"/>
          <p:nvPr/>
        </p:nvSpPr>
        <p:spPr>
          <a:xfrm>
            <a:off x="8503920" y="1618488"/>
            <a:ext cx="2788920" cy="274320"/>
          </a:xfrm>
          <a:prstGeom prst="rect">
            <a:avLst/>
          </a:prstGeom>
          <a:noFill/>
          <a:ln/>
        </p:spPr>
        <p:txBody>
          <a:bodyPr wrap="square" lIns="0" tIns="0" rIns="0" bIns="0" rtlCol="0" anchor="ctr"/>
          <a:lstStyle/>
          <a:p>
            <a:pPr indent="0" marL="0">
              <a:buNone/>
            </a:pPr>
            <a:r>
              <a:rPr lang="en-US" sz="1200" b="1" dirty="0">
                <a:solidFill>
                  <a:schemeClr val="bg2"/>
                </a:solidFill>
              </a:rPr>
              <a:t>EXPECTED UPLIFT</a:t>
            </a:r>
            <a:endParaRPr lang="en-US" sz="1200" dirty="0"/>
          </a:p>
        </p:txBody>
      </p:sp>
      <p:sp>
        <p:nvSpPr>
          <p:cNvPr id="9" name="Text 7"/>
          <p:cNvSpPr txBox="1"/>
          <p:nvPr/>
        </p:nvSpPr>
        <p:spPr>
          <a:xfrm>
            <a:off x="8503920" y="1892808"/>
            <a:ext cx="2788920" cy="59436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+10-20%</a:t>
            </a:r>
            <a:endParaRPr lang="en-US" sz="2800" dirty="0"/>
          </a:p>
        </p:txBody>
      </p:sp>
      <p:sp>
        <p:nvSpPr>
          <p:cNvPr id="10" name="Text 8"/>
          <p:cNvSpPr txBox="1"/>
          <p:nvPr/>
        </p:nvSpPr>
        <p:spPr>
          <a:xfrm>
            <a:off x="8503920" y="2514600"/>
            <a:ext cx="2788920" cy="731520"/>
          </a:xfrm>
          <a:prstGeom prst="rect">
            <a:avLst/>
          </a:prstGeom>
          <a:noFill/>
          <a:ln/>
        </p:spPr>
        <p:txBody>
          <a:bodyPr wrap="square" lIns="0" tIns="0" rIns="0" bIns="0" rtlCol="0" anchor="t"/>
          <a:lstStyle/>
          <a:p>
            <a:pPr indent="0" marL="0">
              <a:buNone/>
            </a:pPr>
            <a:r>
              <a:rPr lang="en-US" sz="1200" dirty="0">
                <a:solidFill>
                  <a:schemeClr val="bg2"/>
                </a:solidFill>
              </a:rPr>
              <a:t>relative lift in calculator to login on top of T1: about +730-1,460 login visits, +40-85 SIPs a month</a:t>
            </a:r>
            <a:endParaRPr lang="en-US" sz="1200" dirty="0"/>
          </a:p>
        </p:txBody>
      </p:sp>
      <p:sp>
        <p:nvSpPr>
          <p:cNvPr id="11" name="Mock placeholder"/>
          <p:cNvSpPr/>
          <p:nvPr/>
        </p:nvSpPr>
        <p:spPr>
          <a:xfrm>
            <a:off x="8321040" y="3474720"/>
            <a:ext cx="3154680" cy="2468880"/>
          </a:xfrm>
          <a:prstGeom prst="roundRect">
            <a:avLst>
              <a:gd name="adj" fmla="val 2963"/>
            </a:avLst>
          </a:prstGeom>
          <a:solidFill>
            <a:srgbClr val="FFFFFF"/>
          </a:solidFill>
          <a:ln w="12700">
            <a:solidFill>
              <a:schemeClr val="accent5"/>
            </a:solidFill>
            <a:prstDash val="dash"/>
          </a:ln>
        </p:spPr>
      </p:sp>
      <p:sp>
        <p:nvSpPr>
          <p:cNvPr id="12" name="Text 10"/>
          <p:cNvSpPr txBox="1"/>
          <p:nvPr/>
        </p:nvSpPr>
        <p:spPr>
          <a:xfrm>
            <a:off x="8321040" y="3474720"/>
            <a:ext cx="3154680" cy="2468880"/>
          </a:xfrm>
          <a:prstGeom prst="rect">
            <a:avLst/>
          </a:prstGeom>
          <a:noFill/>
          <a:ln/>
        </p:spPr>
        <p:txBody>
          <a:bodyPr wrap="square" lIns="0" tIns="0" rIns="0" bIns="0" rtlCol="0" anchor="ctr"/>
          <a:lstStyle/>
          <a:p>
            <a:pPr algn="ctr" indent="0" marL="0">
              <a:buNone/>
            </a:pPr>
            <a:r>
              <a:rPr lang="en-US" sz="1400" dirty="0">
                <a:solidFill>
                  <a:schemeClr val="accent5"/>
                </a:solidFill>
              </a:rPr>
              <a:t>Mock to add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T5  Reassurance next to the SIP button</a:t>
            </a:r>
            <a:endParaRPr lang="en-US" sz="2800" dirty="0"/>
          </a:p>
        </p:txBody>
      </p:sp>
      <p:sp>
        <p:nvSpPr>
          <p:cNvPr id="3" name="Text 1"/>
          <p:cNvSpPr txBox="1"/>
          <p:nvPr/>
        </p:nvSpPr>
        <p:spPr>
          <a:xfrm>
            <a:off x="548640" y="1097280"/>
            <a:ext cx="10972800" cy="274320"/>
          </a:xfrm>
          <a:prstGeom prst="rect">
            <a:avLst/>
          </a:prstGeom>
          <a:noFill/>
          <a:ln/>
        </p:spPr>
        <p:txBody>
          <a:bodyPr wrap="square" lIns="0" tIns="0" rIns="0" bIns="0" rtlCol="0" anchor="ctr"/>
          <a:lstStyle/>
          <a:p>
            <a:pPr indent="0" marL="0">
              <a:buNone/>
            </a:pPr>
            <a:r>
              <a:rPr lang="en-US" sz="1200" b="1" dirty="0">
                <a:solidFill>
                  <a:schemeClr val="accent1"/>
                </a:solidFill>
              </a:rPr>
              <a:t>Pre-login  |  Calculator and fund pages  |  Build 1 day  |  Run 14 days</a:t>
            </a:r>
            <a:endParaRPr lang="en-US" sz="1200" dirty="0"/>
          </a:p>
        </p:txBody>
      </p:sp>
      <p:sp>
        <p:nvSpPr>
          <p:cNvPr id="4" name="Observation card"/>
          <p:cNvSpPr/>
          <p:nvPr/>
        </p:nvSpPr>
        <p:spPr>
          <a:xfrm>
            <a:off x="548640" y="1508760"/>
            <a:ext cx="3794760" cy="4434840"/>
          </a:xfrm>
          <a:prstGeom prst="roundRect">
            <a:avLst>
              <a:gd name="adj" fmla="val 1928"/>
            </a:avLst>
          </a:prstGeom>
          <a:solidFill>
            <a:schemeClr val="bg2"/>
          </a:solidFill>
          <a:ln/>
        </p:spPr>
      </p:sp>
      <p:sp>
        <p:nvSpPr>
          <p:cNvPr id="5" name="Text 3"/>
          <p:cNvSpPr txBox="1"/>
          <p:nvPr/>
        </p:nvSpPr>
        <p:spPr>
          <a:xfrm>
            <a:off x="731520" y="1645920"/>
            <a:ext cx="3429000" cy="416052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OBSERVATION</a:t>
            </a:r>
            <a:endParaRPr lang="en-US" sz="1200" dirty="0"/>
          </a:p>
          <a:p>
            <a:pPr indent="0" marL="0">
              <a:buNone/>
            </a:pPr>
            <a:r>
              <a:rPr lang="en-US" sz="1400" b="1" dirty="0">
                <a:solidFill>
                  <a:schemeClr val="tx2"/>
                </a:solidFill>
              </a:rPr>
              <a:t>Analytics</a:t>
            </a:r>
            <a:endParaRPr lang="en-US" sz="1200" dirty="0"/>
          </a:p>
          <a:p>
            <a:pPr indent="0" marL="0">
              <a:spcAft>
                <a:spcPts val="800"/>
              </a:spcAft>
              <a:buNone/>
            </a:pPr>
            <a:r>
              <a:rPr lang="en-US" sz="1400" dirty="0">
                <a:solidFill>
                  <a:schemeClr val="tx1"/>
                </a:solidFill>
              </a:rPr>
              <a:t>Cancels outnumber pauses 5 to 1 (2,253 vs 483 in 30 days). Market context: the SIP stoppage ratio was above 100% in March and April 2026 and is still 78.5% in September.</a:t>
            </a:r>
            <a:endParaRPr lang="en-US" sz="1200" dirty="0"/>
          </a:p>
          <a:p>
            <a:pPr indent="0" marL="0">
              <a:buNone/>
            </a:pPr>
            <a:r>
              <a:rPr lang="en-US" sz="1400" b="1" dirty="0">
                <a:solidFill>
                  <a:schemeClr val="tx2"/>
                </a:solidFill>
              </a:rPr>
              <a:t>Competitors</a:t>
            </a:r>
            <a:endParaRPr lang="en-US" sz="1200" dirty="0"/>
          </a:p>
          <a:p>
            <a:pPr indent="0" marL="0">
              <a:buNone/>
            </a:pPr>
            <a:r>
              <a:rPr lang="en-US" sz="1400" dirty="0">
                <a:solidFill>
                  <a:schemeClr val="tx1"/>
                </a:solidFill>
              </a:rPr>
              <a:t>SBI's calculator page answers 'Can I pause my SIP?' and 'Can I modify my SIP amount?'. Axis publishes a guide to starting a SIP with Rs 100.</a:t>
            </a:r>
            <a:endParaRPr lang="en-US" sz="1200" dirty="0"/>
          </a:p>
        </p:txBody>
      </p:sp>
      <p:sp>
        <p:nvSpPr>
          <p:cNvPr id="6" name="Text 4"/>
          <p:cNvSpPr txBox="1"/>
          <p:nvPr/>
        </p:nvSpPr>
        <p:spPr>
          <a:xfrm>
            <a:off x="4526280" y="1554480"/>
            <a:ext cx="3611880" cy="434340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HYPOTHESIS</a:t>
            </a:r>
            <a:endParaRPr lang="en-US" sz="1200" dirty="0"/>
          </a:p>
          <a:p>
            <a:pPr indent="0" marL="0">
              <a:spcAft>
                <a:spcPts val="1000"/>
              </a:spcAft>
              <a:buNone/>
            </a:pPr>
            <a:r>
              <a:rPr lang="en-US" sz="1400" dirty="0">
                <a:solidFill>
                  <a:schemeClr val="tx1"/>
                </a:solidFill>
              </a:rPr>
              <a:t>New investors fear locking in during a volatile market. A short line next to the button (low minimum, pause or stop anytime, paperless) lowers that fear and raises clicks.</a:t>
            </a:r>
            <a:endParaRPr lang="en-US" sz="1200" dirty="0"/>
          </a:p>
          <a:p>
            <a:pPr indent="0" marL="0">
              <a:spcAft>
                <a:spcPts val="400"/>
              </a:spcAft>
              <a:buNone/>
            </a:pPr>
            <a:r>
              <a:rPr lang="en-US" sz="1200" b="1" dirty="0">
                <a:solidFill>
                  <a:schemeClr val="accent1"/>
                </a:solidFill>
              </a:rPr>
              <a:t>TEST</a:t>
            </a:r>
            <a:endParaRPr lang="en-US" sz="1200" dirty="0"/>
          </a:p>
          <a:p>
            <a:pPr indent="0" marL="0">
              <a:buNone/>
            </a:pPr>
            <a:r>
              <a:rPr lang="en-US" sz="1400" dirty="0">
                <a:solidFill>
                  <a:schemeClr val="tx1"/>
                </a:solidFill>
              </a:rPr>
              <a:t>Control: current pages. Variant: one-line reassurance under the SIP button. Primary: page to login click. Guardrail: complaints. Wording needs compliance approval.</a:t>
            </a:r>
            <a:endParaRPr lang="en-US" sz="1200" dirty="0"/>
          </a:p>
        </p:txBody>
      </p:sp>
      <p:sp>
        <p:nvSpPr>
          <p:cNvPr id="7" name="Uplift card"/>
          <p:cNvSpPr/>
          <p:nvPr/>
        </p:nvSpPr>
        <p:spPr>
          <a:xfrm>
            <a:off x="8321040" y="1508760"/>
            <a:ext cx="3154680" cy="1783080"/>
          </a:xfrm>
          <a:prstGeom prst="roundRect">
            <a:avLst>
              <a:gd name="adj" fmla="val 4103"/>
            </a:avLst>
          </a:prstGeom>
          <a:solidFill>
            <a:schemeClr val="tx2"/>
          </a:solidFill>
          <a:ln/>
        </p:spPr>
      </p:sp>
      <p:sp>
        <p:nvSpPr>
          <p:cNvPr id="8" name="Text 6"/>
          <p:cNvSpPr txBox="1"/>
          <p:nvPr/>
        </p:nvSpPr>
        <p:spPr>
          <a:xfrm>
            <a:off x="8503920" y="1618488"/>
            <a:ext cx="2788920" cy="274320"/>
          </a:xfrm>
          <a:prstGeom prst="rect">
            <a:avLst/>
          </a:prstGeom>
          <a:noFill/>
          <a:ln/>
        </p:spPr>
        <p:txBody>
          <a:bodyPr wrap="square" lIns="0" tIns="0" rIns="0" bIns="0" rtlCol="0" anchor="ctr"/>
          <a:lstStyle/>
          <a:p>
            <a:pPr indent="0" marL="0">
              <a:buNone/>
            </a:pPr>
            <a:r>
              <a:rPr lang="en-US" sz="1200" b="1" dirty="0">
                <a:solidFill>
                  <a:schemeClr val="bg2"/>
                </a:solidFill>
              </a:rPr>
              <a:t>EXPECTED UPLIFT</a:t>
            </a:r>
            <a:endParaRPr lang="en-US" sz="1200" dirty="0"/>
          </a:p>
        </p:txBody>
      </p:sp>
      <p:sp>
        <p:nvSpPr>
          <p:cNvPr id="9" name="Text 7"/>
          <p:cNvSpPr txBox="1"/>
          <p:nvPr/>
        </p:nvSpPr>
        <p:spPr>
          <a:xfrm>
            <a:off x="8503920" y="1892808"/>
            <a:ext cx="2788920" cy="59436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+3-6%</a:t>
            </a:r>
            <a:endParaRPr lang="en-US" sz="2800" dirty="0"/>
          </a:p>
        </p:txBody>
      </p:sp>
      <p:sp>
        <p:nvSpPr>
          <p:cNvPr id="10" name="Text 8"/>
          <p:cNvSpPr txBox="1"/>
          <p:nvPr/>
        </p:nvSpPr>
        <p:spPr>
          <a:xfrm>
            <a:off x="8503920" y="2514600"/>
            <a:ext cx="2788920" cy="731520"/>
          </a:xfrm>
          <a:prstGeom prst="rect">
            <a:avLst/>
          </a:prstGeom>
          <a:noFill/>
          <a:ln/>
        </p:spPr>
        <p:txBody>
          <a:bodyPr wrap="square" lIns="0" tIns="0" rIns="0" bIns="0" rtlCol="0" anchor="t"/>
          <a:lstStyle/>
          <a:p>
            <a:pPr indent="0" marL="0">
              <a:buNone/>
            </a:pPr>
            <a:r>
              <a:rPr lang="en-US" sz="1200" dirty="0">
                <a:solidFill>
                  <a:schemeClr val="bg2"/>
                </a:solidFill>
              </a:rPr>
              <a:t>relative lift in page to login across calculator and fund pages: about +800-1,600 login visits, +45-95 SIPs a month</a:t>
            </a:r>
            <a:endParaRPr lang="en-US" sz="1200" dirty="0"/>
          </a:p>
        </p:txBody>
      </p:sp>
      <p:sp>
        <p:nvSpPr>
          <p:cNvPr id="11" name="Mock placeholder"/>
          <p:cNvSpPr/>
          <p:nvPr/>
        </p:nvSpPr>
        <p:spPr>
          <a:xfrm>
            <a:off x="8321040" y="3474720"/>
            <a:ext cx="3154680" cy="2468880"/>
          </a:xfrm>
          <a:prstGeom prst="roundRect">
            <a:avLst>
              <a:gd name="adj" fmla="val 2963"/>
            </a:avLst>
          </a:prstGeom>
          <a:solidFill>
            <a:srgbClr val="FFFFFF"/>
          </a:solidFill>
          <a:ln w="12700">
            <a:solidFill>
              <a:schemeClr val="accent5"/>
            </a:solidFill>
            <a:prstDash val="dash"/>
          </a:ln>
        </p:spPr>
      </p:sp>
      <p:sp>
        <p:nvSpPr>
          <p:cNvPr id="12" name="Text 10"/>
          <p:cNvSpPr txBox="1"/>
          <p:nvPr/>
        </p:nvSpPr>
        <p:spPr>
          <a:xfrm>
            <a:off x="8321040" y="3474720"/>
            <a:ext cx="3154680" cy="2468880"/>
          </a:xfrm>
          <a:prstGeom prst="rect">
            <a:avLst/>
          </a:prstGeom>
          <a:noFill/>
          <a:ln/>
        </p:spPr>
        <p:txBody>
          <a:bodyPr wrap="square" lIns="0" tIns="0" rIns="0" bIns="0" rtlCol="0" anchor="ctr"/>
          <a:lstStyle/>
          <a:p>
            <a:pPr algn="ctr" indent="0" marL="0">
              <a:buNone/>
            </a:pPr>
            <a:r>
              <a:rPr lang="en-US" sz="1400" dirty="0">
                <a:solidFill>
                  <a:schemeClr val="accent5"/>
                </a:solidFill>
              </a:rPr>
              <a:t>Mock to add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T6  'Save my SIP plan' for visitors who are not ready</a:t>
            </a:r>
            <a:endParaRPr lang="en-US" sz="2800" dirty="0"/>
          </a:p>
        </p:txBody>
      </p:sp>
      <p:sp>
        <p:nvSpPr>
          <p:cNvPr id="3" name="Text 1"/>
          <p:cNvSpPr txBox="1"/>
          <p:nvPr/>
        </p:nvSpPr>
        <p:spPr>
          <a:xfrm>
            <a:off x="548640" y="1097280"/>
            <a:ext cx="10972800" cy="274320"/>
          </a:xfrm>
          <a:prstGeom prst="rect">
            <a:avLst/>
          </a:prstGeom>
          <a:noFill/>
          <a:ln/>
        </p:spPr>
        <p:txBody>
          <a:bodyPr wrap="square" lIns="0" tIns="0" rIns="0" bIns="0" rtlCol="0" anchor="ctr"/>
          <a:lstStyle/>
          <a:p>
            <a:pPr indent="0" marL="0">
              <a:buNone/>
            </a:pPr>
            <a:r>
              <a:rPr lang="en-US" sz="1200" b="1" dirty="0">
                <a:solidFill>
                  <a:schemeClr val="accent1"/>
                </a:solidFill>
              </a:rPr>
              <a:t>Pre-login  |  www SIP calculator  |  Build 2-3 days  |  Run 14 days</a:t>
            </a:r>
            <a:endParaRPr lang="en-US" sz="1200" dirty="0"/>
          </a:p>
        </p:txBody>
      </p:sp>
      <p:sp>
        <p:nvSpPr>
          <p:cNvPr id="4" name="Observation card"/>
          <p:cNvSpPr/>
          <p:nvPr/>
        </p:nvSpPr>
        <p:spPr>
          <a:xfrm>
            <a:off x="548640" y="1508760"/>
            <a:ext cx="3794760" cy="4434840"/>
          </a:xfrm>
          <a:prstGeom prst="roundRect">
            <a:avLst>
              <a:gd name="adj" fmla="val 1928"/>
            </a:avLst>
          </a:prstGeom>
          <a:solidFill>
            <a:schemeClr val="bg2"/>
          </a:solidFill>
          <a:ln/>
        </p:spPr>
      </p:sp>
      <p:sp>
        <p:nvSpPr>
          <p:cNvPr id="5" name="Text 3"/>
          <p:cNvSpPr txBox="1"/>
          <p:nvPr/>
        </p:nvSpPr>
        <p:spPr>
          <a:xfrm>
            <a:off x="731520" y="1645920"/>
            <a:ext cx="3429000" cy="416052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OBSERVATION</a:t>
            </a:r>
            <a:endParaRPr lang="en-US" sz="1200" dirty="0"/>
          </a:p>
          <a:p>
            <a:pPr indent="0" marL="0">
              <a:buNone/>
            </a:pPr>
            <a:r>
              <a:rPr lang="en-US" sz="1400" b="1" dirty="0">
                <a:solidFill>
                  <a:schemeClr val="tx2"/>
                </a:solidFill>
              </a:rPr>
              <a:t>Analytics</a:t>
            </a:r>
            <a:endParaRPr lang="en-US" sz="1200" dirty="0"/>
          </a:p>
          <a:p>
            <a:pPr indent="0" marL="0">
              <a:spcAft>
                <a:spcPts val="800"/>
              </a:spcAft>
              <a:buNone/>
            </a:pPr>
            <a:r>
              <a:rPr lang="en-US" sz="1400" dirty="0">
                <a:solidFill>
                  <a:schemeClr val="tx1"/>
                </a:solidFill>
              </a:rPr>
              <a:t>267,573 calculator users in 30 days and 97% never reach a login page. We already run WhatsApp (64), RCS (23) and email (145) campaigns, so a captured contact can be nurtured in NVECTA.</a:t>
            </a:r>
            <a:endParaRPr lang="en-US" sz="1200" dirty="0"/>
          </a:p>
          <a:p>
            <a:pPr indent="0" marL="0">
              <a:buNone/>
            </a:pPr>
            <a:r>
              <a:rPr lang="en-US" sz="1400" b="1" dirty="0">
                <a:solidFill>
                  <a:schemeClr val="tx2"/>
                </a:solidFill>
              </a:rPr>
              <a:t>Competitors</a:t>
            </a:r>
            <a:endParaRPr lang="en-US" sz="1200" dirty="0"/>
          </a:p>
          <a:p>
            <a:pPr indent="0" marL="0">
              <a:buNone/>
            </a:pPr>
            <a:r>
              <a:rPr lang="en-US" sz="1400" dirty="0">
                <a:solidFill>
                  <a:schemeClr val="tx1"/>
                </a:solidFill>
              </a:rPr>
              <a:t>SBI asks for PAN beside 'Start Now' inside the calculator; Axis offers 'Get a Quick Call'; ABSL 'Get Investment Plan'; ICICI 'Ask Expert'.</a:t>
            </a:r>
            <a:endParaRPr lang="en-US" sz="1200" dirty="0"/>
          </a:p>
        </p:txBody>
      </p:sp>
      <p:sp>
        <p:nvSpPr>
          <p:cNvPr id="6" name="Text 4"/>
          <p:cNvSpPr txBox="1"/>
          <p:nvPr/>
        </p:nvSpPr>
        <p:spPr>
          <a:xfrm>
            <a:off x="4526280" y="1554480"/>
            <a:ext cx="3611880" cy="434340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HYPOTHESIS</a:t>
            </a:r>
            <a:endParaRPr lang="en-US" sz="1200" dirty="0"/>
          </a:p>
          <a:p>
            <a:pPr indent="0" marL="0">
              <a:spcAft>
                <a:spcPts val="1000"/>
              </a:spcAft>
              <a:buNone/>
            </a:pPr>
            <a:r>
              <a:rPr lang="en-US" sz="1400" dirty="0">
                <a:solidFill>
                  <a:schemeClr val="tx1"/>
                </a:solidFill>
              </a:rPr>
              <a:t>Visitors who built a plan but are not ready to log in will leave a mobile number or email if offered their plan back. A reminder journey then brings a share back to start the SIP, and the capture also fixes the identity gap.</a:t>
            </a:r>
            <a:endParaRPr lang="en-US" sz="1200" dirty="0"/>
          </a:p>
          <a:p>
            <a:pPr indent="0" marL="0">
              <a:spcAft>
                <a:spcPts val="400"/>
              </a:spcAft>
              <a:buNone/>
            </a:pPr>
            <a:r>
              <a:rPr lang="en-US" sz="1200" b="1" dirty="0">
                <a:solidFill>
                  <a:schemeClr val="accent1"/>
                </a:solidFill>
              </a:rPr>
              <a:t>TEST</a:t>
            </a:r>
            <a:endParaRPr lang="en-US" sz="1200" dirty="0"/>
          </a:p>
          <a:p>
            <a:pPr indent="0" marL="0">
              <a:buNone/>
            </a:pPr>
            <a:r>
              <a:rPr lang="en-US" sz="1400" dirty="0">
                <a:solidFill>
                  <a:schemeClr val="tx1"/>
                </a:solidFill>
              </a:rPr>
              <a:t>Control: no capture. Variant: 'Send me this plan' under the result with consent text; NVECTA journey at 1 hour, 1 day and 3 days. Primary: capture rate, then SIPs within 14 days.</a:t>
            </a:r>
            <a:endParaRPr lang="en-US" sz="1200" dirty="0"/>
          </a:p>
        </p:txBody>
      </p:sp>
      <p:sp>
        <p:nvSpPr>
          <p:cNvPr id="7" name="Uplift card"/>
          <p:cNvSpPr/>
          <p:nvPr/>
        </p:nvSpPr>
        <p:spPr>
          <a:xfrm>
            <a:off x="8321040" y="1508760"/>
            <a:ext cx="3154680" cy="1783080"/>
          </a:xfrm>
          <a:prstGeom prst="roundRect">
            <a:avLst>
              <a:gd name="adj" fmla="val 4103"/>
            </a:avLst>
          </a:prstGeom>
          <a:solidFill>
            <a:schemeClr val="tx2"/>
          </a:solidFill>
          <a:ln/>
        </p:spPr>
      </p:sp>
      <p:sp>
        <p:nvSpPr>
          <p:cNvPr id="8" name="Text 6"/>
          <p:cNvSpPr txBox="1"/>
          <p:nvPr/>
        </p:nvSpPr>
        <p:spPr>
          <a:xfrm>
            <a:off x="8503920" y="1618488"/>
            <a:ext cx="2788920" cy="274320"/>
          </a:xfrm>
          <a:prstGeom prst="rect">
            <a:avLst/>
          </a:prstGeom>
          <a:noFill/>
          <a:ln/>
        </p:spPr>
        <p:txBody>
          <a:bodyPr wrap="square" lIns="0" tIns="0" rIns="0" bIns="0" rtlCol="0" anchor="ctr"/>
          <a:lstStyle/>
          <a:p>
            <a:pPr indent="0" marL="0">
              <a:buNone/>
            </a:pPr>
            <a:r>
              <a:rPr lang="en-US" sz="1200" b="1" dirty="0">
                <a:solidFill>
                  <a:schemeClr val="bg2"/>
                </a:solidFill>
              </a:rPr>
              <a:t>EXPECTED UPLIFT</a:t>
            </a:r>
            <a:endParaRPr lang="en-US" sz="1200" dirty="0"/>
          </a:p>
        </p:txBody>
      </p:sp>
      <p:sp>
        <p:nvSpPr>
          <p:cNvPr id="9" name="Text 7"/>
          <p:cNvSpPr txBox="1"/>
          <p:nvPr/>
        </p:nvSpPr>
        <p:spPr>
          <a:xfrm>
            <a:off x="8503920" y="1892808"/>
            <a:ext cx="2788920" cy="59436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1-2%</a:t>
            </a:r>
            <a:endParaRPr lang="en-US" sz="2800" dirty="0"/>
          </a:p>
        </p:txBody>
      </p:sp>
      <p:sp>
        <p:nvSpPr>
          <p:cNvPr id="10" name="Text 8"/>
          <p:cNvSpPr txBox="1"/>
          <p:nvPr/>
        </p:nvSpPr>
        <p:spPr>
          <a:xfrm>
            <a:off x="8503920" y="2514600"/>
            <a:ext cx="2788920" cy="731520"/>
          </a:xfrm>
          <a:prstGeom prst="rect">
            <a:avLst/>
          </a:prstGeom>
          <a:noFill/>
          <a:ln/>
        </p:spPr>
        <p:txBody>
          <a:bodyPr wrap="square" lIns="0" tIns="0" rIns="0" bIns="0" rtlCol="0" anchor="t"/>
          <a:lstStyle/>
          <a:p>
            <a:pPr indent="0" marL="0">
              <a:buNone/>
            </a:pPr>
            <a:r>
              <a:rPr lang="en-US" sz="1200" dirty="0">
                <a:solidFill>
                  <a:schemeClr val="bg2"/>
                </a:solidFill>
              </a:rPr>
              <a:t>capture of calculator users (2,700-5,300 leads); if 2-3% start a SIP: about +55-160 SIPs a month</a:t>
            </a:r>
            <a:endParaRPr lang="en-US" sz="1200" dirty="0"/>
          </a:p>
        </p:txBody>
      </p:sp>
      <p:sp>
        <p:nvSpPr>
          <p:cNvPr id="11" name="Mock placeholder"/>
          <p:cNvSpPr/>
          <p:nvPr/>
        </p:nvSpPr>
        <p:spPr>
          <a:xfrm>
            <a:off x="8321040" y="3474720"/>
            <a:ext cx="3154680" cy="2468880"/>
          </a:xfrm>
          <a:prstGeom prst="roundRect">
            <a:avLst>
              <a:gd name="adj" fmla="val 2963"/>
            </a:avLst>
          </a:prstGeom>
          <a:solidFill>
            <a:srgbClr val="FFFFFF"/>
          </a:solidFill>
          <a:ln w="12700">
            <a:solidFill>
              <a:schemeClr val="accent5"/>
            </a:solidFill>
            <a:prstDash val="dash"/>
          </a:ln>
        </p:spPr>
      </p:sp>
      <p:sp>
        <p:nvSpPr>
          <p:cNvPr id="12" name="Text 10"/>
          <p:cNvSpPr txBox="1"/>
          <p:nvPr/>
        </p:nvSpPr>
        <p:spPr>
          <a:xfrm>
            <a:off x="8321040" y="3474720"/>
            <a:ext cx="3154680" cy="2468880"/>
          </a:xfrm>
          <a:prstGeom prst="rect">
            <a:avLst/>
          </a:prstGeom>
          <a:noFill/>
          <a:ln/>
        </p:spPr>
        <p:txBody>
          <a:bodyPr wrap="square" lIns="0" tIns="0" rIns="0" bIns="0" rtlCol="0" anchor="ctr"/>
          <a:lstStyle/>
          <a:p>
            <a:pPr algn="ctr" indent="0" marL="0">
              <a:buNone/>
            </a:pPr>
            <a:r>
              <a:rPr lang="en-US" sz="1400" dirty="0">
                <a:solidFill>
                  <a:schemeClr val="accent5"/>
                </a:solidFill>
              </a:rPr>
              <a:t>Mock to add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T7  SIP-first landing page for paid search</a:t>
            </a:r>
            <a:endParaRPr lang="en-US" sz="2800" dirty="0"/>
          </a:p>
        </p:txBody>
      </p:sp>
      <p:sp>
        <p:nvSpPr>
          <p:cNvPr id="3" name="Text 1"/>
          <p:cNvSpPr txBox="1"/>
          <p:nvPr/>
        </p:nvSpPr>
        <p:spPr>
          <a:xfrm>
            <a:off x="548640" y="1097280"/>
            <a:ext cx="10972800" cy="274320"/>
          </a:xfrm>
          <a:prstGeom prst="rect">
            <a:avLst/>
          </a:prstGeom>
          <a:noFill/>
          <a:ln/>
        </p:spPr>
        <p:txBody>
          <a:bodyPr wrap="square" lIns="0" tIns="0" rIns="0" bIns="0" rtlCol="0" anchor="ctr"/>
          <a:lstStyle/>
          <a:p>
            <a:pPr indent="0" marL="0">
              <a:buNone/>
            </a:pPr>
            <a:r>
              <a:rPr lang="en-US" sz="1200" b="1" dirty="0">
                <a:solidFill>
                  <a:schemeClr val="accent1"/>
                </a:solidFill>
              </a:rPr>
              <a:t>Pre-login  |  Landing page plus ad destination split  |  Build 3 days + media  |  Run 14 days</a:t>
            </a:r>
            <a:endParaRPr lang="en-US" sz="1200" dirty="0"/>
          </a:p>
        </p:txBody>
      </p:sp>
      <p:sp>
        <p:nvSpPr>
          <p:cNvPr id="4" name="Observation card"/>
          <p:cNvSpPr/>
          <p:nvPr/>
        </p:nvSpPr>
        <p:spPr>
          <a:xfrm>
            <a:off x="548640" y="1508760"/>
            <a:ext cx="3794760" cy="4434840"/>
          </a:xfrm>
          <a:prstGeom prst="roundRect">
            <a:avLst>
              <a:gd name="adj" fmla="val 1928"/>
            </a:avLst>
          </a:prstGeom>
          <a:solidFill>
            <a:schemeClr val="bg2"/>
          </a:solidFill>
          <a:ln/>
        </p:spPr>
      </p:sp>
      <p:sp>
        <p:nvSpPr>
          <p:cNvPr id="5" name="Text 3"/>
          <p:cNvSpPr txBox="1"/>
          <p:nvPr/>
        </p:nvSpPr>
        <p:spPr>
          <a:xfrm>
            <a:off x="731520" y="1645920"/>
            <a:ext cx="3429000" cy="416052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OBSERVATION</a:t>
            </a:r>
            <a:endParaRPr lang="en-US" sz="1200" dirty="0"/>
          </a:p>
          <a:p>
            <a:pPr indent="0" marL="0">
              <a:buNone/>
            </a:pPr>
            <a:r>
              <a:rPr lang="en-US" sz="1400" b="1" dirty="0">
                <a:solidFill>
                  <a:schemeClr val="tx2"/>
                </a:solidFill>
              </a:rPr>
              <a:t>Analytics</a:t>
            </a:r>
            <a:endParaRPr lang="en-US" sz="1200" dirty="0"/>
          </a:p>
          <a:p>
            <a:pPr indent="0" marL="0">
              <a:spcAft>
                <a:spcPts val="800"/>
              </a:spcAft>
              <a:buNone/>
            </a:pPr>
            <a:r>
              <a:rPr lang="en-US" sz="1400" dirty="0">
                <a:solidFill>
                  <a:schemeClr val="tx1"/>
                </a:solidFill>
              </a:rPr>
              <a:t>Paid search is 88% of all visitors and 99.2% of calculator traffic. Ads land on eight fund pages and the calculator, each with a different job.</a:t>
            </a:r>
            <a:endParaRPr lang="en-US" sz="1200" dirty="0"/>
          </a:p>
          <a:p>
            <a:pPr indent="0" marL="0">
              <a:buNone/>
            </a:pPr>
            <a:r>
              <a:rPr lang="en-US" sz="1400" b="1" dirty="0">
                <a:solidFill>
                  <a:schemeClr val="tx2"/>
                </a:solidFill>
              </a:rPr>
              <a:t>Competitors</a:t>
            </a:r>
            <a:endParaRPr lang="en-US" sz="1200" dirty="0"/>
          </a:p>
          <a:p>
            <a:pPr indent="0" marL="0">
              <a:buNone/>
            </a:pPr>
            <a:r>
              <a:rPr lang="en-US" sz="1400" dirty="0">
                <a:solidFill>
                  <a:schemeClr val="tx1"/>
                </a:solidFill>
              </a:rPr>
              <a:t>Nippon India and Axis list dedicated SIP pages (blocked to our scraper). We have no page that combines plan, three SIP funds and one start button.</a:t>
            </a:r>
            <a:endParaRPr lang="en-US" sz="1200" dirty="0"/>
          </a:p>
        </p:txBody>
      </p:sp>
      <p:sp>
        <p:nvSpPr>
          <p:cNvPr id="6" name="Text 4"/>
          <p:cNvSpPr txBox="1"/>
          <p:nvPr/>
        </p:nvSpPr>
        <p:spPr>
          <a:xfrm>
            <a:off x="4526280" y="1554480"/>
            <a:ext cx="3611880" cy="434340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HYPOTHESIS</a:t>
            </a:r>
            <a:endParaRPr lang="en-US" sz="1200" dirty="0"/>
          </a:p>
          <a:p>
            <a:pPr indent="0" marL="0">
              <a:spcAft>
                <a:spcPts val="1000"/>
              </a:spcAft>
              <a:buNone/>
            </a:pPr>
            <a:r>
              <a:rPr lang="en-US" sz="1400" dirty="0">
                <a:solidFill>
                  <a:schemeClr val="tx1"/>
                </a:solidFill>
              </a:rPr>
              <a:t>A page built for SIP intent (plan builder, three popular SIP funds, one start button) converts paid visitors better than a fund-detail page designed for research.</a:t>
            </a:r>
            <a:endParaRPr lang="en-US" sz="1200" dirty="0"/>
          </a:p>
          <a:p>
            <a:pPr indent="0" marL="0">
              <a:spcAft>
                <a:spcPts val="400"/>
              </a:spcAft>
              <a:buNone/>
            </a:pPr>
            <a:r>
              <a:rPr lang="en-US" sz="1200" b="1" dirty="0">
                <a:solidFill>
                  <a:schemeClr val="accent1"/>
                </a:solidFill>
              </a:rPr>
              <a:t>TEST</a:t>
            </a:r>
            <a:endParaRPr lang="en-US" sz="1200" dirty="0"/>
          </a:p>
          <a:p>
            <a:pPr indent="0" marL="0">
              <a:buNone/>
            </a:pPr>
            <a:r>
              <a:rPr lang="en-US" sz="1400" dirty="0">
                <a:solidFill>
                  <a:schemeClr val="tx1"/>
                </a:solidFill>
              </a:rPr>
              <a:t>Control: current ad destinations. Variant: send a share of paid traffic to the SIP landing page. Primary: visit to login click and cost per SIP. Needs the media team to split ad destinations.</a:t>
            </a:r>
            <a:endParaRPr lang="en-US" sz="1200" dirty="0"/>
          </a:p>
        </p:txBody>
      </p:sp>
      <p:sp>
        <p:nvSpPr>
          <p:cNvPr id="7" name="Uplift card"/>
          <p:cNvSpPr/>
          <p:nvPr/>
        </p:nvSpPr>
        <p:spPr>
          <a:xfrm>
            <a:off x="8321040" y="1508760"/>
            <a:ext cx="3154680" cy="1783080"/>
          </a:xfrm>
          <a:prstGeom prst="roundRect">
            <a:avLst>
              <a:gd name="adj" fmla="val 4103"/>
            </a:avLst>
          </a:prstGeom>
          <a:solidFill>
            <a:schemeClr val="tx2"/>
          </a:solidFill>
          <a:ln/>
        </p:spPr>
      </p:sp>
      <p:sp>
        <p:nvSpPr>
          <p:cNvPr id="8" name="Text 6"/>
          <p:cNvSpPr txBox="1"/>
          <p:nvPr/>
        </p:nvSpPr>
        <p:spPr>
          <a:xfrm>
            <a:off x="8503920" y="1618488"/>
            <a:ext cx="2788920" cy="274320"/>
          </a:xfrm>
          <a:prstGeom prst="rect">
            <a:avLst/>
          </a:prstGeom>
          <a:noFill/>
          <a:ln/>
        </p:spPr>
        <p:txBody>
          <a:bodyPr wrap="square" lIns="0" tIns="0" rIns="0" bIns="0" rtlCol="0" anchor="ctr"/>
          <a:lstStyle/>
          <a:p>
            <a:pPr indent="0" marL="0">
              <a:buNone/>
            </a:pPr>
            <a:r>
              <a:rPr lang="en-US" sz="1200" b="1" dirty="0">
                <a:solidFill>
                  <a:schemeClr val="bg2"/>
                </a:solidFill>
              </a:rPr>
              <a:t>EXPECTED UPLIFT</a:t>
            </a:r>
            <a:endParaRPr lang="en-US" sz="1200" dirty="0"/>
          </a:p>
        </p:txBody>
      </p:sp>
      <p:sp>
        <p:nvSpPr>
          <p:cNvPr id="9" name="Text 7"/>
          <p:cNvSpPr txBox="1"/>
          <p:nvPr/>
        </p:nvSpPr>
        <p:spPr>
          <a:xfrm>
            <a:off x="8503920" y="1892808"/>
            <a:ext cx="2788920" cy="59436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+15-25%</a:t>
            </a:r>
            <a:endParaRPr lang="en-US" sz="2800" dirty="0"/>
          </a:p>
        </p:txBody>
      </p:sp>
      <p:sp>
        <p:nvSpPr>
          <p:cNvPr id="10" name="Text 8"/>
          <p:cNvSpPr txBox="1"/>
          <p:nvPr/>
        </p:nvSpPr>
        <p:spPr>
          <a:xfrm>
            <a:off x="8503920" y="2514600"/>
            <a:ext cx="2788920" cy="731520"/>
          </a:xfrm>
          <a:prstGeom prst="rect">
            <a:avLst/>
          </a:prstGeom>
          <a:noFill/>
          <a:ln/>
        </p:spPr>
        <p:txBody>
          <a:bodyPr wrap="square" lIns="0" tIns="0" rIns="0" bIns="0" rtlCol="0" anchor="t"/>
          <a:lstStyle/>
          <a:p>
            <a:pPr indent="0" marL="0">
              <a:buNone/>
            </a:pPr>
            <a:r>
              <a:rPr lang="en-US" sz="1200" dirty="0">
                <a:solidFill>
                  <a:schemeClr val="bg2"/>
                </a:solidFill>
              </a:rPr>
              <a:t>target lift in visit to login on the diverted traffic; sized with the media team once the baseline is set</a:t>
            </a:r>
            <a:endParaRPr lang="en-US" sz="1200" dirty="0"/>
          </a:p>
        </p:txBody>
      </p:sp>
      <p:sp>
        <p:nvSpPr>
          <p:cNvPr id="11" name="Mock placeholder"/>
          <p:cNvSpPr/>
          <p:nvPr/>
        </p:nvSpPr>
        <p:spPr>
          <a:xfrm>
            <a:off x="8321040" y="3474720"/>
            <a:ext cx="3154680" cy="2468880"/>
          </a:xfrm>
          <a:prstGeom prst="roundRect">
            <a:avLst>
              <a:gd name="adj" fmla="val 2963"/>
            </a:avLst>
          </a:prstGeom>
          <a:solidFill>
            <a:srgbClr val="FFFFFF"/>
          </a:solidFill>
          <a:ln w="12700">
            <a:solidFill>
              <a:schemeClr val="accent5"/>
            </a:solidFill>
            <a:prstDash val="dash"/>
          </a:ln>
        </p:spPr>
      </p:sp>
      <p:sp>
        <p:nvSpPr>
          <p:cNvPr id="12" name="Text 10"/>
          <p:cNvSpPr txBox="1"/>
          <p:nvPr/>
        </p:nvSpPr>
        <p:spPr>
          <a:xfrm>
            <a:off x="8321040" y="3474720"/>
            <a:ext cx="3154680" cy="2468880"/>
          </a:xfrm>
          <a:prstGeom prst="rect">
            <a:avLst/>
          </a:prstGeom>
          <a:noFill/>
          <a:ln/>
        </p:spPr>
        <p:txBody>
          <a:bodyPr wrap="square" lIns="0" tIns="0" rIns="0" bIns="0" rtlCol="0" anchor="ctr"/>
          <a:lstStyle/>
          <a:p>
            <a:pPr algn="ctr" indent="0" marL="0">
              <a:buNone/>
            </a:pPr>
            <a:r>
              <a:rPr lang="en-US" sz="1400" dirty="0">
                <a:solidFill>
                  <a:schemeClr val="accent5"/>
                </a:solidFill>
              </a:rPr>
              <a:t>Mock to add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Post-login ideas to float: what can start without a site change</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011680"/>
                <a:gridCol w="2834640"/>
                <a:gridCol w="2651760"/>
                <a:gridCol w="1280160"/>
                <a:gridCol w="2286000"/>
              </a:tblGrid>
              <a:tr h="86868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Observation</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Hypothesis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Uplift a month</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is possible</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r>
              <a:tr h="86868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I1  SIP preselected for SIP-intent entries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SIP choice is 24% on website, 19% on m-site and 10-11% in apps; about 11,700 web purchase starts a month.</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Defaulting to SIP, with lumpsum one tap away, raises SIP choice without cutting purchases.</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+205-340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Needs the invest team: pass an intent flag and change the default.</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86868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I2  Recover failed autopay mandates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1,351 users hit an autopay failure in 30 days; failure rate about 40-60% in apps vs 24% on web.</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UPI AutoPay first, a retry option and a 30-minute nudge recover users who would abandon.</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+270-400 mandates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Nudge can start now as an NVECTA journey on the failure event; on-page retry needs the invest team.</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86868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I3  Pause or lower the amount before cancel</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2,253 cancels vs 483 pauses; 1,622 cancel-page visitors left without cancelling and only 15 paused.</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Offering pause, lower amount or new date turns some cancels into pauses.</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+225-340 SIPs kept</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Nudge to cancel-page visitors can start as a journey; the three-option step needs the invest team.</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86868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I4  First-SIP prompt right after folio creation</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1,811 new folios; 509 made a first SIP within 24 hours (28%), 583 within 7 days (32%); average 1.5 hours to the first SIP.</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A prompt at folio confirmation and a message within an hour converts early intent, as most first SIPs happen on day one.</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+70-145 SIPs</a:t>
                      </a:r>
                      <a:endParaRPr lang="en-US" sz="12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Journey on the folio-created event can start now; the on-page card needs the invest team.</a:t>
                      </a:r>
                      <a:endParaRPr lang="en-US" sz="1100" dirty="0">
                        <a:latin typeface="Calibri" charset="0"/>
                        <a:ea typeface="Calibri" charset="0"/>
                        <a:cs typeface="Calibri" charset="0"/>
                      </a:endParaRPr>
                    </a:p>
                  </a:txBody>
                  <a:tcPr marL="54864" marR="54864"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4"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Journeys use events NVECTA already receives (mf_autopay_failure, folio created, invest page views). On-page changes on the invest site depend on the answers to the feasibility questions.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822960" y="2377440"/>
            <a:ext cx="10515600" cy="1097280"/>
          </a:xfrm>
          <a:prstGeom prst="rect">
            <a:avLst/>
          </a:prstGeom>
          <a:noFill/>
          <a:ln/>
        </p:spPr>
        <p:txBody>
          <a:bodyPr wrap="square" lIns="0" tIns="0" rIns="0" bIns="0" rtlCol="0" anchor="t"/>
          <a:lstStyle/>
          <a:p>
            <a:pPr algn="l" indent="0" marL="0">
              <a:buNone/>
            </a:pPr>
            <a:r>
              <a:rPr lang="en-US" sz="4000" b="1" dirty="0">
                <a:solidFill>
                  <a:schemeClr val="bg1"/>
                </a:solidFill>
              </a:rPr>
              <a:t>Tracking and feasibility</a:t>
            </a:r>
            <a:endParaRPr lang="en-US" sz="4000" dirty="0"/>
          </a:p>
        </p:txBody>
      </p:sp>
      <p:sp>
        <p:nvSpPr>
          <p:cNvPr id="3" name="Text 1"/>
          <p:cNvSpPr/>
          <p:nvPr>
            <p:ph idx="102" type="body" hasCustomPrompt="1"/>
          </p:nvPr>
        </p:nvSpPr>
        <p:spPr>
          <a:xfrm>
            <a:off x="822960" y="3566160"/>
            <a:ext cx="10058400" cy="914400"/>
          </a:xfrm>
          <a:prstGeom prst="rect">
            <a:avLst/>
          </a:prstGeom>
          <a:noFill/>
          <a:ln/>
        </p:spPr>
        <p:txBody>
          <a:bodyPr wrap="square" lIns="0" tIns="0" rIns="0" bIns="0" rtlCol="0" anchor="t"/>
          <a:lstStyle/>
          <a:p>
            <a:pPr algn="l" indent="0" marL="0">
              <a:buNone/>
            </a:pPr>
            <a:r>
              <a:rPr lang="en-US" sz="1800" dirty="0">
                <a:solidFill>
                  <a:schemeClr val="bg2"/>
                </a:solidFill>
              </a:rPr>
              <a:t>What to fix first, and what we need to confirm</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Nine tracking fixes, in plain language</a:t>
            </a:r>
            <a:endParaRPr 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651760"/>
                <a:gridCol w="6035040"/>
                <a:gridCol w="237744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Fix</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is wrong and the simple fix</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unlocks</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2A43"/>
                    </a:solidFill>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1. Join pre-login to post-login</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On the invest site 57% of users are identified, but across the whole site only 2.6%, because www visitors are anonymous. Make sure the user is identified before the first invest event and merged with www history.</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Traces calculator visits to SIPs</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2. One login event</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Web sends login_completed, apps send login_with_otp. Use one event plus a platform tag.</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Clean login rates</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3. One payment-success event</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Website shows 35% from OTP to success on one event, 91% on Charged. Send the same success event everywhere and mark SIP or lumpsum.</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Settles which web number is right</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4. Label every purchase</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Charged has no platform and does not say SIP or lumpsum. Add both, plus fund and amount.</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SIP count by source</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5. Add detail to SIP events</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SIP events carry no fund, amount, frequency or step-up flag.</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SIPs by fund and amount</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6. One mandate result event</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Bank mandate and UPI autopay report differently. Add mandate type and failure reason.</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True failure rate and recovery</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7. Keep campaign source across sites</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Carry UTM and click ids from www to invest.</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Credits SIPs to paid search</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8. Record the test variant</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Add experiment id and variant to key events.</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Needed to read any test</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57200">
                <a:tc>
                  <a:txBody>
                    <a:bodyPr/>
                    <a:lstStyle/>
                    <a:p>
                      <a:pPr indent="0" marL="0">
                        <a:buNone/>
                      </a:pPr>
                      <a:r>
                        <a:rPr lang="en-US" sz="1200" b="1" dirty="0">
                          <a:solidFill>
                            <a:srgbClr val="1B2733"/>
                          </a:solidFill>
                          <a:latin typeface="Calibri" pitchFamily="34" charset="0"/>
                          <a:ea typeface="Calibri" pitchFamily="34" charset="-122"/>
                          <a:cs typeface="Calibri" pitchFamily="34" charset="-120"/>
                        </a:rPr>
                        <a:t>9. Check guest tracking</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7"/>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Guest pages show about 500 users, too few for 90% mobile traffic. Verify the tags fire.</a:t>
                      </a:r>
                      <a:endParaRPr lang="en-US" sz="11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2733"/>
                          </a:solidFill>
                          <a:latin typeface="Calibri" pitchFamily="34" charset="0"/>
                          <a:ea typeface="Calibri" pitchFamily="34" charset="-122"/>
                          <a:cs typeface="Calibri" pitchFamily="34" charset="-120"/>
                        </a:rPr>
                        <a:t>Pre-login visibility</a:t>
                      </a:r>
                      <a:endParaRPr lang="en-US" sz="1200" dirty="0">
                        <a:latin typeface="Calibri" charset="0"/>
                        <a:ea typeface="Calibri" charset="0"/>
                        <a:cs typeface="Calibri" charset="0"/>
                      </a:endParaRPr>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4"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Evidence: NVECTA user type, platform and event breakdowns, saved funnels 3137 and 3178, 14 Sep to 14 Oct 2026. Pre-login tests T1, T2, T4 and T5 need only fixes 7 and 8.</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Before testing after login, we need three answers each</a:t>
            </a:r>
            <a:endParaRPr lang="en-US" sz="2800" dirty="0"/>
          </a:p>
        </p:txBody>
      </p:sp>
      <p:sp>
        <p:nvSpPr>
          <p:cNvPr id="3" name="Question card"/>
          <p:cNvSpPr/>
          <p:nvPr/>
        </p:nvSpPr>
        <p:spPr>
          <a:xfrm>
            <a:off x="548640" y="1371600"/>
            <a:ext cx="5394960" cy="4389120"/>
          </a:xfrm>
          <a:prstGeom prst="roundRect">
            <a:avLst>
              <a:gd name="adj" fmla="val 1667"/>
            </a:avLst>
          </a:prstGeom>
          <a:solidFill>
            <a:schemeClr val="bg2"/>
          </a:solidFill>
          <a:ln/>
        </p:spPr>
      </p:sp>
      <p:sp>
        <p:nvSpPr>
          <p:cNvPr id="4" name="Text 2"/>
          <p:cNvSpPr txBox="1"/>
          <p:nvPr/>
        </p:nvSpPr>
        <p:spPr>
          <a:xfrm>
            <a:off x="777240" y="1508760"/>
            <a:ext cx="493776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For NVECTA</a:t>
            </a:r>
            <a:endParaRPr lang="en-US" sz="1800" dirty="0"/>
          </a:p>
        </p:txBody>
      </p:sp>
      <p:sp>
        <p:nvSpPr>
          <p:cNvPr id="5" name="Text 3"/>
          <p:cNvSpPr txBox="1"/>
          <p:nvPr/>
        </p:nvSpPr>
        <p:spPr>
          <a:xfrm>
            <a:off x="777240" y="2011680"/>
            <a:ext cx="49377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Can web campaigns or A/B tests render on the invest site, which is a single-page app? Is a visual editor supported, or do variants need developer work?</a:t>
            </a:r>
            <a:endParaRPr lang="en-US" sz="1400" dirty="0"/>
          </a:p>
          <a:p>
            <a:pPr marL="342900" indent="-342900">
              <a:spcAft>
                <a:spcPts val="800"/>
              </a:spcAft>
              <a:buSzPct val="100000"/>
              <a:buChar char="•"/>
            </a:pPr>
            <a:r>
              <a:rPr lang="en-US" sz="1400" dirty="0">
                <a:solidFill>
                  <a:schemeClr val="tx1"/>
                </a:solidFill>
              </a:rPr>
              <a:t>Can a variant be assigned by segment or traffic split and reported against SIP events?</a:t>
            </a:r>
            <a:endParaRPr lang="en-US" sz="1400" dirty="0"/>
          </a:p>
          <a:p>
            <a:pPr marL="342900" indent="-342900">
              <a:spcAft>
                <a:spcPts val="800"/>
              </a:spcAft>
              <a:buSzPct val="100000"/>
              <a:buChar char="•"/>
            </a:pPr>
            <a:r>
              <a:rPr lang="en-US" sz="1400" dirty="0">
                <a:solidFill>
                  <a:schemeClr val="tx1"/>
                </a:solidFill>
              </a:rPr>
              <a:t>Can identity carry across the www and invest sites so the same person is one profile?</a:t>
            </a:r>
            <a:endParaRPr lang="en-US" sz="1400" dirty="0"/>
          </a:p>
        </p:txBody>
      </p:sp>
      <p:sp>
        <p:nvSpPr>
          <p:cNvPr id="6" name="Question card"/>
          <p:cNvSpPr/>
          <p:nvPr/>
        </p:nvSpPr>
        <p:spPr>
          <a:xfrm>
            <a:off x="6217920" y="1371600"/>
            <a:ext cx="5394960" cy="4389120"/>
          </a:xfrm>
          <a:prstGeom prst="roundRect">
            <a:avLst>
              <a:gd name="adj" fmla="val 1667"/>
            </a:avLst>
          </a:prstGeom>
          <a:solidFill>
            <a:schemeClr val="bg2"/>
          </a:solidFill>
          <a:ln/>
        </p:spPr>
      </p:sp>
      <p:sp>
        <p:nvSpPr>
          <p:cNvPr id="7" name="Text 5"/>
          <p:cNvSpPr txBox="1"/>
          <p:nvPr/>
        </p:nvSpPr>
        <p:spPr>
          <a:xfrm>
            <a:off x="6446520" y="1508760"/>
            <a:ext cx="493776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For Motilal Oswal AMC</a:t>
            </a:r>
            <a:endParaRPr lang="en-US" sz="1800" dirty="0"/>
          </a:p>
        </p:txBody>
      </p:sp>
      <p:sp>
        <p:nvSpPr>
          <p:cNvPr id="8" name="Text 6"/>
          <p:cNvSpPr txBox="1"/>
          <p:nvPr/>
        </p:nvSpPr>
        <p:spPr>
          <a:xfrm>
            <a:off x="6446520" y="2011680"/>
            <a:ext cx="49377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Is the tracking code on every invest route, and is the user id sent before the first invest event? Why are 43% of invest-site users not identified?</a:t>
            </a:r>
            <a:endParaRPr lang="en-US" sz="1400" dirty="0"/>
          </a:p>
          <a:p>
            <a:pPr marL="342900" indent="-342900">
              <a:spcAft>
                <a:spcPts val="800"/>
              </a:spcAft>
              <a:buSzPct val="100000"/>
              <a:buChar char="•"/>
            </a:pPr>
            <a:r>
              <a:rPr lang="en-US" sz="1400" dirty="0">
                <a:solidFill>
                  <a:schemeClr val="tx1"/>
                </a:solidFill>
              </a:rPr>
              <a:t>Can the team add the missing properties (fund, amount, platform, SIP or lumpsum, mandate type) to the SIP and payment events?</a:t>
            </a:r>
            <a:endParaRPr lang="en-US" sz="1400" dirty="0"/>
          </a:p>
          <a:p>
            <a:pPr marL="342900" indent="-342900">
              <a:spcAft>
                <a:spcPts val="800"/>
              </a:spcAft>
              <a:buSzPct val="100000"/>
              <a:buChar char="•"/>
            </a:pPr>
            <a:r>
              <a:rPr lang="en-US" sz="1400" dirty="0">
                <a:solidFill>
                  <a:schemeClr val="tx1"/>
                </a:solidFill>
              </a:rPr>
              <a:t>Who owns the invest release cycle, and what is the earliest slot for the post-login ideas?</a:t>
            </a:r>
            <a:endParaRPr lang="en-US" sz="1400" dirty="0"/>
          </a:p>
        </p:txBody>
      </p:sp>
      <p:sp>
        <p:nvSpPr>
          <p:cNvPr id="9"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Pre-login tests need none of this. The three post-login journey pilots (I2, I3, I4) use events NVECTA already receives.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800" b="1" dirty="0">
                <a:solidFill>
                  <a:schemeClr val="tx2"/>
                </a:solidFill>
              </a:rPr>
              <a:t>Next steps</a:t>
            </a:r>
            <a:endParaRPr lang="en-US" sz="2800" dirty="0"/>
          </a:p>
        </p:txBody>
      </p:sp>
      <p:sp>
        <p:nvSpPr>
          <p:cNvPr id="3" name="Step card"/>
          <p:cNvSpPr/>
          <p:nvPr/>
        </p:nvSpPr>
        <p:spPr>
          <a:xfrm>
            <a:off x="548640" y="1554480"/>
            <a:ext cx="2606040" cy="3566160"/>
          </a:xfrm>
          <a:prstGeom prst="roundRect">
            <a:avLst>
              <a:gd name="adj" fmla="val 2807"/>
            </a:avLst>
          </a:prstGeom>
          <a:solidFill>
            <a:schemeClr val="bg2"/>
          </a:solidFill>
          <a:ln/>
        </p:spPr>
      </p:sp>
      <p:sp>
        <p:nvSpPr>
          <p:cNvPr id="4" name="Step number"/>
          <p:cNvSpPr/>
          <p:nvPr/>
        </p:nvSpPr>
        <p:spPr>
          <a:xfrm>
            <a:off x="777240" y="1783080"/>
            <a:ext cx="502920" cy="502920"/>
          </a:xfrm>
          <a:prstGeom prst="ellipse">
            <a:avLst/>
          </a:prstGeom>
          <a:solidFill>
            <a:schemeClr val="tx2"/>
          </a:solidFill>
          <a:ln w="12700">
            <a:solidFill>
              <a:schemeClr val="tx2"/>
            </a:solidFill>
            <a:prstDash val="solid"/>
          </a:ln>
        </p:spPr>
      </p:sp>
      <p:sp>
        <p:nvSpPr>
          <p:cNvPr id="5" name="Text 3"/>
          <p:cNvSpPr txBox="1"/>
          <p:nvPr/>
        </p:nvSpPr>
        <p:spPr>
          <a:xfrm>
            <a:off x="777240" y="17830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77240" y="2468880"/>
            <a:ext cx="214884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This week</a:t>
            </a:r>
            <a:endParaRPr lang="en-US" sz="2000" dirty="0"/>
          </a:p>
        </p:txBody>
      </p:sp>
      <p:sp>
        <p:nvSpPr>
          <p:cNvPr id="7" name="Text 5"/>
          <p:cNvSpPr txBox="1"/>
          <p:nvPr/>
        </p:nvSpPr>
        <p:spPr>
          <a:xfrm>
            <a:off x="777240" y="2926080"/>
            <a:ext cx="2148840" cy="2103120"/>
          </a:xfrm>
          <a:prstGeom prst="rect">
            <a:avLst/>
          </a:prstGeom>
          <a:noFill/>
          <a:ln/>
        </p:spPr>
        <p:txBody>
          <a:bodyPr wrap="square" lIns="0" tIns="0" rIns="0" bIns="0" rtlCol="0" anchor="t"/>
          <a:lstStyle/>
          <a:p>
            <a:pPr indent="0" marL="0">
              <a:buNone/>
            </a:pPr>
            <a:r>
              <a:rPr lang="en-US" sz="1400" dirty="0">
                <a:solidFill>
                  <a:schemeClr val="tx1"/>
                </a:solidFill>
              </a:rPr>
              <a:t>Agree tracking fixes 7 and 8 with dev; get answers to the six questions; build T1, T2 and T3</a:t>
            </a:r>
            <a:endParaRPr lang="en-US" sz="1400" dirty="0"/>
          </a:p>
        </p:txBody>
      </p:sp>
      <p:sp>
        <p:nvSpPr>
          <p:cNvPr id="8" name="Step card"/>
          <p:cNvSpPr/>
          <p:nvPr/>
        </p:nvSpPr>
        <p:spPr>
          <a:xfrm>
            <a:off x="3367735" y="1554480"/>
            <a:ext cx="2606040" cy="3566160"/>
          </a:xfrm>
          <a:prstGeom prst="roundRect">
            <a:avLst>
              <a:gd name="adj" fmla="val 2807"/>
            </a:avLst>
          </a:prstGeom>
          <a:solidFill>
            <a:schemeClr val="bg2"/>
          </a:solidFill>
          <a:ln/>
        </p:spPr>
      </p:sp>
      <p:sp>
        <p:nvSpPr>
          <p:cNvPr id="9" name="Step number"/>
          <p:cNvSpPr/>
          <p:nvPr/>
        </p:nvSpPr>
        <p:spPr>
          <a:xfrm>
            <a:off x="3596335" y="1783080"/>
            <a:ext cx="502920" cy="502920"/>
          </a:xfrm>
          <a:prstGeom prst="ellipse">
            <a:avLst/>
          </a:prstGeom>
          <a:solidFill>
            <a:schemeClr val="tx2"/>
          </a:solidFill>
          <a:ln w="12700">
            <a:solidFill>
              <a:schemeClr val="tx2"/>
            </a:solidFill>
            <a:prstDash val="solid"/>
          </a:ln>
        </p:spPr>
      </p:sp>
      <p:sp>
        <p:nvSpPr>
          <p:cNvPr id="10" name="Text 8"/>
          <p:cNvSpPr txBox="1"/>
          <p:nvPr/>
        </p:nvSpPr>
        <p:spPr>
          <a:xfrm>
            <a:off x="3596335" y="17830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3596335" y="2468880"/>
            <a:ext cx="214884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Next week</a:t>
            </a:r>
            <a:endParaRPr lang="en-US" sz="2000" dirty="0"/>
          </a:p>
        </p:txBody>
      </p:sp>
      <p:sp>
        <p:nvSpPr>
          <p:cNvPr id="12" name="Text 10"/>
          <p:cNvSpPr txBox="1"/>
          <p:nvPr/>
        </p:nvSpPr>
        <p:spPr>
          <a:xfrm>
            <a:off x="3596335" y="2926080"/>
            <a:ext cx="2148840" cy="2103120"/>
          </a:xfrm>
          <a:prstGeom prst="rect">
            <a:avLst/>
          </a:prstGeom>
          <a:noFill/>
          <a:ln/>
        </p:spPr>
        <p:txBody>
          <a:bodyPr wrap="square" lIns="0" tIns="0" rIns="0" bIns="0" rtlCol="0" anchor="t"/>
          <a:lstStyle/>
          <a:p>
            <a:pPr indent="0" marL="0">
              <a:buNone/>
            </a:pPr>
            <a:r>
              <a:rPr lang="en-US" sz="1400" dirty="0">
                <a:solidFill>
                  <a:schemeClr val="tx1"/>
                </a:solidFill>
              </a:rPr>
              <a:t>Launch T1 to T3; build T4 to T6; share survey IDs so we can add customer verbatims</a:t>
            </a:r>
            <a:endParaRPr lang="en-US" sz="1400" dirty="0"/>
          </a:p>
        </p:txBody>
      </p:sp>
      <p:sp>
        <p:nvSpPr>
          <p:cNvPr id="13" name="Step card"/>
          <p:cNvSpPr/>
          <p:nvPr/>
        </p:nvSpPr>
        <p:spPr>
          <a:xfrm>
            <a:off x="6186830" y="1554480"/>
            <a:ext cx="2606040" cy="3566160"/>
          </a:xfrm>
          <a:prstGeom prst="roundRect">
            <a:avLst>
              <a:gd name="adj" fmla="val 2807"/>
            </a:avLst>
          </a:prstGeom>
          <a:solidFill>
            <a:schemeClr val="bg2"/>
          </a:solidFill>
          <a:ln/>
        </p:spPr>
      </p:sp>
      <p:sp>
        <p:nvSpPr>
          <p:cNvPr id="14" name="Step number"/>
          <p:cNvSpPr/>
          <p:nvPr/>
        </p:nvSpPr>
        <p:spPr>
          <a:xfrm>
            <a:off x="6415430" y="1783080"/>
            <a:ext cx="502920" cy="502920"/>
          </a:xfrm>
          <a:prstGeom prst="ellipse">
            <a:avLst/>
          </a:prstGeom>
          <a:solidFill>
            <a:schemeClr val="tx2"/>
          </a:solidFill>
          <a:ln w="12700">
            <a:solidFill>
              <a:schemeClr val="tx2"/>
            </a:solidFill>
            <a:prstDash val="solid"/>
          </a:ln>
        </p:spPr>
      </p:sp>
      <p:sp>
        <p:nvSpPr>
          <p:cNvPr id="15" name="Text 13"/>
          <p:cNvSpPr txBox="1"/>
          <p:nvPr/>
        </p:nvSpPr>
        <p:spPr>
          <a:xfrm>
            <a:off x="6415430" y="17830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4"/>
          <p:cNvSpPr txBox="1"/>
          <p:nvPr/>
        </p:nvSpPr>
        <p:spPr>
          <a:xfrm>
            <a:off x="6415430" y="2468880"/>
            <a:ext cx="214884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Week 3</a:t>
            </a:r>
            <a:endParaRPr lang="en-US" sz="2000" dirty="0"/>
          </a:p>
        </p:txBody>
      </p:sp>
      <p:sp>
        <p:nvSpPr>
          <p:cNvPr id="17" name="Text 15"/>
          <p:cNvSpPr txBox="1"/>
          <p:nvPr/>
        </p:nvSpPr>
        <p:spPr>
          <a:xfrm>
            <a:off x="6415430" y="2926080"/>
            <a:ext cx="2148840" cy="2103120"/>
          </a:xfrm>
          <a:prstGeom prst="rect">
            <a:avLst/>
          </a:prstGeom>
          <a:noFill/>
          <a:ln/>
        </p:spPr>
        <p:txBody>
          <a:bodyPr wrap="square" lIns="0" tIns="0" rIns="0" bIns="0" rtlCol="0" anchor="t"/>
          <a:lstStyle/>
          <a:p>
            <a:pPr indent="0" marL="0">
              <a:buNone/>
            </a:pPr>
            <a:r>
              <a:rPr lang="en-US" sz="1400" dirty="0">
                <a:solidFill>
                  <a:schemeClr val="tx1"/>
                </a:solidFill>
              </a:rPr>
              <a:t>Launch T4 to T6; build T7; pilot the I2 and I4 journeys with no site change</a:t>
            </a:r>
            <a:endParaRPr lang="en-US" sz="1400" dirty="0"/>
          </a:p>
        </p:txBody>
      </p:sp>
      <p:sp>
        <p:nvSpPr>
          <p:cNvPr id="18" name="Step card"/>
          <p:cNvSpPr/>
          <p:nvPr/>
        </p:nvSpPr>
        <p:spPr>
          <a:xfrm>
            <a:off x="9005926" y="1554480"/>
            <a:ext cx="2606040" cy="3566160"/>
          </a:xfrm>
          <a:prstGeom prst="roundRect">
            <a:avLst>
              <a:gd name="adj" fmla="val 2807"/>
            </a:avLst>
          </a:prstGeom>
          <a:solidFill>
            <a:schemeClr val="bg2"/>
          </a:solidFill>
          <a:ln/>
        </p:spPr>
      </p:sp>
      <p:sp>
        <p:nvSpPr>
          <p:cNvPr id="19" name="Step number"/>
          <p:cNvSpPr/>
          <p:nvPr/>
        </p:nvSpPr>
        <p:spPr>
          <a:xfrm>
            <a:off x="9234526" y="1783080"/>
            <a:ext cx="502920" cy="502920"/>
          </a:xfrm>
          <a:prstGeom prst="ellipse">
            <a:avLst/>
          </a:prstGeom>
          <a:solidFill>
            <a:schemeClr val="tx2"/>
          </a:solidFill>
          <a:ln w="12700">
            <a:solidFill>
              <a:schemeClr val="tx2"/>
            </a:solidFill>
            <a:prstDash val="solid"/>
          </a:ln>
        </p:spPr>
      </p:sp>
      <p:sp>
        <p:nvSpPr>
          <p:cNvPr id="20" name="Text 18"/>
          <p:cNvSpPr txBox="1"/>
          <p:nvPr/>
        </p:nvSpPr>
        <p:spPr>
          <a:xfrm>
            <a:off x="9234526" y="17830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 19"/>
          <p:cNvSpPr txBox="1"/>
          <p:nvPr/>
        </p:nvSpPr>
        <p:spPr>
          <a:xfrm>
            <a:off x="9234526" y="2468880"/>
            <a:ext cx="2148840" cy="36576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Week 4</a:t>
            </a:r>
            <a:endParaRPr lang="en-US" sz="2000" dirty="0"/>
          </a:p>
        </p:txBody>
      </p:sp>
      <p:sp>
        <p:nvSpPr>
          <p:cNvPr id="22" name="Text 20"/>
          <p:cNvSpPr txBox="1"/>
          <p:nvPr/>
        </p:nvSpPr>
        <p:spPr>
          <a:xfrm>
            <a:off x="9234526" y="2926080"/>
            <a:ext cx="2148840" cy="2103120"/>
          </a:xfrm>
          <a:prstGeom prst="rect">
            <a:avLst/>
          </a:prstGeom>
          <a:noFill/>
          <a:ln/>
        </p:spPr>
        <p:txBody>
          <a:bodyPr wrap="square" lIns="0" tIns="0" rIns="0" bIns="0" rtlCol="0" anchor="t"/>
          <a:lstStyle/>
          <a:p>
            <a:pPr indent="0" marL="0">
              <a:buNone/>
            </a:pPr>
            <a:r>
              <a:rPr lang="en-US" sz="1400" dirty="0">
                <a:solidFill>
                  <a:schemeClr val="tx1"/>
                </a:solidFill>
              </a:rPr>
              <a:t>Read T1 to T3, roll out winners, and choose problem two for the same cadence</a:t>
            </a:r>
            <a:endParaRPr lang="en-US" sz="1400" dirty="0"/>
          </a:p>
        </p:txBody>
      </p:sp>
      <p:sp>
        <p:nvSpPr>
          <p:cNvPr id="23" name="Source note"/>
          <p:cNvSpPr txBox="1"/>
          <p:nvPr/>
        </p:nvSpPr>
        <p:spPr>
          <a:xfrm>
            <a:off x="548640" y="5989320"/>
            <a:ext cx="10424160" cy="365760"/>
          </a:xfrm>
          <a:prstGeom prst="rect">
            <a:avLst/>
          </a:prstGeom>
          <a:noFill/>
          <a:ln/>
        </p:spPr>
        <p:txBody>
          <a:bodyPr wrap="square" lIns="0" tIns="0" rIns="0" bIns="0" rtlCol="0" anchor="t"/>
          <a:lstStyle/>
          <a:p>
            <a:pPr indent="0" marL="0">
              <a:buNone/>
            </a:pPr>
            <a:r>
              <a:rPr lang="en-US" sz="1000" dirty="0">
                <a:solidFill>
                  <a:schemeClr val="accent5"/>
                </a:solidFill>
              </a:rPr>
              <a:t>Timeline follows the committed cadence of 2-3 tests a week; it moves only if the site team cannot meet the 1-3 day build time.</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A3"/>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SIP Growth Review">
  <a:themeElements>
    <a:clrScheme name="SIP Growth Review">
      <a:dk1>
        <a:srgbClr val="1B2733"/>
      </a:dk1>
      <a:lt1>
        <a:srgbClr val="FFFFFF"/>
      </a:lt1>
      <a:dk2>
        <a:srgbClr val="0F2A43"/>
      </a:dk2>
      <a:lt2>
        <a:srgbClr val="EEF3F7"/>
      </a:lt2>
      <a:accent1>
        <a:srgbClr val="1F6F8B"/>
      </a:accent1>
      <a:accent2>
        <a:srgbClr val="F2A33A"/>
      </a:accent2>
      <a:accent3>
        <a:srgbClr val="D8504D"/>
      </a:accent3>
      <a:accent4>
        <a:srgbClr val="2E8B6A"/>
      </a:accent4>
      <a:accent5>
        <a:srgbClr val="7A8CA3"/>
      </a:accent5>
      <a:accent6>
        <a:srgbClr val="5B4B8A"/>
      </a:accent6>
      <a:hlink>
        <a:srgbClr val="1F6F8B"/>
      </a:hlink>
      <a:folHlink>
        <a:srgbClr val="5B4B8A"/>
      </a:folHlink>
    </a:clrScheme>
    <a:fontScheme name="SIP Growth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 growth: analytics, competitors and test programme</dc:title>
  <dc:subject>PptxGenJS Presentation</dc:subject>
  <dc:creator>Motilal Oswal AMC - digital optimisation</dc:creator>
  <cp:lastModifiedBy>Motilal Oswal AMC - digital optimisation</cp:lastModifiedBy>
  <cp:revision>1</cp:revision>
  <dcterms:created xsi:type="dcterms:W3CDTF">2026-10-14T03:09:10Z</dcterms:created>
  <dcterms:modified xsi:type="dcterms:W3CDTF">2026-10-14T03:09:10Z</dcterms:modified>
</cp:coreProperties>
</file>