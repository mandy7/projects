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c495be3-db78-90be-663c-10383dbdca21}">
          <p14:sldIdLst>
            <p14:sldId id="256"/>
            <p14:sldId id="257"/>
          </p14:sldIdLst>
        </p14:section>
        <p14:section name="What the data says" id="{7ef1189d-879e-64a9-1050-0d66a99b8221}">
          <p14:sldIdLst>
            <p14:sldId id="258"/>
            <p14:sldId id="259"/>
            <p14:sldId id="260"/>
            <p14:sldId id="261"/>
            <p14:sldId id="262"/>
          </p14:sldIdLst>
        </p14:section>
        <p14:section name="Competitors" id="{cfd08d26-fcee-5952-1abe-136dc792e329}">
          <p14:sldIdLst>
            <p14:sldId id="263"/>
            <p14:sldId id="264"/>
            <p14:sldId id="265"/>
          </p14:sldIdLst>
        </p14:section>
        <p14:section name="Test recommendations" id="{c939620c-e3d0-1042-9b7d-5f6c919ace6f}">
          <p14:sldIdLst>
            <p14:sldId id="266"/>
            <p14:sldId id="267"/>
            <p14:sldId id="268"/>
            <p14:sldId id="269"/>
            <p14:sldId id="270"/>
            <p14:sldId id="271"/>
            <p14:sldId id="272"/>
            <p14:sldId id="273"/>
            <p14:sldId id="274"/>
          </p14:sldIdLst>
        </p14:section>
        <p14:section name="Tracking" id="{ccca0172-d7a4-6ece-8f70-b6871737a817}">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733"/>
                </a:solidFill>
                <a:latin typeface="+mn-lt"/>
              </a:defRPr>
            </a:pPr>
            <a:r>
              <a:rPr sz="1400" b="0" i="0" u="none" strike="noStrike">
                <a:solidFill>
                  <a:srgbClr val="1B2733"/>
                </a:solidFill>
                <a:latin typeface="+mn-lt"/>
              </a:rPr>
              <a:t>Share of purchase starters who reach the SIP step</a:t>
            </a:r>
          </a:p>
        </c:rich>
      </c:tx>
      <c:layout/>
      <c:overlay val="0"/>
    </c:title>
    <c:autoTitleDeleted val="0"/>
    <c:plotArea>
      <c:layout/>
      <c:barChart>
        <c:barDir val="col"/>
        <c:grouping val="clustered"/>
        <c:varyColors val="0"/>
        <c:ser>
          <c:idx val="0"/>
          <c:order val="0"/>
          <c:tx>
            <c:strRef>
              <c:f>Sheet1!$B$1</c:f>
              <c:strCache>
                <c:ptCount val="1"/>
                <c:pt idx="0">
                  <c:v>Choose SIP</c:v>
                </c:pt>
              </c:strCache>
            </c:strRef>
          </c:tx>
          <c:spPr>
            <a:solidFill>
              <a:srgbClr val="1F6F8B"/>
            </a:solidFill>
            <a:effectLst/>
          </c:spPr>
          <c:invertIfNegative val="0"/>
          <c:dLbls>
            <c:numFmt formatCode="0.0&quot;%&quot;" sourceLinked="0"/>
            <c:txPr>
              <a:bodyPr/>
              <a:lstStyle/>
              <a:p>
                <a:pPr>
                  <a:defRPr b="1" i="0" strike="noStrike" sz="1200" u="none">
                    <a:solidFill>
                      <a:srgbClr val="1B2733"/>
                    </a:solidFill>
                    <a:latin typeface="+mn-lt"/>
                  </a:defRPr>
                </a:pPr>
              </a:p>
            </c:txPr>
            <c:showLegendKey val="0"/>
            <c:showVal val="1"/>
            <c:showCatName val="0"/>
            <c:showSerName val="0"/>
            <c:showPercent val="0"/>
            <c:showBubbleSize val="0"/>
            <c:showLeaderLines val="0"/>
          </c:dLbls>
          <c:dPt>
            <c:idx val="0"/>
            <c:invertIfNegative val="0"/>
            <c:bubble3D val="0"/>
            <c:spPr>
              <a:solidFill>
                <a:srgbClr val="1F6F8B"/>
              </a:solidFill>
              <a:effectLst/>
            </c:spPr>
          </c:dPt>
          <c:dPt>
            <c:idx val="1"/>
            <c:invertIfNegative val="0"/>
            <c:bubble3D val="0"/>
            <c:spPr>
              <a:solidFill>
                <a:srgbClr val="1F6F8B"/>
              </a:solidFill>
              <a:effectLst/>
            </c:spPr>
          </c:dPt>
          <c:dPt>
            <c:idx val="2"/>
            <c:invertIfNegative val="0"/>
            <c:bubble3D val="0"/>
            <c:spPr>
              <a:solidFill>
                <a:srgbClr val="D8504D"/>
              </a:solidFill>
              <a:effectLst/>
            </c:spPr>
          </c:dPt>
          <c:dPt>
            <c:idx val="3"/>
            <c:invertIfNegative val="0"/>
            <c:bubble3D val="0"/>
            <c:spPr>
              <a:solidFill>
                <a:srgbClr val="D8504D"/>
              </a:solidFill>
              <a:effectLst/>
            </c:spPr>
          </c:dPt>
          <c:cat>
            <c:multiLvlStrRef>
              <c:f>Sheet1!$A$2:$A$5</c:f>
              <c:multiLvlStrCache>
                <c:ptCount val="4"/>
                <c:lvl>
                  <c:pt idx="0">
                    <c:v>Website</c:v>
                  </c:pt>
                  <c:pt idx="1">
                    <c:v>m-site</c:v>
                  </c:pt>
                  <c:pt idx="2">
                    <c:v>Android app</c:v>
                  </c:pt>
                  <c:pt idx="3">
                    <c:v>iOS app</c:v>
                  </c:pt>
                </c:lvl>
              </c:multiLvlStrCache>
            </c:multiLvlStrRef>
          </c:cat>
          <c:val>
            <c:numRef>
              <c:f>Sheet1!$B$2:$B$5</c:f>
              <c:numCache>
                <c:formatCode>General</c:formatCode>
                <c:ptCount val="4"/>
                <c:pt idx="0">
                  <c:v>23.8</c:v>
                </c:pt>
                <c:pt idx="1">
                  <c:v>19</c:v>
                </c:pt>
                <c:pt idx="2">
                  <c:v>11.2</c:v>
                </c:pt>
                <c:pt idx="3">
                  <c:v>10.5</c:v>
                </c:pt>
              </c:numCache>
            </c:numRef>
          </c:val>
        </c:ser>
        <c:dLbls>
          <c:numFmt formatCode="0.0&quot;%&quot;" sourceLinked="0"/>
          <c:txPr>
            <a:bodyPr/>
            <a:lstStyle/>
            <a:p>
              <a:pPr>
                <a:defRPr b="1" i="0" strike="noStrike" sz="1200" u="none">
                  <a:solidFill>
                    <a:srgbClr val="1B2733"/>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3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733"/>
                </a:solidFill>
                <a:latin typeface="+mn-lt"/>
              </a:defRPr>
            </a:pPr>
            <a:r>
              <a:rPr sz="1400" b="0" i="0" u="none" strike="noStrike">
                <a:solidFill>
                  <a:srgbClr val="1B2733"/>
                </a:solidFill>
                <a:latin typeface="+mn-lt"/>
              </a:rPr>
              <a:t>Top pre-login pages by page views (30 days)</a:t>
            </a:r>
          </a:p>
        </c:rich>
      </c:tx>
      <c:layout/>
      <c:overlay val="0"/>
    </c:title>
    <c:autoTitleDeleted val="0"/>
    <c:plotArea>
      <c:layout/>
      <c:barChart>
        <c:barDir val="bar"/>
        <c:grouping val="clustered"/>
        <c:varyColors val="0"/>
        <c:ser>
          <c:idx val="0"/>
          <c:order val="0"/>
          <c:tx>
            <c:strRef>
              <c:f>Sheet1!$B$1</c:f>
              <c:strCache>
                <c:ptCount val="1"/>
                <c:pt idx="0">
                  <c:v>Page views (k)</c:v>
                </c:pt>
              </c:strCache>
            </c:strRef>
          </c:tx>
          <c:spPr>
            <a:solidFill>
              <a:srgbClr val="1F6F8B"/>
            </a:solidFill>
            <a:effectLst/>
          </c:spPr>
          <c:invertIfNegative val="0"/>
          <c:dLbls>
            <c:numFmt formatCode="0&quot;k&quot;" sourceLinked="0"/>
            <c:txPr>
              <a:bodyPr/>
              <a:lstStyle/>
              <a:p>
                <a:pPr>
                  <a:defRPr b="1" i="0" strike="noStrike" sz="1200" u="none">
                    <a:solidFill>
                      <a:srgbClr val="1B2733"/>
                    </a:solidFill>
                    <a:latin typeface="+mn-lt"/>
                  </a:defRPr>
                </a:pPr>
              </a:p>
            </c:txPr>
            <c:showLegendKey val="0"/>
            <c:showVal val="1"/>
            <c:showCatName val="0"/>
            <c:showSerName val="0"/>
            <c:showPercent val="0"/>
            <c:showBubbleSize val="0"/>
            <c:showLeaderLines val="0"/>
          </c:dLbls>
          <c:cat>
            <c:multiLvlStrRef>
              <c:f>Sheet1!$A$2:$A$11</c:f>
              <c:multiLvlStrCache>
                <c:ptCount val="10"/>
                <c:lvl>
                  <c:pt idx="0">
                    <c:v>SIP calculator</c:v>
                  </c:pt>
                  <c:pt idx="1">
                    <c:v>Special Opportunities Fund</c:v>
                  </c:pt>
                  <c:pt idx="2">
                    <c:v>Defence Index Fund</c:v>
                  </c:pt>
                  <c:pt idx="3">
                    <c:v>Midcap 150 Momentum 30</c:v>
                  </c:pt>
                  <c:pt idx="4">
                    <c:v>REITs &amp; Realty Index</c:v>
                  </c:pt>
                  <c:pt idx="5">
                    <c:v>Focused Fund</c:v>
                  </c:pt>
                  <c:pt idx="6">
                    <c:v>Enhanced Value Index</c:v>
                  </c:pt>
                  <c:pt idx="7">
                    <c:v>Innovation Opportunities</c:v>
                  </c:pt>
                  <c:pt idx="8">
                    <c:v>Midcap Fund</c:v>
                  </c:pt>
                  <c:pt idx="9">
                    <c:v>Login page</c:v>
                  </c:pt>
                </c:lvl>
              </c:multiLvlStrCache>
            </c:multiLvlStrRef>
          </c:cat>
          <c:val>
            <c:numRef>
              <c:f>Sheet1!$B$2:$B$11</c:f>
              <c:numCache>
                <c:formatCode>General</c:formatCode>
                <c:ptCount val="10"/>
                <c:pt idx="0">
                  <c:v>350</c:v>
                </c:pt>
                <c:pt idx="1">
                  <c:v>318</c:v>
                </c:pt>
                <c:pt idx="2">
                  <c:v>284</c:v>
                </c:pt>
                <c:pt idx="3">
                  <c:v>234</c:v>
                </c:pt>
                <c:pt idx="4">
                  <c:v>211</c:v>
                </c:pt>
                <c:pt idx="5">
                  <c:v>211</c:v>
                </c:pt>
                <c:pt idx="6">
                  <c:v>211</c:v>
                </c:pt>
                <c:pt idx="7">
                  <c:v>194</c:v>
                </c:pt>
                <c:pt idx="8">
                  <c:v>130</c:v>
                </c:pt>
                <c:pt idx="9">
                  <c:v>117</c:v>
                </c:pt>
              </c:numCache>
            </c:numRef>
          </c:val>
        </c:ser>
        <c:dLbls>
          <c:numFmt formatCode="0&quot;k&quot;" sourceLinked="0"/>
          <c:txPr>
            <a:bodyPr/>
            <a:lstStyle/>
            <a:p>
              <a:pPr>
                <a:defRPr b="1" i="0" strike="noStrike" sz="1200" u="none">
                  <a:solidFill>
                    <a:srgbClr val="1B2733"/>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42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2733"/>
                </a:solidFill>
                <a:latin typeface="+mn-lt"/>
              </a:defRPr>
            </a:pPr>
            <a:r>
              <a:rPr sz="1400" b="0" i="0" u="none" strike="noStrike">
                <a:solidFill>
                  <a:srgbClr val="1B2733"/>
                </a:solidFill>
                <a:latin typeface="+mn-lt"/>
              </a:rPr>
              <a:t>Autopay failure rate: failures / (successes + failures)</a:t>
            </a:r>
          </a:p>
        </c:rich>
      </c:tx>
      <c:layout/>
      <c:overlay val="0"/>
    </c:title>
    <c:autoTitleDeleted val="0"/>
    <c:plotArea>
      <c:layout/>
      <c:barChart>
        <c:barDir val="col"/>
        <c:grouping val="clustered"/>
        <c:varyColors val="0"/>
        <c:ser>
          <c:idx val="0"/>
          <c:order val="0"/>
          <c:tx>
            <c:strRef>
              <c:f>Sheet1!$B$1</c:f>
              <c:strCache>
                <c:ptCount val="1"/>
                <c:pt idx="0">
                  <c:v>Mandate events only</c:v>
                </c:pt>
              </c:strCache>
            </c:strRef>
          </c:tx>
          <c:spPr>
            <a:solidFill>
              <a:srgbClr val="D8504D"/>
            </a:solidFill>
            <a:effectLst/>
          </c:spPr>
          <c:invertIfNegative val="0"/>
          <c:dLbls>
            <c:numFmt formatCode="0&quot;%&quot;" sourceLinked="0"/>
            <c:txPr>
              <a:bodyPr/>
              <a:lstStyle/>
              <a:p>
                <a:pPr>
                  <a:defRPr b="1" i="0" strike="noStrike" sz="1200" u="none">
                    <a:solidFill>
                      <a:srgbClr val="1B2733"/>
                    </a:solidFill>
                    <a:latin typeface="+mn-lt"/>
                  </a:defRPr>
                </a:pPr>
              </a:p>
            </c:txPr>
            <c:showLegendKey val="0"/>
            <c:showVal val="1"/>
            <c:showCatName val="0"/>
            <c:showSerName val="0"/>
            <c:showPercent val="0"/>
            <c:showBubbleSize val="0"/>
            <c:showLeaderLines val="0"/>
          </c:dLbls>
          <c:cat>
            <c:multiLvlStrRef>
              <c:f>Sheet1!$A$2:$A$5</c:f>
              <c:multiLvlStrCache>
                <c:ptCount val="4"/>
                <c:lvl>
                  <c:pt idx="0">
                    <c:v>Android app</c:v>
                  </c:pt>
                  <c:pt idx="1">
                    <c:v>iOS app</c:v>
                  </c:pt>
                  <c:pt idx="2">
                    <c:v>Website</c:v>
                  </c:pt>
                  <c:pt idx="3">
                    <c:v>m-site</c:v>
                  </c:pt>
                </c:lvl>
              </c:multiLvlStrCache>
            </c:multiLvlStrRef>
          </c:cat>
          <c:val>
            <c:numRef>
              <c:f>Sheet1!$B$2:$B$5</c:f>
              <c:numCache>
                <c:formatCode>General</c:formatCode>
                <c:ptCount val="4"/>
                <c:pt idx="0">
                  <c:v>60.2</c:v>
                </c:pt>
                <c:pt idx="1">
                  <c:v>55.8</c:v>
                </c:pt>
                <c:pt idx="2">
                  <c:v>23.9</c:v>
                </c:pt>
                <c:pt idx="3">
                  <c:v>25.3</c:v>
                </c:pt>
              </c:numCache>
            </c:numRef>
          </c:val>
        </c:ser>
        <c:ser>
          <c:idx val="1"/>
          <c:order val="1"/>
          <c:tx>
            <c:strRef>
              <c:f>Sheet1!$C$1</c:f>
              <c:strCache>
                <c:ptCount val="1"/>
                <c:pt idx="0">
                  <c:v>Including UPI autopay successes</c:v>
                </c:pt>
              </c:strCache>
            </c:strRef>
          </c:tx>
          <c:spPr>
            <a:solidFill>
              <a:srgbClr val="7A8CA3"/>
            </a:solidFill>
            <a:effectLst/>
          </c:spPr>
          <c:invertIfNegative val="0"/>
          <c:dLbls>
            <c:numFmt formatCode="0&quot;%&quot;" sourceLinked="0"/>
            <c:txPr>
              <a:bodyPr/>
              <a:lstStyle/>
              <a:p>
                <a:pPr>
                  <a:defRPr b="1" i="0" strike="noStrike" sz="1200" u="none">
                    <a:solidFill>
                      <a:srgbClr val="1B2733"/>
                    </a:solidFill>
                    <a:latin typeface="+mn-lt"/>
                  </a:defRPr>
                </a:pPr>
              </a:p>
            </c:txPr>
            <c:showLegendKey val="0"/>
            <c:showVal val="1"/>
            <c:showCatName val="0"/>
            <c:showSerName val="0"/>
            <c:showPercent val="0"/>
            <c:showBubbleSize val="0"/>
            <c:showLeaderLines val="0"/>
          </c:dLbls>
          <c:cat>
            <c:multiLvlStrRef>
              <c:f>Sheet1!$A$2:$A$5</c:f>
              <c:multiLvlStrCache>
                <c:ptCount val="4"/>
                <c:lvl>
                  <c:pt idx="0">
                    <c:v>Android app</c:v>
                  </c:pt>
                  <c:pt idx="1">
                    <c:v>iOS app</c:v>
                  </c:pt>
                  <c:pt idx="2">
                    <c:v>Website</c:v>
                  </c:pt>
                  <c:pt idx="3">
                    <c:v>m-site</c:v>
                  </c:pt>
                </c:lvl>
              </c:multiLvlStrCache>
            </c:multiLvlStrRef>
          </c:cat>
          <c:val>
            <c:numRef>
              <c:f>Sheet1!$C$2:$C$5</c:f>
              <c:numCache>
                <c:formatCode>General</c:formatCode>
                <c:ptCount val="4"/>
                <c:pt idx="0">
                  <c:v>40.5</c:v>
                </c:pt>
                <c:pt idx="1">
                  <c:v>40.2</c:v>
                </c:pt>
                <c:pt idx="2">
                  <c:v>23.9</c:v>
                </c:pt>
                <c:pt idx="3">
                  <c:v>25.3</c:v>
                </c:pt>
              </c:numCache>
            </c:numRef>
          </c:val>
        </c:ser>
        <c:dLbls>
          <c:numFmt formatCode="0&quot;%&quot;" sourceLinked="0"/>
          <c:txPr>
            <a:bodyPr/>
            <a:lstStyle/>
            <a:p>
              <a:pPr>
                <a:defRPr b="1" i="0" strike="noStrike" sz="1200" u="none">
                  <a:solidFill>
                    <a:srgbClr val="1B2733"/>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2"/>
        <c:crosses val="autoZero"/>
        <c:auto val="1"/>
        <c:lblAlgn val="ctr"/>
        <c:noMultiLvlLbl val="1"/>
      </c:catAx>
      <c:valAx>
        <c:axId val="2094734552"/>
        <c:scaling>
          <c:orientation val="minMax"/>
          <c:max val="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1B273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7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window for all NVECTA numbers: 14 Sep to 14 Oct 2026 unless stated. Competitor evidence: scheduled page snapshots (desktop) plus public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calculator funnel's login step uses page views containing 'login'. The 'login' event itself shows 1 user because web uses login_completed and apps use login_with_otp.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Caveats: snapshots are desktop only (90% of our traffic is mobile). The full-page screenshots of our own pages were captured with the mega-menu open, so above-the-fold content on our pages should be confirmed by hand on a phone. The home Quick Actions section was not itemised in the snapshot. HDFC disallows automated access in robots.txt, so it was skipped. Axis, ABSL and ICICI run Adobe Target; ICICI home hero and ABSL home fund cards varied between sessions (likely carousel rotation or personalisation, not a confirmed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login visits x 7.8% reach the SIP step x 73.6% charged (fund-page path ratios used as a proxy). 1,100*0.0574=63; 2,200*0.0574=126.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19,819 login visits from fund pages x 10-20% x 5.74% (7.8% SIP step x 73.6% charged). A single page delivers a fraction of the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19,819 x 1-2 points = 198-396 more SIP-step users x 73.6% charged = 146-292.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11,678 web purchase starts x 3-5 points x 58.1% (web SIP step to Charged: 1,638/2,818). Watch cannibalisation of lumpsum.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1,351 x 20-30%. Failure rate range depends on whether UPI autopay successes are counted (60% vs 40% in apps). Fix tracking fix 6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2,253 cancels x 10-15%. Compliance review of any retention wording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Sizing: 1,811 folios x 4-8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822960" y="2011680"/>
            <a:ext cx="10515600" cy="16459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822960" y="3840480"/>
            <a:ext cx="1005840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0F2A43"/>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p:nvPr>
            <p:ph idx="101" type="title" hasCustomPrompt="1"/>
          </p:nvPr>
        </p:nvSpPr>
        <p:spPr>
          <a:xfrm>
            <a:off x="822960" y="2377440"/>
            <a:ext cx="1051560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822960" y="3566160"/>
            <a:ext cx="10058400" cy="9144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7A8CA3"/>
                </a:solidFill>
              </a:rPr>
              <a:t>Motilal Oswal AMC  |  SIP growth review  |  Oct 2026</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822960" y="2011680"/>
            <a:ext cx="10515600" cy="1645920"/>
          </a:xfrm>
          <a:prstGeom prst="rect">
            <a:avLst/>
          </a:prstGeom>
          <a:noFill/>
          <a:ln/>
        </p:spPr>
        <p:txBody>
          <a:bodyPr wrap="square" lIns="0" tIns="0" rIns="0" bIns="0" rtlCol="0" anchor="t"/>
          <a:lstStyle/>
          <a:p>
            <a:pPr algn="l" indent="0" marL="0">
              <a:buNone/>
            </a:pPr>
            <a:r>
              <a:rPr lang="en-US" sz="4400" b="1" dirty="0">
                <a:solidFill>
                  <a:schemeClr val="bg1"/>
                </a:solidFill>
              </a:rPr>
              <a:t>Growing SIPs on the web: where we lose users and what to test</a:t>
            </a:r>
            <a:endParaRPr lang="en-US" sz="4400" dirty="0"/>
          </a:p>
        </p:txBody>
      </p:sp>
      <p:sp>
        <p:nvSpPr>
          <p:cNvPr id="3" name="Text 1"/>
          <p:cNvSpPr/>
          <p:nvPr>
            <p:ph idx="102" type="body" hasCustomPrompt="1"/>
          </p:nvPr>
        </p:nvSpPr>
        <p:spPr>
          <a:xfrm>
            <a:off x="822960" y="3840480"/>
            <a:ext cx="10058400" cy="1097280"/>
          </a:xfrm>
          <a:prstGeom prst="rect">
            <a:avLst/>
          </a:prstGeom>
          <a:noFill/>
          <a:ln/>
        </p:spPr>
        <p:txBody>
          <a:bodyPr wrap="square" lIns="0" tIns="0" rIns="0" bIns="0" rtlCol="0" anchor="t"/>
          <a:lstStyle/>
          <a:p>
            <a:pPr algn="l" indent="0" marL="0">
              <a:buNone/>
            </a:pPr>
            <a:r>
              <a:rPr lang="en-US" sz="2000" dirty="0">
                <a:solidFill>
                  <a:schemeClr val="bg2"/>
                </a:solidFill>
              </a:rPr>
              <a:t>Analytics, competitor view, test roadmap and tracking fixes  |  Motilal Oswal AMC  |  October 2026</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SIP growth leaks at three points we can test</a:t>
            </a:r>
            <a:endParaRPr lang="en-US" sz="2800" dirty="0"/>
          </a:p>
        </p:txBody>
      </p:sp>
      <p:sp>
        <p:nvSpPr>
          <p:cNvPr id="3" name="Stat SIP choice"/>
          <p:cNvSpPr/>
          <p:nvPr/>
        </p:nvSpPr>
        <p:spPr>
          <a:xfrm>
            <a:off x="548640" y="1463040"/>
            <a:ext cx="3566160" cy="1737360"/>
          </a:xfrm>
          <a:prstGeom prst="roundRect">
            <a:avLst>
              <a:gd name="adj" fmla="val 4211"/>
            </a:avLst>
          </a:prstGeom>
          <a:solidFill>
            <a:schemeClr val="bg2"/>
          </a:solidFill>
          <a:ln/>
        </p:spPr>
      </p:sp>
      <p:sp>
        <p:nvSpPr>
          <p:cNvPr id="4" name="Text 2"/>
          <p:cNvSpPr txBox="1"/>
          <p:nvPr/>
        </p:nvSpPr>
        <p:spPr>
          <a:xfrm>
            <a:off x="731520" y="1572768"/>
            <a:ext cx="3200400" cy="781812"/>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11% vs 24%</a:t>
            </a:r>
            <a:endParaRPr lang="en-US" sz="3600" dirty="0"/>
          </a:p>
        </p:txBody>
      </p:sp>
      <p:sp>
        <p:nvSpPr>
          <p:cNvPr id="5" name="Text 3"/>
          <p:cNvSpPr txBox="1"/>
          <p:nvPr/>
        </p:nvSpPr>
        <p:spPr>
          <a:xfrm>
            <a:off x="731520" y="2418588"/>
            <a:ext cx="3200400" cy="729691"/>
          </a:xfrm>
          <a:prstGeom prst="rect">
            <a:avLst/>
          </a:prstGeom>
          <a:noFill/>
          <a:ln/>
        </p:spPr>
        <p:txBody>
          <a:bodyPr wrap="square" lIns="0" tIns="0" rIns="0" bIns="0" rtlCol="0" anchor="t"/>
          <a:lstStyle/>
          <a:p>
            <a:pPr indent="0" marL="0">
              <a:buNone/>
            </a:pPr>
            <a:r>
              <a:rPr lang="en-US" sz="1400" dirty="0">
                <a:solidFill>
                  <a:schemeClr val="tx1"/>
                </a:solidFill>
              </a:rPr>
              <a:t>of users who start a purchase choose SIP: apps vs website</a:t>
            </a:r>
            <a:endParaRPr lang="en-US" sz="1400" dirty="0"/>
          </a:p>
        </p:txBody>
      </p:sp>
      <p:sp>
        <p:nvSpPr>
          <p:cNvPr id="6" name="Stat calculator"/>
          <p:cNvSpPr/>
          <p:nvPr/>
        </p:nvSpPr>
        <p:spPr>
          <a:xfrm>
            <a:off x="4297680" y="1463040"/>
            <a:ext cx="3566160" cy="1737360"/>
          </a:xfrm>
          <a:prstGeom prst="roundRect">
            <a:avLst>
              <a:gd name="adj" fmla="val 4211"/>
            </a:avLst>
          </a:prstGeom>
          <a:solidFill>
            <a:schemeClr val="bg2"/>
          </a:solidFill>
          <a:ln/>
        </p:spPr>
      </p:sp>
      <p:sp>
        <p:nvSpPr>
          <p:cNvPr id="7" name="Text 5"/>
          <p:cNvSpPr txBox="1"/>
          <p:nvPr/>
        </p:nvSpPr>
        <p:spPr>
          <a:xfrm>
            <a:off x="4480560" y="1572768"/>
            <a:ext cx="3200400" cy="781812"/>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2.7%</a:t>
            </a:r>
            <a:endParaRPr lang="en-US" sz="3600" dirty="0"/>
          </a:p>
        </p:txBody>
      </p:sp>
      <p:sp>
        <p:nvSpPr>
          <p:cNvPr id="8" name="Text 6"/>
          <p:cNvSpPr txBox="1"/>
          <p:nvPr/>
        </p:nvSpPr>
        <p:spPr>
          <a:xfrm>
            <a:off x="4480560" y="2418588"/>
            <a:ext cx="3200400" cy="729691"/>
          </a:xfrm>
          <a:prstGeom prst="rect">
            <a:avLst/>
          </a:prstGeom>
          <a:noFill/>
          <a:ln/>
        </p:spPr>
        <p:txBody>
          <a:bodyPr wrap="square" lIns="0" tIns="0" rIns="0" bIns="0" rtlCol="0" anchor="t"/>
          <a:lstStyle/>
          <a:p>
            <a:pPr indent="0" marL="0">
              <a:buNone/>
            </a:pPr>
            <a:r>
              <a:rPr lang="en-US" sz="1400" dirty="0">
                <a:solidFill>
                  <a:schemeClr val="tx1"/>
                </a:solidFill>
              </a:rPr>
              <a:t>of SIP-calculator visitors (267k) reach any login page</a:t>
            </a:r>
            <a:endParaRPr lang="en-US" sz="1400" dirty="0"/>
          </a:p>
        </p:txBody>
      </p:sp>
      <p:sp>
        <p:nvSpPr>
          <p:cNvPr id="9" name="Stat mandates"/>
          <p:cNvSpPr/>
          <p:nvPr/>
        </p:nvSpPr>
        <p:spPr>
          <a:xfrm>
            <a:off x="8046720" y="1463040"/>
            <a:ext cx="3566160" cy="1737360"/>
          </a:xfrm>
          <a:prstGeom prst="roundRect">
            <a:avLst>
              <a:gd name="adj" fmla="val 4211"/>
            </a:avLst>
          </a:prstGeom>
          <a:solidFill>
            <a:schemeClr val="bg2"/>
          </a:solidFill>
          <a:ln/>
        </p:spPr>
      </p:sp>
      <p:sp>
        <p:nvSpPr>
          <p:cNvPr id="10" name="Text 8"/>
          <p:cNvSpPr txBox="1"/>
          <p:nvPr/>
        </p:nvSpPr>
        <p:spPr>
          <a:xfrm>
            <a:off x="8229600" y="1572768"/>
            <a:ext cx="3200400" cy="781812"/>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40-60%</a:t>
            </a:r>
            <a:endParaRPr lang="en-US" sz="3600" dirty="0"/>
          </a:p>
        </p:txBody>
      </p:sp>
      <p:sp>
        <p:nvSpPr>
          <p:cNvPr id="11" name="Text 9"/>
          <p:cNvSpPr txBox="1"/>
          <p:nvPr/>
        </p:nvSpPr>
        <p:spPr>
          <a:xfrm>
            <a:off x="8229600" y="2418588"/>
            <a:ext cx="3200400" cy="729691"/>
          </a:xfrm>
          <a:prstGeom prst="rect">
            <a:avLst/>
          </a:prstGeom>
          <a:noFill/>
          <a:ln/>
        </p:spPr>
        <p:txBody>
          <a:bodyPr wrap="square" lIns="0" tIns="0" rIns="0" bIns="0" rtlCol="0" anchor="t"/>
          <a:lstStyle/>
          <a:p>
            <a:pPr indent="0" marL="0">
              <a:buNone/>
            </a:pPr>
            <a:r>
              <a:rPr lang="en-US" sz="1400" dirty="0">
                <a:solidFill>
                  <a:schemeClr val="tx1"/>
                </a:solidFill>
              </a:rPr>
              <a:t>of app autopay mandates fail, against about 24% on web</a:t>
            </a:r>
            <a:endParaRPr lang="en-US" sz="1400" dirty="0"/>
          </a:p>
        </p:txBody>
      </p:sp>
      <p:sp>
        <p:nvSpPr>
          <p:cNvPr id="12" name="Text 10"/>
          <p:cNvSpPr txBox="1"/>
          <p:nvPr/>
        </p:nvSpPr>
        <p:spPr>
          <a:xfrm>
            <a:off x="548640" y="3474720"/>
            <a:ext cx="548640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What we propose</a:t>
            </a:r>
            <a:endParaRPr lang="en-US" sz="2000" dirty="0"/>
          </a:p>
        </p:txBody>
      </p:sp>
      <p:sp>
        <p:nvSpPr>
          <p:cNvPr id="13" name="Text 11"/>
          <p:cNvSpPr txBox="1"/>
          <p:nvPr/>
        </p:nvSpPr>
        <p:spPr>
          <a:xfrm>
            <a:off x="548640" y="3931920"/>
            <a:ext cx="1106424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Seven tests: two on pre-login pages (calculator, fund pages), five after login (login hand-off, SIP default, mandate recovery, cancel-save, first-SIP prompt)</a:t>
            </a:r>
            <a:endParaRPr lang="en-US" sz="1600" dirty="0"/>
          </a:p>
          <a:p>
            <a:pPr marL="342900" indent="-342900">
              <a:spcAft>
                <a:spcPts val="800"/>
              </a:spcAft>
              <a:buSzPct val="100000"/>
              <a:buChar char="•"/>
            </a:pPr>
            <a:r>
              <a:rPr lang="en-US" sz="1600" dirty="0">
                <a:solidFill>
                  <a:schemeClr val="tx1"/>
                </a:solidFill>
              </a:rPr>
              <a:t>Nine tracking fixes first, so every test can be read and SIPs can be traced from the first page view</a:t>
            </a:r>
            <a:endParaRPr lang="en-US" sz="1600" dirty="0"/>
          </a:p>
          <a:p>
            <a:pPr marL="342900" indent="-342900">
              <a:spcAft>
                <a:spcPts val="800"/>
              </a:spcAft>
              <a:buSzPct val="100000"/>
              <a:buChar char="•"/>
            </a:pPr>
            <a:r>
              <a:rPr lang="en-US" sz="1600" dirty="0">
                <a:solidFill>
                  <a:schemeClr val="tx1"/>
                </a:solidFill>
              </a:rPr>
              <a:t>Confirm that tests can run after login before committing to tests 3 to 7</a:t>
            </a:r>
            <a:endParaRPr lang="en-US" sz="1600" dirty="0"/>
          </a:p>
        </p:txBody>
      </p:sp>
      <p:sp>
        <p:nvSpPr>
          <p:cNvPr id="14"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Source: NVECTA analytics, 14 Sep to 14 Oct 2026. Percentages are of users in the period.</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822960" y="2377440"/>
            <a:ext cx="10515600" cy="1097280"/>
          </a:xfrm>
          <a:prstGeom prst="rect">
            <a:avLst/>
          </a:prstGeom>
          <a:noFill/>
          <a:ln/>
        </p:spPr>
        <p:txBody>
          <a:bodyPr wrap="square" lIns="0" tIns="0" rIns="0" bIns="0" rtlCol="0" anchor="t"/>
          <a:lstStyle/>
          <a:p>
            <a:pPr algn="l" indent="0" marL="0">
              <a:buNone/>
            </a:pPr>
            <a:r>
              <a:rPr lang="en-US" sz="4000" b="1" dirty="0">
                <a:solidFill>
                  <a:schemeClr val="bg1"/>
                </a:solidFill>
              </a:rPr>
              <a:t>What the data says</a:t>
            </a:r>
            <a:endParaRPr lang="en-US" sz="4000" dirty="0"/>
          </a:p>
        </p:txBody>
      </p:sp>
      <p:sp>
        <p:nvSpPr>
          <p:cNvPr id="3" name="Text 1"/>
          <p:cNvSpPr/>
          <p:nvPr>
            <p:ph idx="102" type="body" hasCustomPrompt="1"/>
          </p:nvPr>
        </p:nvSpPr>
        <p:spPr>
          <a:xfrm>
            <a:off x="822960" y="3566160"/>
            <a:ext cx="10058400" cy="914400"/>
          </a:xfrm>
          <a:prstGeom prst="rect">
            <a:avLst/>
          </a:prstGeom>
          <a:noFill/>
          <a:ln/>
        </p:spPr>
        <p:txBody>
          <a:bodyPr wrap="square" lIns="0" tIns="0" rIns="0" bIns="0" rtlCol="0" anchor="t"/>
          <a:lstStyle/>
          <a:p>
            <a:pPr algn="l" indent="0" marL="0">
              <a:buNone/>
            </a:pPr>
            <a:r>
              <a:rPr lang="en-US" sz="1800" dirty="0">
                <a:solidFill>
                  <a:schemeClr val="bg2"/>
                </a:solidFill>
              </a:rPr>
              <a:t>Where SIP intent is lost, before and after login</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Few purchase starters choose SIP, and apps choose it least</a:t>
            </a:r>
            <a:endParaRPr lang="en-US" sz="2800" dirty="0"/>
          </a:p>
        </p:txBody>
      </p:sp>
      <p:graphicFrame>
        <p:nvGraphicFramePr>
          <p:cNvPr id="3" name="Chart 0" descr=""/>
          <p:cNvGraphicFramePr/>
          <p:nvPr/>
        </p:nvGraphicFramePr>
        <p:xfrm>
          <a:off x="548640" y="1371600"/>
          <a:ext cx="566928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583680" y="1554480"/>
            <a:ext cx="5029200" cy="41148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33,975 users started a purchase in 30 days; 5,125 (15%) reached the SIP step</a:t>
            </a:r>
            <a:endParaRPr lang="en-US" sz="1600" dirty="0"/>
          </a:p>
          <a:p>
            <a:pPr marL="342900" indent="-342900">
              <a:spcAft>
                <a:spcPts val="800"/>
              </a:spcAft>
              <a:buSzPct val="100000"/>
              <a:buChar char="•"/>
            </a:pPr>
            <a:r>
              <a:rPr lang="en-US" sz="1600" dirty="0">
                <a:solidFill>
                  <a:schemeClr val="tx1"/>
                </a:solidFill>
              </a:rPr>
              <a:t>Apps hold 66% of purchase starts, so the biggest SIP-choice gap sits there</a:t>
            </a:r>
            <a:endParaRPr lang="en-US" sz="1600" dirty="0"/>
          </a:p>
          <a:p>
            <a:pPr marL="342900" indent="-342900">
              <a:spcAft>
                <a:spcPts val="800"/>
              </a:spcAft>
              <a:buSzPct val="100000"/>
              <a:buChar char="•"/>
            </a:pPr>
            <a:r>
              <a:rPr lang="en-US" sz="1600" dirty="0">
                <a:solidFill>
                  <a:schemeClr val="tx1"/>
                </a:solidFill>
              </a:rPr>
              <a:t>Once on the SIP step, website users move to the payment step at 74%; Android at 59%</a:t>
            </a:r>
            <a:endParaRPr lang="en-US" sz="1600" dirty="0"/>
          </a:p>
          <a:p>
            <a:pPr marL="342900" indent="-342900">
              <a:spcAft>
                <a:spcPts val="800"/>
              </a:spcAft>
              <a:buSzPct val="100000"/>
              <a:buChar char="•"/>
            </a:pPr>
            <a:r>
              <a:rPr lang="en-US" sz="1600" dirty="0">
                <a:solidFill>
                  <a:schemeClr val="tx1"/>
                </a:solidFill>
              </a:rPr>
              <a:t>Our tests are web-first (website and m-site); app parity follows</a:t>
            </a:r>
            <a:endParaRPr lang="en-US" sz="1600" dirty="0"/>
          </a:p>
        </p:txBody>
      </p:sp>
      <p:sp>
        <p:nvSpPr>
          <p:cNvPr id="5"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Source: NVECTA saved funnel 3137 (purchase start to SIP step) split by Platform. Despite its name the funnel covers all platforms.</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Paid mobile search drives the traffic, landing on a few pages</a:t>
            </a:r>
            <a:endParaRPr lang="en-US" sz="2800" dirty="0"/>
          </a:p>
        </p:txBody>
      </p:sp>
      <p:graphicFrame>
        <p:nvGraphicFramePr>
          <p:cNvPr id="3" name="Chart 0" descr=""/>
          <p:cNvGraphicFramePr/>
          <p:nvPr/>
        </p:nvGraphicFramePr>
        <p:xfrm>
          <a:off x="54864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4" name="Stat paid search"/>
          <p:cNvSpPr/>
          <p:nvPr/>
        </p:nvSpPr>
        <p:spPr>
          <a:xfrm>
            <a:off x="7680960" y="1463040"/>
            <a:ext cx="3931920" cy="1371600"/>
          </a:xfrm>
          <a:prstGeom prst="roundRect">
            <a:avLst>
              <a:gd name="adj" fmla="val 5333"/>
            </a:avLst>
          </a:prstGeom>
          <a:solidFill>
            <a:schemeClr val="bg2"/>
          </a:solidFill>
          <a:ln/>
        </p:spPr>
      </p:sp>
      <p:sp>
        <p:nvSpPr>
          <p:cNvPr id="5" name="Text 2"/>
          <p:cNvSpPr txBox="1"/>
          <p:nvPr/>
        </p:nvSpPr>
        <p:spPr>
          <a:xfrm>
            <a:off x="7863840" y="1572768"/>
            <a:ext cx="3566160" cy="61722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88%</a:t>
            </a:r>
            <a:endParaRPr lang="en-US" sz="3600" dirty="0"/>
          </a:p>
        </p:txBody>
      </p:sp>
      <p:sp>
        <p:nvSpPr>
          <p:cNvPr id="6" name="Text 3"/>
          <p:cNvSpPr txBox="1"/>
          <p:nvPr/>
        </p:nvSpPr>
        <p:spPr>
          <a:xfrm>
            <a:off x="7863840" y="2217420"/>
            <a:ext cx="3566160" cy="576072"/>
          </a:xfrm>
          <a:prstGeom prst="rect">
            <a:avLst/>
          </a:prstGeom>
          <a:noFill/>
          <a:ln/>
        </p:spPr>
        <p:txBody>
          <a:bodyPr wrap="square" lIns="0" tIns="0" rIns="0" bIns="0" rtlCol="0" anchor="t"/>
          <a:lstStyle/>
          <a:p>
            <a:pPr indent="0" marL="0">
              <a:buNone/>
            </a:pPr>
            <a:r>
              <a:rPr lang="en-US" sz="1400" dirty="0">
                <a:solidFill>
                  <a:schemeClr val="tx1"/>
                </a:solidFill>
              </a:rPr>
              <a:t>of visitors arrive from paid search</a:t>
            </a:r>
            <a:endParaRPr lang="en-US" sz="1400" dirty="0"/>
          </a:p>
        </p:txBody>
      </p:sp>
      <p:sp>
        <p:nvSpPr>
          <p:cNvPr id="7" name="Stat mobile"/>
          <p:cNvSpPr/>
          <p:nvPr/>
        </p:nvSpPr>
        <p:spPr>
          <a:xfrm>
            <a:off x="7680960" y="3017520"/>
            <a:ext cx="3931920" cy="1371600"/>
          </a:xfrm>
          <a:prstGeom prst="roundRect">
            <a:avLst>
              <a:gd name="adj" fmla="val 5333"/>
            </a:avLst>
          </a:prstGeom>
          <a:solidFill>
            <a:schemeClr val="bg2"/>
          </a:solidFill>
          <a:ln/>
        </p:spPr>
      </p:sp>
      <p:sp>
        <p:nvSpPr>
          <p:cNvPr id="8" name="Text 5"/>
          <p:cNvSpPr txBox="1"/>
          <p:nvPr/>
        </p:nvSpPr>
        <p:spPr>
          <a:xfrm>
            <a:off x="7863840" y="3127248"/>
            <a:ext cx="3566160" cy="61722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90%</a:t>
            </a:r>
            <a:endParaRPr lang="en-US" sz="3600" dirty="0"/>
          </a:p>
        </p:txBody>
      </p:sp>
      <p:sp>
        <p:nvSpPr>
          <p:cNvPr id="9" name="Text 6"/>
          <p:cNvSpPr txBox="1"/>
          <p:nvPr/>
        </p:nvSpPr>
        <p:spPr>
          <a:xfrm>
            <a:off x="7863840" y="3771900"/>
            <a:ext cx="3566160" cy="576072"/>
          </a:xfrm>
          <a:prstGeom prst="rect">
            <a:avLst/>
          </a:prstGeom>
          <a:noFill/>
          <a:ln/>
        </p:spPr>
        <p:txBody>
          <a:bodyPr wrap="square" lIns="0" tIns="0" rIns="0" bIns="0" rtlCol="0" anchor="t"/>
          <a:lstStyle/>
          <a:p>
            <a:pPr indent="0" marL="0">
              <a:buNone/>
            </a:pPr>
            <a:r>
              <a:rPr lang="en-US" sz="1400" dirty="0">
                <a:solidFill>
                  <a:schemeClr val="tx1"/>
                </a:solidFill>
              </a:rPr>
              <a:t>browse on the mobile site (m-site)</a:t>
            </a:r>
            <a:endParaRPr lang="en-US" sz="1400" dirty="0"/>
          </a:p>
        </p:txBody>
      </p:sp>
      <p:sp>
        <p:nvSpPr>
          <p:cNvPr id="10" name="Stat identified"/>
          <p:cNvSpPr/>
          <p:nvPr/>
        </p:nvSpPr>
        <p:spPr>
          <a:xfrm>
            <a:off x="7680960" y="4572000"/>
            <a:ext cx="3931920" cy="1371600"/>
          </a:xfrm>
          <a:prstGeom prst="roundRect">
            <a:avLst>
              <a:gd name="adj" fmla="val 5333"/>
            </a:avLst>
          </a:prstGeom>
          <a:solidFill>
            <a:schemeClr val="bg2"/>
          </a:solidFill>
          <a:ln/>
        </p:spPr>
      </p:sp>
      <p:sp>
        <p:nvSpPr>
          <p:cNvPr id="11" name="Text 8"/>
          <p:cNvSpPr txBox="1"/>
          <p:nvPr/>
        </p:nvSpPr>
        <p:spPr>
          <a:xfrm>
            <a:off x="7863840" y="4681728"/>
            <a:ext cx="3566160" cy="617220"/>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2.6%</a:t>
            </a:r>
            <a:endParaRPr lang="en-US" sz="3600" dirty="0"/>
          </a:p>
        </p:txBody>
      </p:sp>
      <p:sp>
        <p:nvSpPr>
          <p:cNvPr id="12" name="Text 9"/>
          <p:cNvSpPr txBox="1"/>
          <p:nvPr/>
        </p:nvSpPr>
        <p:spPr>
          <a:xfrm>
            <a:off x="7863840" y="5326380"/>
            <a:ext cx="3566160" cy="576072"/>
          </a:xfrm>
          <a:prstGeom prst="rect">
            <a:avLst/>
          </a:prstGeom>
          <a:noFill/>
          <a:ln/>
        </p:spPr>
        <p:txBody>
          <a:bodyPr wrap="square" lIns="0" tIns="0" rIns="0" bIns="0" rtlCol="0" anchor="t"/>
          <a:lstStyle/>
          <a:p>
            <a:pPr indent="0" marL="0">
              <a:buNone/>
            </a:pPr>
            <a:r>
              <a:rPr lang="en-US" sz="1400" dirty="0">
                <a:solidFill>
                  <a:schemeClr val="tx1"/>
                </a:solidFill>
              </a:rPr>
              <a:t>of visitors are identified users</a:t>
            </a:r>
            <a:endParaRPr lang="en-US" sz="1400" dirty="0"/>
          </a:p>
        </p:txBody>
      </p:sp>
      <p:sp>
        <p:nvSpPr>
          <p:cNvPr id="13"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Source: NVECTA page_view by Page Url (events), Traffic Source and Platform (users), 14 Sep to 14 Oct 2026. Visitors = 2.04M users; 3.8M page-view events.</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Calculator and fund-page visitors disappear at the login gate</a:t>
            </a:r>
            <a:endParaRPr lang="en-US" sz="2800" dirty="0"/>
          </a:p>
        </p:txBody>
      </p:sp>
      <p:sp>
        <p:nvSpPr>
          <p:cNvPr id="3" name="Text 1"/>
          <p:cNvSpPr txBox="1"/>
          <p:nvPr/>
        </p:nvSpPr>
        <p:spPr>
          <a:xfrm>
            <a:off x="548640" y="1325880"/>
            <a:ext cx="1106424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From the SIP calculator (267,573 users)</a:t>
            </a:r>
            <a:endParaRPr lang="en-US" sz="1800" dirty="0"/>
          </a:p>
        </p:txBody>
      </p:sp>
      <p:sp>
        <p:nvSpPr>
          <p:cNvPr id="4" name="Flow step"/>
          <p:cNvSpPr/>
          <p:nvPr/>
        </p:nvSpPr>
        <p:spPr>
          <a:xfrm>
            <a:off x="548640" y="1783080"/>
            <a:ext cx="2011680" cy="1280160"/>
          </a:xfrm>
          <a:prstGeom prst="roundRect">
            <a:avLst>
              <a:gd name="adj" fmla="val 5714"/>
            </a:avLst>
          </a:prstGeom>
          <a:solidFill>
            <a:schemeClr val="bg2"/>
          </a:solidFill>
          <a:ln/>
        </p:spPr>
      </p:sp>
      <p:sp>
        <p:nvSpPr>
          <p:cNvPr id="5" name="Text 3"/>
          <p:cNvSpPr txBox="1"/>
          <p:nvPr/>
        </p:nvSpPr>
        <p:spPr>
          <a:xfrm>
            <a:off x="640080" y="1856232"/>
            <a:ext cx="1828800" cy="54864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267,573</a:t>
            </a:r>
            <a:endParaRPr lang="en-US" sz="2000" dirty="0"/>
          </a:p>
        </p:txBody>
      </p:sp>
      <p:sp>
        <p:nvSpPr>
          <p:cNvPr id="6" name="Text 4"/>
          <p:cNvSpPr txBox="1"/>
          <p:nvPr/>
        </p:nvSpPr>
        <p:spPr>
          <a:xfrm>
            <a:off x="640080" y="242316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view the SIP calculator</a:t>
            </a:r>
            <a:endParaRPr lang="en-US" sz="1200" dirty="0"/>
          </a:p>
        </p:txBody>
      </p:sp>
      <p:sp>
        <p:nvSpPr>
          <p:cNvPr id="7" name="Flow arrow"/>
          <p:cNvSpPr/>
          <p:nvPr/>
        </p:nvSpPr>
        <p:spPr>
          <a:xfrm>
            <a:off x="2587752" y="2286000"/>
            <a:ext cx="201168" cy="201168"/>
          </a:xfrm>
          <a:prstGeom prst="rightArrow">
            <a:avLst/>
          </a:prstGeom>
          <a:solidFill>
            <a:schemeClr val="accent5"/>
          </a:solidFill>
          <a:ln w="12700">
            <a:solidFill>
              <a:schemeClr val="accent5"/>
            </a:solidFill>
            <a:prstDash val="solid"/>
          </a:ln>
        </p:spPr>
      </p:sp>
      <p:sp>
        <p:nvSpPr>
          <p:cNvPr id="8" name="Flow step"/>
          <p:cNvSpPr/>
          <p:nvPr/>
        </p:nvSpPr>
        <p:spPr>
          <a:xfrm>
            <a:off x="2816352" y="1783080"/>
            <a:ext cx="2011680" cy="1280160"/>
          </a:xfrm>
          <a:prstGeom prst="roundRect">
            <a:avLst>
              <a:gd name="adj" fmla="val 5714"/>
            </a:avLst>
          </a:prstGeom>
          <a:solidFill>
            <a:schemeClr val="bg2"/>
          </a:solidFill>
          <a:ln/>
        </p:spPr>
      </p:sp>
      <p:sp>
        <p:nvSpPr>
          <p:cNvPr id="9" name="Text 7"/>
          <p:cNvSpPr txBox="1"/>
          <p:nvPr/>
        </p:nvSpPr>
        <p:spPr>
          <a:xfrm>
            <a:off x="2907792" y="1856232"/>
            <a:ext cx="1828800" cy="548640"/>
          </a:xfrm>
          <a:prstGeom prst="rect">
            <a:avLst/>
          </a:prstGeom>
          <a:noFill/>
          <a:ln/>
        </p:spPr>
        <p:txBody>
          <a:bodyPr wrap="square" lIns="0" tIns="0" rIns="0" bIns="0" rtlCol="0" anchor="ctr"/>
          <a:lstStyle/>
          <a:p>
            <a:pPr algn="ctr" indent="0" marL="0">
              <a:buNone/>
            </a:pPr>
            <a:r>
              <a:rPr lang="en-US" sz="2000" b="1" dirty="0">
                <a:solidFill>
                  <a:schemeClr val="accent3"/>
                </a:solidFill>
                <a:latin typeface="Cambria" pitchFamily="34" charset="0"/>
                <a:ea typeface="Cambria" pitchFamily="34" charset="-122"/>
                <a:cs typeface="Cambria" pitchFamily="34" charset="-120"/>
              </a:rPr>
              <a:t>7,318 (2.7%)</a:t>
            </a:r>
            <a:endParaRPr lang="en-US" sz="2000" dirty="0"/>
          </a:p>
        </p:txBody>
      </p:sp>
      <p:sp>
        <p:nvSpPr>
          <p:cNvPr id="10" name="Text 8"/>
          <p:cNvSpPr txBox="1"/>
          <p:nvPr/>
        </p:nvSpPr>
        <p:spPr>
          <a:xfrm>
            <a:off x="2907792" y="242316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reach a login page</a:t>
            </a:r>
            <a:endParaRPr lang="en-US" sz="1200" dirty="0"/>
          </a:p>
        </p:txBody>
      </p:sp>
      <p:sp>
        <p:nvSpPr>
          <p:cNvPr id="11" name="Flow arrow"/>
          <p:cNvSpPr/>
          <p:nvPr/>
        </p:nvSpPr>
        <p:spPr>
          <a:xfrm>
            <a:off x="4855464" y="2286000"/>
            <a:ext cx="201168" cy="201168"/>
          </a:xfrm>
          <a:prstGeom prst="rightArrow">
            <a:avLst/>
          </a:prstGeom>
          <a:solidFill>
            <a:schemeClr val="accent5"/>
          </a:solidFill>
          <a:ln w="12700">
            <a:solidFill>
              <a:schemeClr val="accent5"/>
            </a:solidFill>
            <a:prstDash val="solid"/>
          </a:ln>
        </p:spPr>
      </p:sp>
      <p:sp>
        <p:nvSpPr>
          <p:cNvPr id="12" name="Flow step"/>
          <p:cNvSpPr/>
          <p:nvPr/>
        </p:nvSpPr>
        <p:spPr>
          <a:xfrm>
            <a:off x="5084064" y="1783080"/>
            <a:ext cx="2011680" cy="1280160"/>
          </a:xfrm>
          <a:prstGeom prst="roundRect">
            <a:avLst>
              <a:gd name="adj" fmla="val 5714"/>
            </a:avLst>
          </a:prstGeom>
          <a:solidFill>
            <a:schemeClr val="bg2"/>
          </a:solidFill>
          <a:ln/>
        </p:spPr>
      </p:sp>
      <p:sp>
        <p:nvSpPr>
          <p:cNvPr id="13" name="Text 11"/>
          <p:cNvSpPr txBox="1"/>
          <p:nvPr/>
        </p:nvSpPr>
        <p:spPr>
          <a:xfrm>
            <a:off x="5175504" y="1856232"/>
            <a:ext cx="1828800" cy="54864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207</a:t>
            </a:r>
            <a:endParaRPr lang="en-US" sz="2000" dirty="0"/>
          </a:p>
        </p:txBody>
      </p:sp>
      <p:sp>
        <p:nvSpPr>
          <p:cNvPr id="14" name="Text 12"/>
          <p:cNvSpPr txBox="1"/>
          <p:nvPr/>
        </p:nvSpPr>
        <p:spPr>
          <a:xfrm>
            <a:off x="5175504" y="242316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start a purchase</a:t>
            </a:r>
            <a:endParaRPr lang="en-US" sz="1200" dirty="0"/>
          </a:p>
        </p:txBody>
      </p:sp>
      <p:sp>
        <p:nvSpPr>
          <p:cNvPr id="15" name="Flow arrow"/>
          <p:cNvSpPr/>
          <p:nvPr/>
        </p:nvSpPr>
        <p:spPr>
          <a:xfrm>
            <a:off x="7123176" y="2286000"/>
            <a:ext cx="201168" cy="201168"/>
          </a:xfrm>
          <a:prstGeom prst="rightArrow">
            <a:avLst/>
          </a:prstGeom>
          <a:solidFill>
            <a:schemeClr val="accent5"/>
          </a:solidFill>
          <a:ln w="12700">
            <a:solidFill>
              <a:schemeClr val="accent5"/>
            </a:solidFill>
            <a:prstDash val="solid"/>
          </a:ln>
        </p:spPr>
      </p:sp>
      <p:sp>
        <p:nvSpPr>
          <p:cNvPr id="16" name="Flow step"/>
          <p:cNvSpPr/>
          <p:nvPr/>
        </p:nvSpPr>
        <p:spPr>
          <a:xfrm>
            <a:off x="7351776" y="1783080"/>
            <a:ext cx="2011680" cy="1280160"/>
          </a:xfrm>
          <a:prstGeom prst="roundRect">
            <a:avLst>
              <a:gd name="adj" fmla="val 5714"/>
            </a:avLst>
          </a:prstGeom>
          <a:solidFill>
            <a:schemeClr val="bg2"/>
          </a:solidFill>
          <a:ln/>
        </p:spPr>
      </p:sp>
      <p:sp>
        <p:nvSpPr>
          <p:cNvPr id="17" name="Text 15"/>
          <p:cNvSpPr txBox="1"/>
          <p:nvPr/>
        </p:nvSpPr>
        <p:spPr>
          <a:xfrm>
            <a:off x="7443216" y="1856232"/>
            <a:ext cx="1828800" cy="54864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79</a:t>
            </a:r>
            <a:endParaRPr lang="en-US" sz="2000" dirty="0"/>
          </a:p>
        </p:txBody>
      </p:sp>
      <p:sp>
        <p:nvSpPr>
          <p:cNvPr id="18" name="Text 16"/>
          <p:cNvSpPr txBox="1"/>
          <p:nvPr/>
        </p:nvSpPr>
        <p:spPr>
          <a:xfrm>
            <a:off x="7443216" y="242316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reach the SIP step</a:t>
            </a:r>
            <a:endParaRPr lang="en-US" sz="1200" dirty="0"/>
          </a:p>
        </p:txBody>
      </p:sp>
      <p:sp>
        <p:nvSpPr>
          <p:cNvPr id="19" name="Flow arrow"/>
          <p:cNvSpPr/>
          <p:nvPr/>
        </p:nvSpPr>
        <p:spPr>
          <a:xfrm>
            <a:off x="9390888" y="2286000"/>
            <a:ext cx="201168" cy="201168"/>
          </a:xfrm>
          <a:prstGeom prst="rightArrow">
            <a:avLst/>
          </a:prstGeom>
          <a:solidFill>
            <a:schemeClr val="accent5"/>
          </a:solidFill>
          <a:ln w="12700">
            <a:solidFill>
              <a:schemeClr val="accent5"/>
            </a:solidFill>
            <a:prstDash val="solid"/>
          </a:ln>
        </p:spPr>
      </p:sp>
      <p:sp>
        <p:nvSpPr>
          <p:cNvPr id="20" name="Flow step"/>
          <p:cNvSpPr/>
          <p:nvPr/>
        </p:nvSpPr>
        <p:spPr>
          <a:xfrm>
            <a:off x="9619488" y="1783080"/>
            <a:ext cx="2011680" cy="1280160"/>
          </a:xfrm>
          <a:prstGeom prst="roundRect">
            <a:avLst>
              <a:gd name="adj" fmla="val 5714"/>
            </a:avLst>
          </a:prstGeom>
          <a:solidFill>
            <a:schemeClr val="bg2"/>
          </a:solidFill>
          <a:ln/>
        </p:spPr>
      </p:sp>
      <p:sp>
        <p:nvSpPr>
          <p:cNvPr id="21" name="Text 19"/>
          <p:cNvSpPr txBox="1"/>
          <p:nvPr/>
        </p:nvSpPr>
        <p:spPr>
          <a:xfrm>
            <a:off x="9710928" y="1856232"/>
            <a:ext cx="1828800" cy="54864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56</a:t>
            </a:r>
            <a:endParaRPr lang="en-US" sz="2000" dirty="0"/>
          </a:p>
        </p:txBody>
      </p:sp>
      <p:sp>
        <p:nvSpPr>
          <p:cNvPr id="22" name="Text 20"/>
          <p:cNvSpPr txBox="1"/>
          <p:nvPr/>
        </p:nvSpPr>
        <p:spPr>
          <a:xfrm>
            <a:off x="9710928" y="242316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are charged</a:t>
            </a:r>
            <a:endParaRPr lang="en-US" sz="1200" dirty="0"/>
          </a:p>
        </p:txBody>
      </p:sp>
      <p:sp>
        <p:nvSpPr>
          <p:cNvPr id="23" name="Text 21"/>
          <p:cNvSpPr txBox="1"/>
          <p:nvPr/>
        </p:nvSpPr>
        <p:spPr>
          <a:xfrm>
            <a:off x="548640" y="3337560"/>
            <a:ext cx="1106424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From fund pages (1,456,070 users)</a:t>
            </a:r>
            <a:endParaRPr lang="en-US" sz="1800" dirty="0"/>
          </a:p>
        </p:txBody>
      </p:sp>
      <p:sp>
        <p:nvSpPr>
          <p:cNvPr id="24" name="Flow step"/>
          <p:cNvSpPr/>
          <p:nvPr/>
        </p:nvSpPr>
        <p:spPr>
          <a:xfrm>
            <a:off x="548640" y="3794760"/>
            <a:ext cx="2011680" cy="1280160"/>
          </a:xfrm>
          <a:prstGeom prst="roundRect">
            <a:avLst>
              <a:gd name="adj" fmla="val 5714"/>
            </a:avLst>
          </a:prstGeom>
          <a:solidFill>
            <a:schemeClr val="bg2"/>
          </a:solidFill>
          <a:ln/>
        </p:spPr>
      </p:sp>
      <p:sp>
        <p:nvSpPr>
          <p:cNvPr id="25" name="Text 23"/>
          <p:cNvSpPr txBox="1"/>
          <p:nvPr/>
        </p:nvSpPr>
        <p:spPr>
          <a:xfrm>
            <a:off x="640080" y="3867912"/>
            <a:ext cx="1828800" cy="54864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1,456,070</a:t>
            </a:r>
            <a:endParaRPr lang="en-US" sz="2000" dirty="0"/>
          </a:p>
        </p:txBody>
      </p:sp>
      <p:sp>
        <p:nvSpPr>
          <p:cNvPr id="26" name="Text 24"/>
          <p:cNvSpPr txBox="1"/>
          <p:nvPr/>
        </p:nvSpPr>
        <p:spPr>
          <a:xfrm>
            <a:off x="640080" y="443484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view a fund page</a:t>
            </a:r>
            <a:endParaRPr lang="en-US" sz="1200" dirty="0"/>
          </a:p>
        </p:txBody>
      </p:sp>
      <p:sp>
        <p:nvSpPr>
          <p:cNvPr id="27" name="Flow arrow"/>
          <p:cNvSpPr/>
          <p:nvPr/>
        </p:nvSpPr>
        <p:spPr>
          <a:xfrm>
            <a:off x="2587752" y="4297680"/>
            <a:ext cx="201168" cy="201168"/>
          </a:xfrm>
          <a:prstGeom prst="rightArrow">
            <a:avLst/>
          </a:prstGeom>
          <a:solidFill>
            <a:schemeClr val="accent5"/>
          </a:solidFill>
          <a:ln w="12700">
            <a:solidFill>
              <a:schemeClr val="accent5"/>
            </a:solidFill>
            <a:prstDash val="solid"/>
          </a:ln>
        </p:spPr>
      </p:sp>
      <p:sp>
        <p:nvSpPr>
          <p:cNvPr id="28" name="Flow step"/>
          <p:cNvSpPr/>
          <p:nvPr/>
        </p:nvSpPr>
        <p:spPr>
          <a:xfrm>
            <a:off x="2816352" y="3794760"/>
            <a:ext cx="2011680" cy="1280160"/>
          </a:xfrm>
          <a:prstGeom prst="roundRect">
            <a:avLst>
              <a:gd name="adj" fmla="val 5714"/>
            </a:avLst>
          </a:prstGeom>
          <a:solidFill>
            <a:schemeClr val="bg2"/>
          </a:solidFill>
          <a:ln/>
        </p:spPr>
      </p:sp>
      <p:sp>
        <p:nvSpPr>
          <p:cNvPr id="29" name="Text 27"/>
          <p:cNvSpPr txBox="1"/>
          <p:nvPr/>
        </p:nvSpPr>
        <p:spPr>
          <a:xfrm>
            <a:off x="2907792" y="3867912"/>
            <a:ext cx="1828800" cy="548640"/>
          </a:xfrm>
          <a:prstGeom prst="rect">
            <a:avLst/>
          </a:prstGeom>
          <a:noFill/>
          <a:ln/>
        </p:spPr>
        <p:txBody>
          <a:bodyPr wrap="square" lIns="0" tIns="0" rIns="0" bIns="0" rtlCol="0" anchor="ctr"/>
          <a:lstStyle/>
          <a:p>
            <a:pPr algn="ctr" indent="0" marL="0">
              <a:buNone/>
            </a:pPr>
            <a:r>
              <a:rPr lang="en-US" sz="2000" b="1" dirty="0">
                <a:solidFill>
                  <a:schemeClr val="accent3"/>
                </a:solidFill>
                <a:latin typeface="Cambria" pitchFamily="34" charset="0"/>
                <a:ea typeface="Cambria" pitchFamily="34" charset="-122"/>
                <a:cs typeface="Cambria" pitchFamily="34" charset="-120"/>
              </a:rPr>
              <a:t>19,819 (1.4%)</a:t>
            </a:r>
            <a:endParaRPr lang="en-US" sz="2000" dirty="0"/>
          </a:p>
        </p:txBody>
      </p:sp>
      <p:sp>
        <p:nvSpPr>
          <p:cNvPr id="30" name="Text 28"/>
          <p:cNvSpPr txBox="1"/>
          <p:nvPr/>
        </p:nvSpPr>
        <p:spPr>
          <a:xfrm>
            <a:off x="2907792" y="443484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reach a login page</a:t>
            </a:r>
            <a:endParaRPr lang="en-US" sz="1200" dirty="0"/>
          </a:p>
        </p:txBody>
      </p:sp>
      <p:sp>
        <p:nvSpPr>
          <p:cNvPr id="31" name="Flow arrow"/>
          <p:cNvSpPr/>
          <p:nvPr/>
        </p:nvSpPr>
        <p:spPr>
          <a:xfrm>
            <a:off x="4855464" y="4297680"/>
            <a:ext cx="201168" cy="201168"/>
          </a:xfrm>
          <a:prstGeom prst="rightArrow">
            <a:avLst/>
          </a:prstGeom>
          <a:solidFill>
            <a:schemeClr val="accent5"/>
          </a:solidFill>
          <a:ln w="12700">
            <a:solidFill>
              <a:schemeClr val="accent5"/>
            </a:solidFill>
            <a:prstDash val="solid"/>
          </a:ln>
        </p:spPr>
      </p:sp>
      <p:sp>
        <p:nvSpPr>
          <p:cNvPr id="32" name="Flow step"/>
          <p:cNvSpPr/>
          <p:nvPr/>
        </p:nvSpPr>
        <p:spPr>
          <a:xfrm>
            <a:off x="5084064" y="3794760"/>
            <a:ext cx="2011680" cy="1280160"/>
          </a:xfrm>
          <a:prstGeom prst="roundRect">
            <a:avLst>
              <a:gd name="adj" fmla="val 5714"/>
            </a:avLst>
          </a:prstGeom>
          <a:solidFill>
            <a:schemeClr val="bg2"/>
          </a:solidFill>
          <a:ln/>
        </p:spPr>
      </p:sp>
      <p:sp>
        <p:nvSpPr>
          <p:cNvPr id="33" name="Text 31"/>
          <p:cNvSpPr txBox="1"/>
          <p:nvPr/>
        </p:nvSpPr>
        <p:spPr>
          <a:xfrm>
            <a:off x="5175504" y="3867912"/>
            <a:ext cx="1828800" cy="54864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1,539</a:t>
            </a:r>
            <a:endParaRPr lang="en-US" sz="2000" dirty="0"/>
          </a:p>
        </p:txBody>
      </p:sp>
      <p:sp>
        <p:nvSpPr>
          <p:cNvPr id="34" name="Text 32"/>
          <p:cNvSpPr txBox="1"/>
          <p:nvPr/>
        </p:nvSpPr>
        <p:spPr>
          <a:xfrm>
            <a:off x="5175504" y="443484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reach the SIP step</a:t>
            </a:r>
            <a:endParaRPr lang="en-US" sz="1200" dirty="0"/>
          </a:p>
        </p:txBody>
      </p:sp>
      <p:sp>
        <p:nvSpPr>
          <p:cNvPr id="35" name="Flow arrow"/>
          <p:cNvSpPr/>
          <p:nvPr/>
        </p:nvSpPr>
        <p:spPr>
          <a:xfrm>
            <a:off x="7123176" y="4297680"/>
            <a:ext cx="201168" cy="201168"/>
          </a:xfrm>
          <a:prstGeom prst="rightArrow">
            <a:avLst/>
          </a:prstGeom>
          <a:solidFill>
            <a:schemeClr val="accent5"/>
          </a:solidFill>
          <a:ln w="12700">
            <a:solidFill>
              <a:schemeClr val="accent5"/>
            </a:solidFill>
            <a:prstDash val="solid"/>
          </a:ln>
        </p:spPr>
      </p:sp>
      <p:sp>
        <p:nvSpPr>
          <p:cNvPr id="36" name="Flow step"/>
          <p:cNvSpPr/>
          <p:nvPr/>
        </p:nvSpPr>
        <p:spPr>
          <a:xfrm>
            <a:off x="7351776" y="3794760"/>
            <a:ext cx="2011680" cy="1280160"/>
          </a:xfrm>
          <a:prstGeom prst="roundRect">
            <a:avLst>
              <a:gd name="adj" fmla="val 5714"/>
            </a:avLst>
          </a:prstGeom>
          <a:solidFill>
            <a:schemeClr val="bg2"/>
          </a:solidFill>
          <a:ln/>
        </p:spPr>
      </p:sp>
      <p:sp>
        <p:nvSpPr>
          <p:cNvPr id="37" name="Text 35"/>
          <p:cNvSpPr txBox="1"/>
          <p:nvPr/>
        </p:nvSpPr>
        <p:spPr>
          <a:xfrm>
            <a:off x="7443216" y="3867912"/>
            <a:ext cx="1828800" cy="548640"/>
          </a:xfrm>
          <a:prstGeom prst="rect">
            <a:avLst/>
          </a:prstGeom>
          <a:noFill/>
          <a:ln/>
        </p:spPr>
        <p:txBody>
          <a:bodyPr wrap="square" lIns="0" tIns="0" rIns="0" bIns="0" rtlCol="0" anchor="ctr"/>
          <a:lstStyle/>
          <a:p>
            <a:pPr algn="ctr" indent="0" marL="0">
              <a:buNone/>
            </a:pPr>
            <a:r>
              <a:rPr lang="en-US" sz="2000" b="1" dirty="0">
                <a:solidFill>
                  <a:schemeClr val="tx2"/>
                </a:solidFill>
                <a:latin typeface="Cambria" pitchFamily="34" charset="0"/>
                <a:ea typeface="Cambria" pitchFamily="34" charset="-122"/>
                <a:cs typeface="Cambria" pitchFamily="34" charset="-120"/>
              </a:rPr>
              <a:t>1,132</a:t>
            </a:r>
            <a:endParaRPr lang="en-US" sz="2000" dirty="0"/>
          </a:p>
        </p:txBody>
      </p:sp>
      <p:sp>
        <p:nvSpPr>
          <p:cNvPr id="38" name="Text 36"/>
          <p:cNvSpPr txBox="1"/>
          <p:nvPr/>
        </p:nvSpPr>
        <p:spPr>
          <a:xfrm>
            <a:off x="7443216" y="4434840"/>
            <a:ext cx="1828800" cy="594360"/>
          </a:xfrm>
          <a:prstGeom prst="rect">
            <a:avLst/>
          </a:prstGeom>
          <a:noFill/>
          <a:ln/>
        </p:spPr>
        <p:txBody>
          <a:bodyPr wrap="square" lIns="0" tIns="0" rIns="0" bIns="0" rtlCol="0" anchor="t"/>
          <a:lstStyle/>
          <a:p>
            <a:pPr algn="ctr" indent="0" marL="0">
              <a:buNone/>
            </a:pPr>
            <a:r>
              <a:rPr lang="en-US" sz="1200" dirty="0">
                <a:solidFill>
                  <a:schemeClr val="tx1"/>
                </a:solidFill>
              </a:rPr>
              <a:t>are charged</a:t>
            </a:r>
            <a:endParaRPr lang="en-US" sz="1200" dirty="0"/>
          </a:p>
        </p:txBody>
      </p:sp>
      <p:sp>
        <p:nvSpPr>
          <p:cNvPr id="39" name="Caveat"/>
          <p:cNvSpPr/>
          <p:nvPr/>
        </p:nvSpPr>
        <p:spPr>
          <a:xfrm>
            <a:off x="548640" y="5257800"/>
            <a:ext cx="11064240" cy="685800"/>
          </a:xfrm>
          <a:prstGeom prst="roundRect">
            <a:avLst>
              <a:gd name="adj" fmla="val 10667"/>
            </a:avLst>
          </a:prstGeom>
          <a:solidFill>
            <a:schemeClr val="bg2"/>
          </a:solidFill>
          <a:ln/>
        </p:spPr>
      </p:sp>
      <p:sp>
        <p:nvSpPr>
          <p:cNvPr id="40" name="Text 38"/>
          <p:cNvSpPr txBox="1"/>
          <p:nvPr/>
        </p:nvSpPr>
        <p:spPr>
          <a:xfrm>
            <a:off x="731520" y="5285232"/>
            <a:ext cx="10698480" cy="640080"/>
          </a:xfrm>
          <a:prstGeom prst="rect">
            <a:avLst/>
          </a:prstGeom>
          <a:noFill/>
          <a:ln/>
        </p:spPr>
        <p:txBody>
          <a:bodyPr wrap="square" lIns="0" tIns="0" rIns="0" bIns="0" rtlCol="0" anchor="ctr"/>
          <a:lstStyle/>
          <a:p>
            <a:pPr indent="0" marL="0">
              <a:buNone/>
            </a:pPr>
            <a:r>
              <a:rPr lang="en-US" sz="1400" dirty="0">
                <a:solidFill>
                  <a:schemeClr val="tx1"/>
                </a:solidFill>
              </a:rPr>
              <a:t>Read these as a floor, not a rate: visitors are anonymous on the www site and known only after login, so most journeys cannot be joined across the two sites today.</a:t>
            </a:r>
            <a:endParaRPr lang="en-US" sz="1400" dirty="0"/>
          </a:p>
        </p:txBody>
      </p:sp>
      <p:sp>
        <p:nvSpPr>
          <p:cNvPr id="41"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Source: NVECTA temporary funnels, 7-day window, steps not strictly ordered. 'Charged' counts any successful payment, not only SIP.</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App mandates fail more often; cancels keep pace with new SIPs</a:t>
            </a:r>
            <a:endParaRPr lang="en-US" sz="2800" dirty="0"/>
          </a:p>
        </p:txBody>
      </p:sp>
      <p:graphicFrame>
        <p:nvGraphicFramePr>
          <p:cNvPr id="3" name="Chart 0" descr=""/>
          <p:cNvGraphicFramePr/>
          <p:nvPr/>
        </p:nvGraphicFramePr>
        <p:xfrm>
          <a:off x="548640" y="1280160"/>
          <a:ext cx="6035040" cy="4663440"/>
        </p:xfrm>
        <a:graphic xmlns:a="http://schemas.openxmlformats.org/drawingml/2006/main">
          <a:graphicData uri="http://schemas.openxmlformats.org/drawingml/2006/chart">
            <c:chart xmlns:c="http://schemas.openxmlformats.org/drawingml/2006/chart" r:id="rId1"/>
          </a:graphicData>
        </a:graphic>
      </p:graphicFrame>
      <p:sp>
        <p:nvSpPr>
          <p:cNvPr id="4" name="Stat failures"/>
          <p:cNvSpPr/>
          <p:nvPr/>
        </p:nvSpPr>
        <p:spPr>
          <a:xfrm>
            <a:off x="6858000" y="1371600"/>
            <a:ext cx="2286000" cy="1554480"/>
          </a:xfrm>
          <a:prstGeom prst="roundRect">
            <a:avLst>
              <a:gd name="adj" fmla="val 4706"/>
            </a:avLst>
          </a:prstGeom>
          <a:solidFill>
            <a:schemeClr val="bg2"/>
          </a:solidFill>
          <a:ln/>
        </p:spPr>
      </p:sp>
      <p:sp>
        <p:nvSpPr>
          <p:cNvPr id="5" name="Text 2"/>
          <p:cNvSpPr txBox="1"/>
          <p:nvPr/>
        </p:nvSpPr>
        <p:spPr>
          <a:xfrm>
            <a:off x="7040880" y="1481328"/>
            <a:ext cx="1920240" cy="699516"/>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1,351</a:t>
            </a:r>
            <a:endParaRPr lang="en-US" sz="3600" dirty="0"/>
          </a:p>
        </p:txBody>
      </p:sp>
      <p:sp>
        <p:nvSpPr>
          <p:cNvPr id="6" name="Text 3"/>
          <p:cNvSpPr txBox="1"/>
          <p:nvPr/>
        </p:nvSpPr>
        <p:spPr>
          <a:xfrm>
            <a:off x="7040880" y="2226564"/>
            <a:ext cx="1920240" cy="652882"/>
          </a:xfrm>
          <a:prstGeom prst="rect">
            <a:avLst/>
          </a:prstGeom>
          <a:noFill/>
          <a:ln/>
        </p:spPr>
        <p:txBody>
          <a:bodyPr wrap="square" lIns="0" tIns="0" rIns="0" bIns="0" rtlCol="0" anchor="t"/>
          <a:lstStyle/>
          <a:p>
            <a:pPr indent="0" marL="0">
              <a:buNone/>
            </a:pPr>
            <a:r>
              <a:rPr lang="en-US" sz="1400" dirty="0">
                <a:solidFill>
                  <a:schemeClr val="tx1"/>
                </a:solidFill>
              </a:rPr>
              <a:t>users hit an autopay failure in 30 days</a:t>
            </a:r>
            <a:endParaRPr lang="en-US" sz="1400" dirty="0"/>
          </a:p>
        </p:txBody>
      </p:sp>
      <p:sp>
        <p:nvSpPr>
          <p:cNvPr id="7" name="Stat mandate funnel"/>
          <p:cNvSpPr/>
          <p:nvPr/>
        </p:nvSpPr>
        <p:spPr>
          <a:xfrm>
            <a:off x="9326880" y="1371600"/>
            <a:ext cx="2286000" cy="1554480"/>
          </a:xfrm>
          <a:prstGeom prst="roundRect">
            <a:avLst>
              <a:gd name="adj" fmla="val 4706"/>
            </a:avLst>
          </a:prstGeom>
          <a:solidFill>
            <a:schemeClr val="bg2"/>
          </a:solidFill>
          <a:ln/>
        </p:spPr>
      </p:sp>
      <p:sp>
        <p:nvSpPr>
          <p:cNvPr id="8" name="Text 5"/>
          <p:cNvSpPr txBox="1"/>
          <p:nvPr/>
        </p:nvSpPr>
        <p:spPr>
          <a:xfrm>
            <a:off x="9509760" y="1481328"/>
            <a:ext cx="1920240" cy="699516"/>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37%</a:t>
            </a:r>
            <a:endParaRPr lang="en-US" sz="3600" dirty="0"/>
          </a:p>
        </p:txBody>
      </p:sp>
      <p:sp>
        <p:nvSpPr>
          <p:cNvPr id="9" name="Text 6"/>
          <p:cNvSpPr txBox="1"/>
          <p:nvPr/>
        </p:nvSpPr>
        <p:spPr>
          <a:xfrm>
            <a:off x="9509760" y="2226564"/>
            <a:ext cx="1920240" cy="652882"/>
          </a:xfrm>
          <a:prstGeom prst="rect">
            <a:avLst/>
          </a:prstGeom>
          <a:noFill/>
          <a:ln/>
        </p:spPr>
        <p:txBody>
          <a:bodyPr wrap="square" lIns="0" tIns="0" rIns="0" bIns="0" rtlCol="0" anchor="t"/>
          <a:lstStyle/>
          <a:p>
            <a:pPr indent="0" marL="0">
              <a:buNone/>
            </a:pPr>
            <a:r>
              <a:rPr lang="en-US" sz="1400" dirty="0">
                <a:solidFill>
                  <a:schemeClr val="tx1"/>
                </a:solidFill>
              </a:rPr>
              <a:t>finish the web bank-mandate flow (527 of 1,434)</a:t>
            </a:r>
            <a:endParaRPr lang="en-US" sz="1400" dirty="0"/>
          </a:p>
        </p:txBody>
      </p:sp>
      <p:sp>
        <p:nvSpPr>
          <p:cNvPr id="10" name="Stat cancels"/>
          <p:cNvSpPr/>
          <p:nvPr/>
        </p:nvSpPr>
        <p:spPr>
          <a:xfrm>
            <a:off x="6858000" y="3108960"/>
            <a:ext cx="2286000" cy="1554480"/>
          </a:xfrm>
          <a:prstGeom prst="roundRect">
            <a:avLst>
              <a:gd name="adj" fmla="val 4706"/>
            </a:avLst>
          </a:prstGeom>
          <a:solidFill>
            <a:schemeClr val="bg2"/>
          </a:solidFill>
          <a:ln/>
        </p:spPr>
      </p:sp>
      <p:sp>
        <p:nvSpPr>
          <p:cNvPr id="11" name="Text 8"/>
          <p:cNvSpPr txBox="1"/>
          <p:nvPr/>
        </p:nvSpPr>
        <p:spPr>
          <a:xfrm>
            <a:off x="7040880" y="3218688"/>
            <a:ext cx="1920240" cy="699516"/>
          </a:xfrm>
          <a:prstGeom prst="rect">
            <a:avLst/>
          </a:prstGeom>
          <a:noFill/>
          <a:ln/>
        </p:spPr>
        <p:txBody>
          <a:bodyPr wrap="square" lIns="0" tIns="0" rIns="0" bIns="0" rtlCol="0" anchor="ctr"/>
          <a:lstStyle/>
          <a:p>
            <a:pPr indent="0" marL="0">
              <a:buNone/>
            </a:pPr>
            <a:r>
              <a:rPr lang="en-US" sz="3600" b="1" dirty="0">
                <a:solidFill>
                  <a:schemeClr val="accent3"/>
                </a:solidFill>
                <a:latin typeface="Cambria" pitchFamily="34" charset="0"/>
                <a:ea typeface="Cambria" pitchFamily="34" charset="-122"/>
                <a:cs typeface="Cambria" pitchFamily="34" charset="-120"/>
              </a:rPr>
              <a:t>2,253</a:t>
            </a:r>
            <a:endParaRPr lang="en-US" sz="3600" dirty="0"/>
          </a:p>
        </p:txBody>
      </p:sp>
      <p:sp>
        <p:nvSpPr>
          <p:cNvPr id="12" name="Text 9"/>
          <p:cNvSpPr txBox="1"/>
          <p:nvPr/>
        </p:nvSpPr>
        <p:spPr>
          <a:xfrm>
            <a:off x="7040880" y="3963924"/>
            <a:ext cx="1920240" cy="652882"/>
          </a:xfrm>
          <a:prstGeom prst="rect">
            <a:avLst/>
          </a:prstGeom>
          <a:noFill/>
          <a:ln/>
        </p:spPr>
        <p:txBody>
          <a:bodyPr wrap="square" lIns="0" tIns="0" rIns="0" bIns="0" rtlCol="0" anchor="t"/>
          <a:lstStyle/>
          <a:p>
            <a:pPr indent="0" marL="0">
              <a:buNone/>
            </a:pPr>
            <a:r>
              <a:rPr lang="en-US" sz="1400" dirty="0">
                <a:solidFill>
                  <a:schemeClr val="tx1"/>
                </a:solidFill>
              </a:rPr>
              <a:t>cancelled a SIP in 30 days; 483 paused</a:t>
            </a:r>
            <a:endParaRPr lang="en-US" sz="1400" dirty="0"/>
          </a:p>
        </p:txBody>
      </p:sp>
      <p:sp>
        <p:nvSpPr>
          <p:cNvPr id="13" name="Stat folio"/>
          <p:cNvSpPr/>
          <p:nvPr/>
        </p:nvSpPr>
        <p:spPr>
          <a:xfrm>
            <a:off x="9326880" y="3108960"/>
            <a:ext cx="2286000" cy="1554480"/>
          </a:xfrm>
          <a:prstGeom prst="roundRect">
            <a:avLst>
              <a:gd name="adj" fmla="val 4706"/>
            </a:avLst>
          </a:prstGeom>
          <a:solidFill>
            <a:schemeClr val="bg2"/>
          </a:solidFill>
          <a:ln/>
        </p:spPr>
      </p:sp>
      <p:sp>
        <p:nvSpPr>
          <p:cNvPr id="14" name="Text 11"/>
          <p:cNvSpPr txBox="1"/>
          <p:nvPr/>
        </p:nvSpPr>
        <p:spPr>
          <a:xfrm>
            <a:off x="9509760" y="3218688"/>
            <a:ext cx="1920240" cy="699516"/>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32%</a:t>
            </a:r>
            <a:endParaRPr lang="en-US" sz="3600" dirty="0"/>
          </a:p>
        </p:txBody>
      </p:sp>
      <p:sp>
        <p:nvSpPr>
          <p:cNvPr id="15" name="Text 12"/>
          <p:cNvSpPr txBox="1"/>
          <p:nvPr/>
        </p:nvSpPr>
        <p:spPr>
          <a:xfrm>
            <a:off x="9509760" y="3963924"/>
            <a:ext cx="1920240" cy="652882"/>
          </a:xfrm>
          <a:prstGeom prst="rect">
            <a:avLst/>
          </a:prstGeom>
          <a:noFill/>
          <a:ln/>
        </p:spPr>
        <p:txBody>
          <a:bodyPr wrap="square" lIns="0" tIns="0" rIns="0" bIns="0" rtlCol="0" anchor="t"/>
          <a:lstStyle/>
          <a:p>
            <a:pPr indent="0" marL="0">
              <a:buNone/>
            </a:pPr>
            <a:r>
              <a:rPr lang="en-US" sz="1400" dirty="0">
                <a:solidFill>
                  <a:schemeClr val="tx1"/>
                </a:solidFill>
              </a:rPr>
              <a:t>of new folios make a first SIP within 7 days</a:t>
            </a:r>
            <a:endParaRPr lang="en-US" sz="1400" dirty="0"/>
          </a:p>
        </p:txBody>
      </p:sp>
      <p:sp>
        <p:nvSpPr>
          <p:cNvPr id="16" name="Text 13"/>
          <p:cNvSpPr txBox="1"/>
          <p:nvPr/>
        </p:nvSpPr>
        <p:spPr>
          <a:xfrm>
            <a:off x="6858000" y="4846320"/>
            <a:ext cx="4754880" cy="1097280"/>
          </a:xfrm>
          <a:prstGeom prst="rect">
            <a:avLst/>
          </a:prstGeom>
          <a:noFill/>
          <a:ln/>
        </p:spPr>
        <p:txBody>
          <a:bodyPr wrap="square" lIns="0" tIns="0" rIns="0" bIns="0" rtlCol="0" anchor="t"/>
          <a:lstStyle/>
          <a:p>
            <a:pPr indent="0" marL="0">
              <a:buNone/>
            </a:pPr>
            <a:r>
              <a:rPr lang="en-US" sz="1400" dirty="0">
                <a:solidFill>
                  <a:schemeClr val="tx1"/>
                </a:solidFill>
              </a:rPr>
              <a:t>Over 90 days: 5,213 autopay successes against 4,306 cancellations, but since 12 Sep cancels match or exceed new autopay successes on many days.</a:t>
            </a:r>
            <a:endParaRPr lang="en-US" sz="1400" dirty="0"/>
          </a:p>
        </p:txBody>
      </p:sp>
      <p:sp>
        <p:nvSpPr>
          <p:cNvPr id="17"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Source: NVECTA mf_autopay_failure/success, mf_upi_autopay_success, mf_sip_cancel_success, mf_sip_pause_success; folio to first SIP funnel. Event-user counts are indicative.</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822960" y="2377440"/>
            <a:ext cx="10515600" cy="1097280"/>
          </a:xfrm>
          <a:prstGeom prst="rect">
            <a:avLst/>
          </a:prstGeom>
          <a:noFill/>
          <a:ln/>
        </p:spPr>
        <p:txBody>
          <a:bodyPr wrap="square" lIns="0" tIns="0" rIns="0" bIns="0" rtlCol="0" anchor="t"/>
          <a:lstStyle/>
          <a:p>
            <a:pPr algn="l" indent="0" marL="0">
              <a:buNone/>
            </a:pPr>
            <a:r>
              <a:rPr lang="en-US" sz="4000" b="1" dirty="0">
                <a:solidFill>
                  <a:schemeClr val="bg1"/>
                </a:solidFill>
              </a:rPr>
              <a:t>How peer AMCs handle the same three pages</a:t>
            </a:r>
            <a:endParaRPr lang="en-US" sz="4000" dirty="0"/>
          </a:p>
        </p:txBody>
      </p:sp>
      <p:sp>
        <p:nvSpPr>
          <p:cNvPr id="3" name="Text 1"/>
          <p:cNvSpPr/>
          <p:nvPr>
            <p:ph idx="102" type="body" hasCustomPrompt="1"/>
          </p:nvPr>
        </p:nvSpPr>
        <p:spPr>
          <a:xfrm>
            <a:off x="822960" y="3566160"/>
            <a:ext cx="10058400" cy="914400"/>
          </a:xfrm>
          <a:prstGeom prst="rect">
            <a:avLst/>
          </a:prstGeom>
          <a:noFill/>
          <a:ln/>
        </p:spPr>
        <p:txBody>
          <a:bodyPr wrap="square" lIns="0" tIns="0" rIns="0" bIns="0" rtlCol="0" anchor="t"/>
          <a:lstStyle/>
          <a:p>
            <a:pPr algn="l" indent="0" marL="0">
              <a:buNone/>
            </a:pPr>
            <a:r>
              <a:rPr lang="en-US" sz="1800" dirty="0">
                <a:solidFill>
                  <a:schemeClr val="bg2"/>
                </a:solidFill>
              </a:rPr>
              <a:t>Home, SIP calculator and defence fund page: HDFC, Axis, Aditya Birla Sun Life and ICICI Prudential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Peers let visitors start a SIP on the page itself</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103120"/>
                <a:gridCol w="1792224"/>
                <a:gridCol w="1792224"/>
                <a:gridCol w="1792224"/>
                <a:gridCol w="1792224"/>
                <a:gridCol w="1792224"/>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Page / signal</a:t>
                      </a:r>
                      <a:endParaRPr lang="en-US" sz="1200" dirty="0">
                        <a:latin typeface="Calibri" charset="0"/>
                        <a:ea typeface="Calibri" charset="0"/>
                        <a:cs typeface="Calibri" charset="0"/>
                      </a:endParaRPr>
                    </a:p>
                  </a:txBody>
                  <a:tcPr marL="45720" marR="45720" marT="27432" marB="2743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MOAMC (own)</a:t>
                      </a:r>
                      <a:endParaRPr lang="en-US" sz="1200" dirty="0">
                        <a:latin typeface="Calibri" charset="0"/>
                        <a:ea typeface="Calibri" charset="0"/>
                        <a:cs typeface="Calibri" charset="0"/>
                      </a:endParaRPr>
                    </a:p>
                  </a:txBody>
                  <a:tcPr marL="45720" marR="45720" marT="27432" marB="2743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Axis MF</a:t>
                      </a:r>
                      <a:endParaRPr lang="en-US" sz="1200" dirty="0">
                        <a:latin typeface="Calibri" charset="0"/>
                        <a:ea typeface="Calibri" charset="0"/>
                        <a:cs typeface="Calibri" charset="0"/>
                      </a:endParaRPr>
                    </a:p>
                  </a:txBody>
                  <a:tcPr marL="45720" marR="45720" marT="27432" marB="2743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ABSL MF</a:t>
                      </a:r>
                      <a:endParaRPr lang="en-US" sz="1200" dirty="0">
                        <a:latin typeface="Calibri" charset="0"/>
                        <a:ea typeface="Calibri" charset="0"/>
                        <a:cs typeface="Calibri" charset="0"/>
                      </a:endParaRPr>
                    </a:p>
                  </a:txBody>
                  <a:tcPr marL="45720" marR="45720" marT="27432" marB="2743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ICICI Pru MF</a:t>
                      </a:r>
                      <a:endParaRPr lang="en-US" sz="1200" dirty="0">
                        <a:latin typeface="Calibri" charset="0"/>
                        <a:ea typeface="Calibri" charset="0"/>
                        <a:cs typeface="Calibri" charset="0"/>
                      </a:endParaRPr>
                    </a:p>
                  </a:txBody>
                  <a:tcPr marL="45720" marR="45720" marT="27432" marB="2743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HDFC MF</a:t>
                      </a:r>
                      <a:endParaRPr lang="en-US" sz="1200" dirty="0">
                        <a:latin typeface="Calibri" charset="0"/>
                        <a:ea typeface="Calibri" charset="0"/>
                        <a:cs typeface="Calibri" charset="0"/>
                      </a:endParaRPr>
                    </a:p>
                  </a:txBody>
                  <a:tcPr marL="45720" marR="45720" marT="27432" marB="27432">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Home: SIP block</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None seen; 'Invest' in header</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SIP calculator widget</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'SIP with ABSL MF' section</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'Invest', no SIP block</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Home: guided start</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'Call back', 'WhatsApp us'</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'Great for Beginners', 'Start Here'</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'Get Investment Plan'</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'Speak to an expert'</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Calculator: invest button</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'Start SIP' on a fund card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'Invest Now' under result</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'Calculate' only</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'Start Investing' under result</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Calculator: quick amounts, modes</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seen</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Goal or SIP-amount modes</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Amount, months, return</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Amount chips; SIP, Lumpsum, SWP tabs</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Fund page: amount entry above fold</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'Invest Now', SIP/Lumpsum toggle</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Panel: SIP tab, amount, +500/+1000</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Panel: SIP and lumpsum amounts</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'New Investment' panel</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Fund page: minimum SIP shown</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detected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stated in panel</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Min Rs 500</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Min Rs 100</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Fund page: frequency, debit date</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detected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'SIP debit day'</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in panel</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Monthly, quarterly, weekly; dates</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Fund page: SIP simulator</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Past-performance calculator</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seen</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seen</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D3D1"/>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Fund simulator (SIP)</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r h="420624">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Testing tool detected</a:t>
                      </a:r>
                      <a:endParaRPr lang="en-US" sz="12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None seen</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Adobe Target</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Adobe Target</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Adobe Target</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c>
                  <a:txBody>
                    <a:bodyPr/>
                    <a:lstStyle/>
                    <a:p>
                      <a:pPr algn="ctr" indent="0" marL="0">
                        <a:buNone/>
                      </a:pPr>
                      <a:r>
                        <a:rPr lang="en-US" sz="1100" dirty="0">
                          <a:solidFill>
                            <a:srgbClr val="1B2733"/>
                          </a:solidFill>
                          <a:latin typeface="Calibri" pitchFamily="34" charset="0"/>
                          <a:ea typeface="Calibri" pitchFamily="34" charset="-122"/>
                          <a:cs typeface="Calibri" pitchFamily="34" charset="-120"/>
                        </a:rPr>
                        <a:t>Not scraped</a:t>
                      </a:r>
                      <a:endParaRPr lang="en-US" sz="1100" dirty="0">
                        <a:latin typeface="Calibri" charset="0"/>
                        <a:ea typeface="Calibri" charset="0"/>
                        <a:cs typeface="Calibri" charset="0"/>
                      </a:endParaRPr>
                    </a:p>
                  </a:txBody>
                  <a:tcPr marL="45720" marR="45720"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3E7EC"/>
                    </a:solidFill>
                  </a:tcPr>
                </a:tc>
              </a:tr>
            </a:tbl>
          </a:graphicData>
        </a:graphic>
      </p:graphicFrame>
      <p:sp>
        <p:nvSpPr>
          <p:cNvPr id="4" name="Text 1"/>
          <p:cNvSpPr txBox="1"/>
          <p:nvPr/>
        </p:nvSpPr>
        <p:spPr>
          <a:xfrm>
            <a:off x="548640" y="5623560"/>
            <a:ext cx="11064240" cy="274320"/>
          </a:xfrm>
          <a:prstGeom prst="rect">
            <a:avLst/>
          </a:prstGeom>
          <a:noFill/>
          <a:ln/>
        </p:spPr>
        <p:txBody>
          <a:bodyPr wrap="square" lIns="0" tIns="0" rIns="0" bIns="0" rtlCol="0" anchor="ctr"/>
          <a:lstStyle/>
          <a:p>
            <a:pPr indent="0" marL="0">
              <a:buNone/>
            </a:pPr>
            <a:r>
              <a:rPr lang="en-US" sz="1200" b="1" dirty="0">
                <a:solidFill>
                  <a:srgbClr val="2E8B6A"/>
                </a:solidFill>
              </a:rPr>
              <a:t>Green</a:t>
            </a:r>
            <a:pPr indent="0" marL="0">
              <a:buNone/>
            </a:pPr>
            <a:r>
              <a:rPr lang="en-US" sz="1200" dirty="0">
                <a:solidFill>
                  <a:schemeClr val="tx1"/>
                </a:solidFill>
              </a:rPr>
              <a:t> = clear SIP path on the page   </a:t>
            </a:r>
            <a:pPr indent="0" marL="0">
              <a:buNone/>
            </a:pPr>
            <a:r>
              <a:rPr lang="en-US" sz="1200" b="1" dirty="0">
                <a:solidFill>
                  <a:srgbClr val="B7791F"/>
                </a:solidFill>
              </a:rPr>
              <a:t>Amber</a:t>
            </a:r>
            <a:pPr indent="0" marL="0">
              <a:buNone/>
            </a:pPr>
            <a:r>
              <a:rPr lang="en-US" sz="1200" dirty="0">
                <a:solidFill>
                  <a:schemeClr val="tx1"/>
                </a:solidFill>
              </a:rPr>
              <a:t> = partial   </a:t>
            </a:r>
            <a:pPr indent="0" marL="0">
              <a:buNone/>
            </a:pPr>
            <a:r>
              <a:rPr lang="en-US" sz="1200" b="1" dirty="0">
                <a:solidFill>
                  <a:srgbClr val="D8504D"/>
                </a:solidFill>
              </a:rPr>
              <a:t>Red</a:t>
            </a:r>
            <a:pPr indent="0" marL="0">
              <a:buNone/>
            </a:pPr>
            <a:r>
              <a:rPr lang="en-US" sz="1200" dirty="0">
                <a:solidFill>
                  <a:schemeClr val="tx1"/>
                </a:solidFill>
              </a:rPr>
              <a:t> = not seen on the page   </a:t>
            </a:r>
            <a:pPr indent="0" marL="0">
              <a:buNone/>
            </a:pPr>
            <a:r>
              <a:rPr lang="en-US" sz="1200" b="1" dirty="0">
                <a:solidFill>
                  <a:srgbClr val="7A8CA3"/>
                </a:solidFill>
              </a:rPr>
              <a:t>Grey</a:t>
            </a:r>
            <a:pPr indent="0" marL="0">
              <a:buNone/>
            </a:pPr>
            <a:r>
              <a:rPr lang="en-US" sz="1200" dirty="0">
                <a:solidFill>
                  <a:schemeClr val="tx1"/>
                </a:solidFill>
              </a:rPr>
              <a:t> = not scraped / neutral</a:t>
            </a:r>
            <a:endParaRPr lang="en-US" sz="1200" dirty="0"/>
          </a:p>
        </p:txBody>
      </p:sp>
      <p:sp>
        <p:nvSpPr>
          <p:cNvPr id="5"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Source: page snapshots, 14 Oct 2026 (desktop, 3 fresh sessions per page). HDFC blocks automated access (robots.txt) and was not scraped. Snapshots show page content, not performance.</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Three peers let visitors start a SIP on the public page</a:t>
            </a:r>
            <a:endParaRPr lang="en-US" sz="2800" dirty="0"/>
          </a:p>
        </p:txBody>
      </p:sp>
      <p:sp>
        <p:nvSpPr>
          <p:cNvPr id="3" name="Reference card"/>
          <p:cNvSpPr/>
          <p:nvPr/>
        </p:nvSpPr>
        <p:spPr>
          <a:xfrm>
            <a:off x="548640" y="1280160"/>
            <a:ext cx="3566160" cy="4160520"/>
          </a:xfrm>
          <a:prstGeom prst="roundRect">
            <a:avLst>
              <a:gd name="adj" fmla="val 2051"/>
            </a:avLst>
          </a:prstGeom>
          <a:solidFill>
            <a:schemeClr val="bg2"/>
          </a:solidFill>
          <a:ln/>
        </p:spPr>
      </p:sp>
      <p:sp>
        <p:nvSpPr>
          <p:cNvPr id="4" name="Text 2"/>
          <p:cNvSpPr txBox="1"/>
          <p:nvPr/>
        </p:nvSpPr>
        <p:spPr>
          <a:xfrm>
            <a:off x="685800" y="1371600"/>
            <a:ext cx="3291840" cy="50292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Axis MF: invest panel on the fund page</a:t>
            </a:r>
            <a:endParaRPr lang="en-US" sz="1500" dirty="0"/>
          </a:p>
        </p:txBody>
      </p:sp>
      <p:pic>
        <p:nvPicPr>
          <p:cNvPr id="5" name="Competitor screenshot" descr="Screenshot: Axis MF: invest panel on the fund page">    </p:cNvPr>
          <p:cNvPicPr>
            <a:picLocks noChangeAspect="1"/>
          </p:cNvPicPr>
          <p:nvPr/>
        </p:nvPicPr>
        <p:blipFill>
          <a:blip r:embed="rId1"/>
          <a:srcRect l="0" r="0" t="0" b="0"/>
          <a:stretch/>
        </p:blipFill>
        <p:spPr>
          <a:xfrm>
            <a:off x="685800" y="1920240"/>
            <a:ext cx="3291840" cy="2331720"/>
          </a:xfrm>
          <a:prstGeom prst="rect">
            <a:avLst/>
          </a:prstGeom>
        </p:spPr>
      </p:pic>
      <p:sp>
        <p:nvSpPr>
          <p:cNvPr id="6" name="Text 3"/>
          <p:cNvSpPr txBox="1"/>
          <p:nvPr/>
        </p:nvSpPr>
        <p:spPr>
          <a:xfrm>
            <a:off x="685800" y="4343400"/>
            <a:ext cx="3291840" cy="10515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SIP tab first, amount box, +Rs 500 / +Rs 1,000 chips, SIP debit day</a:t>
            </a:r>
            <a:endParaRPr lang="en-US" sz="1200" dirty="0"/>
          </a:p>
          <a:p>
            <a:pPr marL="342900" indent="-342900">
              <a:spcAft>
                <a:spcPts val="800"/>
              </a:spcAft>
              <a:buSzPct val="100000"/>
              <a:buChar char="•"/>
            </a:pPr>
            <a:r>
              <a:rPr lang="en-US" sz="1200" dirty="0">
                <a:solidFill>
                  <a:schemeClr val="tx1"/>
                </a:solidFill>
              </a:rPr>
              <a:t>Calculator result ends in 'Invest Now'; home has a calculator widget</a:t>
            </a:r>
            <a:endParaRPr lang="en-US" sz="1200" dirty="0"/>
          </a:p>
        </p:txBody>
      </p:sp>
      <p:sp>
        <p:nvSpPr>
          <p:cNvPr id="7" name="Reference card"/>
          <p:cNvSpPr/>
          <p:nvPr/>
        </p:nvSpPr>
        <p:spPr>
          <a:xfrm>
            <a:off x="4297680" y="1280160"/>
            <a:ext cx="3566160" cy="4160520"/>
          </a:xfrm>
          <a:prstGeom prst="roundRect">
            <a:avLst>
              <a:gd name="adj" fmla="val 2051"/>
            </a:avLst>
          </a:prstGeom>
          <a:solidFill>
            <a:schemeClr val="bg2"/>
          </a:solidFill>
          <a:ln/>
        </p:spPr>
      </p:sp>
      <p:sp>
        <p:nvSpPr>
          <p:cNvPr id="8" name="Text 5"/>
          <p:cNvSpPr txBox="1"/>
          <p:nvPr/>
        </p:nvSpPr>
        <p:spPr>
          <a:xfrm>
            <a:off x="4434840" y="1371600"/>
            <a:ext cx="3291840" cy="50292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ICICI Pru MF: plan built on the page</a:t>
            </a:r>
            <a:endParaRPr lang="en-US" sz="1500" dirty="0"/>
          </a:p>
        </p:txBody>
      </p:sp>
      <p:pic>
        <p:nvPicPr>
          <p:cNvPr id="9" name="Competitor screenshot" descr="Screenshot: ICICI Pru MF: plan built on the page">    </p:cNvPr>
          <p:cNvPicPr>
            <a:picLocks noChangeAspect="1"/>
          </p:cNvPicPr>
          <p:nvPr/>
        </p:nvPicPr>
        <p:blipFill>
          <a:blip r:embed="rId2"/>
          <a:srcRect l="0" r="0" t="0" b="0"/>
          <a:stretch/>
        </p:blipFill>
        <p:spPr>
          <a:xfrm>
            <a:off x="4434840" y="1920240"/>
            <a:ext cx="3291840" cy="2331720"/>
          </a:xfrm>
          <a:prstGeom prst="rect">
            <a:avLst/>
          </a:prstGeom>
        </p:spPr>
      </p:pic>
      <p:sp>
        <p:nvSpPr>
          <p:cNvPr id="10" name="Text 6"/>
          <p:cNvSpPr txBox="1"/>
          <p:nvPr/>
        </p:nvSpPr>
        <p:spPr>
          <a:xfrm>
            <a:off x="4434840" y="4343400"/>
            <a:ext cx="3291840" cy="10515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Calculator: amount chips, SIP / Lumpsum / SWP tabs, 'Start Investing' under result</a:t>
            </a:r>
            <a:endParaRPr lang="en-US" sz="1200" dirty="0"/>
          </a:p>
          <a:p>
            <a:pPr marL="342900" indent="-342900">
              <a:spcAft>
                <a:spcPts val="800"/>
              </a:spcAft>
              <a:buSzPct val="100000"/>
              <a:buChar char="•"/>
            </a:pPr>
            <a:r>
              <a:rPr lang="en-US" sz="1200" dirty="0">
                <a:solidFill>
                  <a:schemeClr val="tx1"/>
                </a:solidFill>
              </a:rPr>
              <a:t>Fund page: 'New Investment' panel (min Rs 100, frequency, dates) and a fund simulator</a:t>
            </a:r>
            <a:endParaRPr lang="en-US" sz="1200" dirty="0"/>
          </a:p>
        </p:txBody>
      </p:sp>
      <p:sp>
        <p:nvSpPr>
          <p:cNvPr id="11" name="Reference card"/>
          <p:cNvSpPr/>
          <p:nvPr/>
        </p:nvSpPr>
        <p:spPr>
          <a:xfrm>
            <a:off x="8046720" y="1280160"/>
            <a:ext cx="3566160" cy="4160520"/>
          </a:xfrm>
          <a:prstGeom prst="roundRect">
            <a:avLst>
              <a:gd name="adj" fmla="val 2051"/>
            </a:avLst>
          </a:prstGeom>
          <a:solidFill>
            <a:schemeClr val="bg2"/>
          </a:solidFill>
          <a:ln/>
        </p:spPr>
      </p:sp>
      <p:sp>
        <p:nvSpPr>
          <p:cNvPr id="12" name="Text 8"/>
          <p:cNvSpPr txBox="1"/>
          <p:nvPr/>
        </p:nvSpPr>
        <p:spPr>
          <a:xfrm>
            <a:off x="8183880" y="1371600"/>
            <a:ext cx="3291840" cy="50292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ABSL MF: SIP and lumpsum amounts side by side</a:t>
            </a:r>
            <a:endParaRPr lang="en-US" sz="1500" dirty="0"/>
          </a:p>
        </p:txBody>
      </p:sp>
      <p:pic>
        <p:nvPicPr>
          <p:cNvPr id="13" name="Competitor screenshot" descr="Screenshot: ABSL MF: SIP and lumpsum amounts side by side">    </p:cNvPr>
          <p:cNvPicPr>
            <a:picLocks noChangeAspect="1"/>
          </p:cNvPicPr>
          <p:nvPr/>
        </p:nvPicPr>
        <p:blipFill>
          <a:blip r:embed="rId3"/>
          <a:srcRect l="0" r="0" t="0" b="0"/>
          <a:stretch/>
        </p:blipFill>
        <p:spPr>
          <a:xfrm>
            <a:off x="8183880" y="1920240"/>
            <a:ext cx="3291840" cy="2331720"/>
          </a:xfrm>
          <a:prstGeom prst="rect">
            <a:avLst/>
          </a:prstGeom>
        </p:spPr>
      </p:pic>
      <p:sp>
        <p:nvSpPr>
          <p:cNvPr id="14" name="Text 9"/>
          <p:cNvSpPr txBox="1"/>
          <p:nvPr/>
        </p:nvSpPr>
        <p:spPr>
          <a:xfrm>
            <a:off x="8183880" y="4343400"/>
            <a:ext cx="3291840" cy="10515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chemeClr val="tx1"/>
                </a:solidFill>
              </a:rPr>
              <a:t>Floating panel with SIP amount and lumpsum amount (min Rs 500) and 'Invest Now'</a:t>
            </a:r>
            <a:endParaRPr lang="en-US" sz="1200" dirty="0"/>
          </a:p>
          <a:p>
            <a:pPr marL="342900" indent="-342900">
              <a:spcAft>
                <a:spcPts val="800"/>
              </a:spcAft>
              <a:buSzPct val="100000"/>
              <a:buChar char="•"/>
            </a:pPr>
            <a:r>
              <a:rPr lang="en-US" sz="1200" dirty="0">
                <a:solidFill>
                  <a:schemeClr val="tx1"/>
                </a:solidFill>
              </a:rPr>
              <a:t>Home has a 'SIP with ABSL MF' section; one-click UPI AutoPay for SIPs since 2023</a:t>
            </a:r>
            <a:endParaRPr lang="en-US" sz="1200" dirty="0"/>
          </a:p>
        </p:txBody>
      </p:sp>
      <p:sp>
        <p:nvSpPr>
          <p:cNvPr id="15" name="Text 10"/>
          <p:cNvSpPr txBox="1"/>
          <p:nvPr/>
        </p:nvSpPr>
        <p:spPr>
          <a:xfrm>
            <a:off x="548640" y="5532120"/>
            <a:ext cx="11064240" cy="457200"/>
          </a:xfrm>
          <a:prstGeom prst="rect">
            <a:avLst/>
          </a:prstGeom>
          <a:noFill/>
          <a:ln/>
        </p:spPr>
        <p:txBody>
          <a:bodyPr wrap="square" lIns="0" tIns="0" rIns="0" bIns="0" rtlCol="0" anchor="t"/>
          <a:lstStyle/>
          <a:p>
            <a:pPr indent="0" marL="0">
              <a:buNone/>
            </a:pPr>
            <a:r>
              <a:rPr lang="en-US" sz="1200" dirty="0">
                <a:solidFill>
                  <a:schemeClr val="tx1"/>
                </a:solidFill>
              </a:rPr>
              <a:t>HDFC MF: not scraped (robots.txt). Public pages show a calculator hub (SIP, step-up, goal, top-up) and an active HDFC Defence Fund; capture by hand for the deck if needed.</a:t>
            </a:r>
            <a:endParaRPr lang="en-US" sz="1200" dirty="0"/>
          </a:p>
        </p:txBody>
      </p:sp>
      <p:sp>
        <p:nvSpPr>
          <p:cNvPr id="16"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Source: page snapshots and screenshots, 14 Oct 2026 (desktop); HDFC pages via public search results. ABSL UPI AutoPay: ABSL press release, Dec 2023.</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822960" y="2377440"/>
            <a:ext cx="10515600" cy="1097280"/>
          </a:xfrm>
          <a:prstGeom prst="rect">
            <a:avLst/>
          </a:prstGeom>
          <a:noFill/>
          <a:ln/>
        </p:spPr>
        <p:txBody>
          <a:bodyPr wrap="square" lIns="0" tIns="0" rIns="0" bIns="0" rtlCol="0" anchor="t"/>
          <a:lstStyle/>
          <a:p>
            <a:pPr algn="l" indent="0" marL="0">
              <a:buNone/>
            </a:pPr>
            <a:r>
              <a:rPr lang="en-US" sz="4000" b="1" dirty="0">
                <a:solidFill>
                  <a:schemeClr val="bg1"/>
                </a:solidFill>
              </a:rPr>
              <a:t>Seven tests, from the page to the payment</a:t>
            </a:r>
            <a:endParaRPr lang="en-US" sz="4000" dirty="0"/>
          </a:p>
        </p:txBody>
      </p:sp>
      <p:sp>
        <p:nvSpPr>
          <p:cNvPr id="3" name="Text 1"/>
          <p:cNvSpPr/>
          <p:nvPr>
            <p:ph idx="102" type="body" hasCustomPrompt="1"/>
          </p:nvPr>
        </p:nvSpPr>
        <p:spPr>
          <a:xfrm>
            <a:off x="822960" y="3566160"/>
            <a:ext cx="10058400" cy="914400"/>
          </a:xfrm>
          <a:prstGeom prst="rect">
            <a:avLst/>
          </a:prstGeom>
          <a:noFill/>
          <a:ln/>
        </p:spPr>
        <p:txBody>
          <a:bodyPr wrap="square" lIns="0" tIns="0" rIns="0" bIns="0" rtlCol="0" anchor="t"/>
          <a:lstStyle/>
          <a:p>
            <a:pPr algn="l" indent="0" marL="0">
              <a:buNone/>
            </a:pPr>
            <a:r>
              <a:rPr lang="en-US" sz="1800" dirty="0">
                <a:solidFill>
                  <a:schemeClr val="bg2"/>
                </a:solidFill>
              </a:rPr>
              <a:t>Each card: observation (analytics and competitors), hypothesis, test and expected uplift</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Roadmap: pre-login tests first, post-login once confirmed</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457200"/>
                <a:gridCol w="3657600"/>
                <a:gridCol w="1737360"/>
                <a:gridCol w="1188720"/>
                <a:gridCol w="2377440"/>
                <a:gridCol w="822960"/>
                <a:gridCol w="82296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Where</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Stage</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Expected uplift per month</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Effort</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Priority</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r>
              <a:tr h="475488">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T1</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SIP calculator: plan-linked 'Start this SIP' button</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SIP calculator (m-site first)</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Pre-login</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+60 to 125 SIPs</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r>
              <a:tr h="475488">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T2</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Fund pages: SIP amount panel above the fold (sticky on mobile)</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Defence Index Fund first, then 3 more</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Pre-login</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+115 to 230 SIPs</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Low-Med</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r>
              <a:tr h="475488">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T3</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Login hand-off: 'Continue your SIP' with fund and amount kept</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Login pages to invest purchase</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Post-login</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+150 to 290 SIPs</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Med</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r>
              <a:tr h="475488">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T4</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Purchase start: SIP preselected for SIP-intent entries</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Invest purchase start (website, m-site)</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Post-login</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+205 to 340 SIPs</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Med</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r>
              <a:tr h="475488">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T5</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Autopay: UPI AutoPay first, retry and 30-minute follow-up</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Register autopay and journey</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Post-login</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+270 to 400 mandates</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Med</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DEBDD"/>
                    </a:solidFill>
                  </a:tcPr>
                </a:tc>
              </a:tr>
              <a:tr h="475488">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T6</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Cancel-save: pause, lower amount or new date before cancel</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Cancel subscription page</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Post-login</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+225 to 340 SIPs kept</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Low-Med</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r>
              <a:tr h="475488">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T7</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New folio: 'Start your first SIP' card and 24-hour journey</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Folio confirmation and journeys</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Post-login</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+70 to 145 SIPs</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algn="ctr" indent="0" marL="0">
                        <a:buNone/>
                      </a:pPr>
                      <a:r>
                        <a:rPr lang="en-US" sz="1200" b="1" dirty="0">
                          <a:solidFill>
                            <a:srgbClr val="1B2733"/>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54864" marR="54864"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CE9C8"/>
                    </a:solidFill>
                  </a:tcPr>
                </a:tc>
              </a:tr>
            </a:tbl>
          </a:graphicData>
        </a:graphic>
      </p:graphicFrame>
      <p:sp>
        <p:nvSpPr>
          <p:cNvPr id="4"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Uplifts are hypotheses sized from this month's volumes; they overlap and must not be added together. Final sizing needs a sample-size check once tracking is fixed.</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T1  Calculator result ends in a plan-linked 'Start this SIP'</a:t>
            </a:r>
            <a:endParaRPr lang="en-US" sz="2800" dirty="0"/>
          </a:p>
        </p:txBody>
      </p:sp>
      <p:sp>
        <p:nvSpPr>
          <p:cNvPr id="3" name="Text 1"/>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Pre-login  |  SIP calculator (m-site first)</a:t>
            </a:r>
            <a:endParaRPr lang="en-US" sz="1200" dirty="0"/>
          </a:p>
        </p:txBody>
      </p:sp>
      <p:sp>
        <p:nvSpPr>
          <p:cNvPr id="4" name="Observation card"/>
          <p:cNvSpPr/>
          <p:nvPr/>
        </p:nvSpPr>
        <p:spPr>
          <a:xfrm>
            <a:off x="548640" y="1508760"/>
            <a:ext cx="3794760" cy="4480560"/>
          </a:xfrm>
          <a:prstGeom prst="roundRect">
            <a:avLst>
              <a:gd name="adj" fmla="val 1928"/>
            </a:avLst>
          </a:prstGeom>
          <a:solidFill>
            <a:schemeClr val="bg2"/>
          </a:solidFill>
          <a:ln/>
        </p:spPr>
      </p:sp>
      <p:sp>
        <p:nvSpPr>
          <p:cNvPr id="5" name="Text 3"/>
          <p:cNvSpPr txBox="1"/>
          <p:nvPr/>
        </p:nvSpPr>
        <p:spPr>
          <a:xfrm>
            <a:off x="731520" y="1645920"/>
            <a:ext cx="3429000" cy="420624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OBSERVATION</a:t>
            </a:r>
            <a:endParaRPr lang="en-US" sz="1200" dirty="0"/>
          </a:p>
          <a:p>
            <a:pPr indent="0" marL="0">
              <a:buNone/>
            </a:pPr>
            <a:r>
              <a:rPr lang="en-US" sz="1500" b="1" dirty="0">
                <a:solidFill>
                  <a:schemeClr val="tx2"/>
                </a:solidFill>
              </a:rPr>
              <a:t>Analytics</a:t>
            </a:r>
            <a:endParaRPr lang="en-US" sz="1200" dirty="0"/>
          </a:p>
          <a:p>
            <a:pPr indent="0" marL="0">
              <a:spcAft>
                <a:spcPts val="800"/>
              </a:spcAft>
              <a:buNone/>
            </a:pPr>
            <a:r>
              <a:rPr lang="en-US" sz="1500" dirty="0">
                <a:solidFill>
                  <a:schemeClr val="tx1"/>
                </a:solidFill>
              </a:rPr>
              <a:t>The SIP calculator is the top page: 350k views and 267,573 users in 30 days. Only 2.7% reach a login page. The step-up calculator gets just 28k views.</a:t>
            </a:r>
            <a:endParaRPr lang="en-US" sz="1200" dirty="0"/>
          </a:p>
          <a:p>
            <a:pPr indent="0" marL="0">
              <a:buNone/>
            </a:pPr>
            <a:r>
              <a:rPr lang="en-US" sz="1500" b="1" dirty="0">
                <a:solidFill>
                  <a:schemeClr val="tx2"/>
                </a:solidFill>
              </a:rPr>
              <a:t>Competitors</a:t>
            </a:r>
            <a:endParaRPr lang="en-US" sz="1200" dirty="0"/>
          </a:p>
          <a:p>
            <a:pPr indent="0" marL="0">
              <a:buNone/>
            </a:pPr>
            <a:r>
              <a:rPr lang="en-US" sz="1500" dirty="0">
                <a:solidFill>
                  <a:schemeClr val="tx1"/>
                </a:solidFill>
              </a:rPr>
              <a:t>ICICI and Axis end the calculator result with an invest button under the plan ('Start Investing', 'Invest Now'); ICICI adds amount chips. Our page has a 'Start SIP' on a generic 'Most bought fund' card. ABSL has none.</a:t>
            </a:r>
            <a:endParaRPr lang="en-US" sz="1200" dirty="0"/>
          </a:p>
        </p:txBody>
      </p:sp>
      <p:sp>
        <p:nvSpPr>
          <p:cNvPr id="6" name="Text 4"/>
          <p:cNvSpPr txBox="1"/>
          <p:nvPr/>
        </p:nvSpPr>
        <p:spPr>
          <a:xfrm>
            <a:off x="4526280" y="1554480"/>
            <a:ext cx="3611880" cy="438912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HYPOTHESIS</a:t>
            </a:r>
            <a:endParaRPr lang="en-US" sz="1200" dirty="0"/>
          </a:p>
          <a:p>
            <a:pPr indent="0" marL="0">
              <a:spcAft>
                <a:spcPts val="1000"/>
              </a:spcAft>
              <a:buNone/>
            </a:pPr>
            <a:r>
              <a:rPr lang="en-US" sz="1500" dirty="0">
                <a:solidFill>
                  <a:schemeClr val="tx1"/>
                </a:solidFill>
              </a:rPr>
              <a:t>If the result ends with a button tied to the plan the visitor just built ('Start this Rs X/month SIP'), as ICICI and Axis do, more visitors will act, because the plan they built becomes step one of purchase.</a:t>
            </a:r>
            <a:endParaRPr lang="en-US" sz="1200" dirty="0"/>
          </a:p>
          <a:p>
            <a:pPr indent="0" marL="0">
              <a:spcAft>
                <a:spcPts val="400"/>
              </a:spcAft>
              <a:buNone/>
            </a:pPr>
            <a:r>
              <a:rPr lang="en-US" sz="1200" b="1" dirty="0">
                <a:solidFill>
                  <a:schemeClr val="accent1"/>
                </a:solidFill>
              </a:rPr>
              <a:t>TEST</a:t>
            </a:r>
            <a:endParaRPr lang="en-US" sz="1200" dirty="0"/>
          </a:p>
          <a:p>
            <a:pPr indent="0" marL="0">
              <a:buNone/>
            </a:pPr>
            <a:r>
              <a:rPr lang="en-US" sz="1500" dirty="0">
                <a:solidFill>
                  <a:schemeClr val="tx1"/>
                </a:solidFill>
              </a:rPr>
              <a:t>Control: today's page ('Start SIP' on a generic fund card). Variant: button under the result that carries amount and tenure into the invest flow, plus a 'See step-up' link. Primary metric: calculator to login or invest click. Guardrail: calculator use per session.</a:t>
            </a:r>
            <a:endParaRPr lang="en-US" sz="1200" dirty="0"/>
          </a:p>
        </p:txBody>
      </p:sp>
      <p:sp>
        <p:nvSpPr>
          <p:cNvPr id="7" name="Uplift card"/>
          <p:cNvSpPr/>
          <p:nvPr/>
        </p:nvSpPr>
        <p:spPr>
          <a:xfrm>
            <a:off x="8321040" y="1508760"/>
            <a:ext cx="3154680" cy="1783080"/>
          </a:xfrm>
          <a:prstGeom prst="roundRect">
            <a:avLst>
              <a:gd name="adj" fmla="val 4103"/>
            </a:avLst>
          </a:prstGeom>
          <a:solidFill>
            <a:schemeClr val="tx2"/>
          </a:solidFill>
          <a:ln/>
        </p:spPr>
      </p:sp>
      <p:sp>
        <p:nvSpPr>
          <p:cNvPr id="8" name="Text 6"/>
          <p:cNvSpPr txBox="1"/>
          <p:nvPr/>
        </p:nvSpPr>
        <p:spPr>
          <a:xfrm>
            <a:off x="8503920" y="1618488"/>
            <a:ext cx="2788920" cy="274320"/>
          </a:xfrm>
          <a:prstGeom prst="rect">
            <a:avLst/>
          </a:prstGeom>
          <a:noFill/>
          <a:ln/>
        </p:spPr>
        <p:txBody>
          <a:bodyPr wrap="square" lIns="0" tIns="0" rIns="0" bIns="0" rtlCol="0" anchor="ctr"/>
          <a:lstStyle/>
          <a:p>
            <a:pPr indent="0" marL="0">
              <a:buNone/>
            </a:pPr>
            <a:r>
              <a:rPr lang="en-US" sz="1200" b="1" dirty="0">
                <a:solidFill>
                  <a:schemeClr val="bg2"/>
                </a:solidFill>
              </a:rPr>
              <a:t>EXPECTED UPLIFT</a:t>
            </a:r>
            <a:endParaRPr lang="en-US" sz="1200" dirty="0"/>
          </a:p>
        </p:txBody>
      </p:sp>
      <p:sp>
        <p:nvSpPr>
          <p:cNvPr id="9" name="Text 7"/>
          <p:cNvSpPr txBox="1"/>
          <p:nvPr/>
        </p:nvSpPr>
        <p:spPr>
          <a:xfrm>
            <a:off x="8503920" y="1892808"/>
            <a:ext cx="2788920" cy="59436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+15-30%</a:t>
            </a:r>
            <a:endParaRPr lang="en-US" sz="2800" dirty="0"/>
          </a:p>
        </p:txBody>
      </p:sp>
      <p:sp>
        <p:nvSpPr>
          <p:cNvPr id="10" name="Text 8"/>
          <p:cNvSpPr txBox="1"/>
          <p:nvPr/>
        </p:nvSpPr>
        <p:spPr>
          <a:xfrm>
            <a:off x="8503920" y="2514600"/>
            <a:ext cx="2788920" cy="731520"/>
          </a:xfrm>
          <a:prstGeom prst="rect">
            <a:avLst/>
          </a:prstGeom>
          <a:noFill/>
          <a:ln/>
        </p:spPr>
        <p:txBody>
          <a:bodyPr wrap="square" lIns="0" tIns="0" rIns="0" bIns="0" rtlCol="0" anchor="t"/>
          <a:lstStyle/>
          <a:p>
            <a:pPr indent="0" marL="0">
              <a:buNone/>
            </a:pPr>
            <a:r>
              <a:rPr lang="en-US" sz="1200" dirty="0">
                <a:solidFill>
                  <a:schemeClr val="bg2"/>
                </a:solidFill>
              </a:rPr>
              <a:t>relative lift in calculator to login (2.7% to 3.1-3.5%): about +1,100-2,200 login visits, +60-125 SIPs a month</a:t>
            </a:r>
            <a:endParaRPr lang="en-US" sz="1200" dirty="0"/>
          </a:p>
        </p:txBody>
      </p:sp>
      <p:sp>
        <p:nvSpPr>
          <p:cNvPr id="11" name="Mock placeholder"/>
          <p:cNvSpPr/>
          <p:nvPr/>
        </p:nvSpPr>
        <p:spPr>
          <a:xfrm>
            <a:off x="8321040" y="3474720"/>
            <a:ext cx="3154680" cy="2514600"/>
          </a:xfrm>
          <a:prstGeom prst="roundRect">
            <a:avLst>
              <a:gd name="adj" fmla="val 2909"/>
            </a:avLst>
          </a:prstGeom>
          <a:solidFill>
            <a:srgbClr val="FFFFFF"/>
          </a:solidFill>
          <a:ln w="12700">
            <a:solidFill>
              <a:schemeClr val="accent5"/>
            </a:solidFill>
            <a:prstDash val="dash"/>
          </a:ln>
        </p:spPr>
      </p:sp>
      <p:sp>
        <p:nvSpPr>
          <p:cNvPr id="12" name="Text 10"/>
          <p:cNvSpPr txBox="1"/>
          <p:nvPr/>
        </p:nvSpPr>
        <p:spPr>
          <a:xfrm>
            <a:off x="8321040" y="3474720"/>
            <a:ext cx="3154680" cy="2514600"/>
          </a:xfrm>
          <a:prstGeom prst="rect">
            <a:avLst/>
          </a:prstGeom>
          <a:noFill/>
          <a:ln/>
        </p:spPr>
        <p:txBody>
          <a:bodyPr wrap="square" lIns="0" tIns="0" rIns="0" bIns="0" rtlCol="0" anchor="ctr"/>
          <a:lstStyle/>
          <a:p>
            <a:pPr algn="ctr" indent="0" marL="0">
              <a:buNone/>
            </a:pPr>
            <a:r>
              <a:rPr lang="en-US" sz="1400" dirty="0">
                <a:solidFill>
                  <a:schemeClr val="accent5"/>
                </a:solidFill>
              </a:rPr>
              <a:t>Mock to add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T2  SIP amount panel above the fold on fund pages</a:t>
            </a:r>
            <a:endParaRPr lang="en-US" sz="2800" dirty="0"/>
          </a:p>
        </p:txBody>
      </p:sp>
      <p:sp>
        <p:nvSpPr>
          <p:cNvPr id="3" name="Text 1"/>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Pre-login  |  Defence Index Fund first, then 3 more</a:t>
            </a:r>
            <a:endParaRPr lang="en-US" sz="1200" dirty="0"/>
          </a:p>
        </p:txBody>
      </p:sp>
      <p:sp>
        <p:nvSpPr>
          <p:cNvPr id="4" name="Observation card"/>
          <p:cNvSpPr/>
          <p:nvPr/>
        </p:nvSpPr>
        <p:spPr>
          <a:xfrm>
            <a:off x="548640" y="1508760"/>
            <a:ext cx="3794760" cy="4480560"/>
          </a:xfrm>
          <a:prstGeom prst="roundRect">
            <a:avLst>
              <a:gd name="adj" fmla="val 1928"/>
            </a:avLst>
          </a:prstGeom>
          <a:solidFill>
            <a:schemeClr val="bg2"/>
          </a:solidFill>
          <a:ln/>
        </p:spPr>
      </p:sp>
      <p:sp>
        <p:nvSpPr>
          <p:cNvPr id="5" name="Text 3"/>
          <p:cNvSpPr txBox="1"/>
          <p:nvPr/>
        </p:nvSpPr>
        <p:spPr>
          <a:xfrm>
            <a:off x="731520" y="1645920"/>
            <a:ext cx="3429000" cy="420624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OBSERVATION</a:t>
            </a:r>
            <a:endParaRPr lang="en-US" sz="1200" dirty="0"/>
          </a:p>
          <a:p>
            <a:pPr indent="0" marL="0">
              <a:buNone/>
            </a:pPr>
            <a:r>
              <a:rPr lang="en-US" sz="1500" b="1" dirty="0">
                <a:solidFill>
                  <a:schemeClr val="tx2"/>
                </a:solidFill>
              </a:rPr>
              <a:t>Analytics</a:t>
            </a:r>
            <a:endParaRPr lang="en-US" sz="1200" dirty="0"/>
          </a:p>
          <a:p>
            <a:pPr indent="0" marL="0">
              <a:spcAft>
                <a:spcPts val="800"/>
              </a:spcAft>
              <a:buNone/>
            </a:pPr>
            <a:r>
              <a:rPr lang="en-US" sz="1500" dirty="0">
                <a:solidFill>
                  <a:schemeClr val="tx1"/>
                </a:solidFill>
              </a:rPr>
              <a:t>Eight fund pages draw 130k-318k views each (Special Opportunities 318k, Defence Index 284k). Only 1.4% of 1.46M fund-page users reach a login page.</a:t>
            </a:r>
            <a:endParaRPr lang="en-US" sz="1200" dirty="0"/>
          </a:p>
          <a:p>
            <a:pPr indent="0" marL="0">
              <a:buNone/>
            </a:pPr>
            <a:r>
              <a:rPr lang="en-US" sz="1500" b="1" dirty="0">
                <a:solidFill>
                  <a:schemeClr val="tx2"/>
                </a:solidFill>
              </a:rPr>
              <a:t>Competitors</a:t>
            </a:r>
            <a:endParaRPr lang="en-US" sz="1200" dirty="0"/>
          </a:p>
          <a:p>
            <a:pPr indent="0" marL="0">
              <a:buNone/>
            </a:pPr>
            <a:r>
              <a:rPr lang="en-US" sz="1500" dirty="0">
                <a:solidFill>
                  <a:schemeClr val="tx1"/>
                </a:solidFill>
              </a:rPr>
              <a:t>Axis, ABSL and ICICI all put an amount panel above the fold on fund pages (ICICI min Rs 100, ABSL min Rs 500). Ours shows 'Invest Now' and a SIP/Lumpsum toggle; no amount or minimum detected.</a:t>
            </a:r>
            <a:endParaRPr lang="en-US" sz="1200" dirty="0"/>
          </a:p>
        </p:txBody>
      </p:sp>
      <p:sp>
        <p:nvSpPr>
          <p:cNvPr id="6" name="Text 4"/>
          <p:cNvSpPr txBox="1"/>
          <p:nvPr/>
        </p:nvSpPr>
        <p:spPr>
          <a:xfrm>
            <a:off x="4526280" y="1554480"/>
            <a:ext cx="3611880" cy="438912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HYPOTHESIS</a:t>
            </a:r>
            <a:endParaRPr lang="en-US" sz="1200" dirty="0"/>
          </a:p>
          <a:p>
            <a:pPr indent="0" marL="0">
              <a:spcAft>
                <a:spcPts val="1000"/>
              </a:spcAft>
              <a:buNone/>
            </a:pPr>
            <a:r>
              <a:rPr lang="en-US" sz="1500" dirty="0">
                <a:solidFill>
                  <a:schemeClr val="tx1"/>
                </a:solidFill>
              </a:rPr>
              <a:t>Letting visitors pick an amount on the page, with SIP as the default tab and the minimum shown, as Axis, ABSL and ICICI do, lowers the commitment barrier and shortens the path from reading to starting, especially on mobile where 90% of traffic arrives.</a:t>
            </a:r>
            <a:endParaRPr lang="en-US" sz="1200" dirty="0"/>
          </a:p>
          <a:p>
            <a:pPr indent="0" marL="0">
              <a:spcAft>
                <a:spcPts val="400"/>
              </a:spcAft>
              <a:buNone/>
            </a:pPr>
            <a:r>
              <a:rPr lang="en-US" sz="1200" b="1" dirty="0">
                <a:solidFill>
                  <a:schemeClr val="accent1"/>
                </a:solidFill>
              </a:rPr>
              <a:t>TEST</a:t>
            </a:r>
            <a:endParaRPr lang="en-US" sz="1200" dirty="0"/>
          </a:p>
          <a:p>
            <a:pPr indent="0" marL="0">
              <a:buNone/>
            </a:pPr>
            <a:r>
              <a:rPr lang="en-US" sz="1500" dirty="0">
                <a:solidFill>
                  <a:schemeClr val="tx1"/>
                </a:solidFill>
              </a:rPr>
              <a:t>Control: current page ('Invest Now', SIP/Lumpsum toggle). Variant: SIP-first panel with amount chips, minimum and debit date; on mobile a sticky 'Start SIP' bar opens it. Primary: fund page to login or invest click. Guardrail: lumpsum starts, bounce.</a:t>
            </a:r>
            <a:endParaRPr lang="en-US" sz="1200" dirty="0"/>
          </a:p>
        </p:txBody>
      </p:sp>
      <p:sp>
        <p:nvSpPr>
          <p:cNvPr id="7" name="Uplift card"/>
          <p:cNvSpPr/>
          <p:nvPr/>
        </p:nvSpPr>
        <p:spPr>
          <a:xfrm>
            <a:off x="8321040" y="1508760"/>
            <a:ext cx="3154680" cy="1783080"/>
          </a:xfrm>
          <a:prstGeom prst="roundRect">
            <a:avLst>
              <a:gd name="adj" fmla="val 4103"/>
            </a:avLst>
          </a:prstGeom>
          <a:solidFill>
            <a:schemeClr val="tx2"/>
          </a:solidFill>
          <a:ln/>
        </p:spPr>
      </p:sp>
      <p:sp>
        <p:nvSpPr>
          <p:cNvPr id="8" name="Text 6"/>
          <p:cNvSpPr txBox="1"/>
          <p:nvPr/>
        </p:nvSpPr>
        <p:spPr>
          <a:xfrm>
            <a:off x="8503920" y="1618488"/>
            <a:ext cx="2788920" cy="274320"/>
          </a:xfrm>
          <a:prstGeom prst="rect">
            <a:avLst/>
          </a:prstGeom>
          <a:noFill/>
          <a:ln/>
        </p:spPr>
        <p:txBody>
          <a:bodyPr wrap="square" lIns="0" tIns="0" rIns="0" bIns="0" rtlCol="0" anchor="ctr"/>
          <a:lstStyle/>
          <a:p>
            <a:pPr indent="0" marL="0">
              <a:buNone/>
            </a:pPr>
            <a:r>
              <a:rPr lang="en-US" sz="1200" b="1" dirty="0">
                <a:solidFill>
                  <a:schemeClr val="bg2"/>
                </a:solidFill>
              </a:rPr>
              <a:t>EXPECTED UPLIFT</a:t>
            </a:r>
            <a:endParaRPr lang="en-US" sz="1200" dirty="0"/>
          </a:p>
        </p:txBody>
      </p:sp>
      <p:sp>
        <p:nvSpPr>
          <p:cNvPr id="9" name="Text 7"/>
          <p:cNvSpPr txBox="1"/>
          <p:nvPr/>
        </p:nvSpPr>
        <p:spPr>
          <a:xfrm>
            <a:off x="8503920" y="1892808"/>
            <a:ext cx="2788920" cy="59436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+10-20%</a:t>
            </a:r>
            <a:endParaRPr lang="en-US" sz="2800" dirty="0"/>
          </a:p>
        </p:txBody>
      </p:sp>
      <p:sp>
        <p:nvSpPr>
          <p:cNvPr id="10" name="Text 8"/>
          <p:cNvSpPr txBox="1"/>
          <p:nvPr/>
        </p:nvSpPr>
        <p:spPr>
          <a:xfrm>
            <a:off x="8503920" y="2514600"/>
            <a:ext cx="2788920" cy="731520"/>
          </a:xfrm>
          <a:prstGeom prst="rect">
            <a:avLst/>
          </a:prstGeom>
          <a:noFill/>
          <a:ln/>
        </p:spPr>
        <p:txBody>
          <a:bodyPr wrap="square" lIns="0" tIns="0" rIns="0" bIns="0" rtlCol="0" anchor="t"/>
          <a:lstStyle/>
          <a:p>
            <a:pPr indent="0" marL="0">
              <a:buNone/>
            </a:pPr>
            <a:r>
              <a:rPr lang="en-US" sz="1200" dirty="0">
                <a:solidFill>
                  <a:schemeClr val="bg2"/>
                </a:solidFill>
              </a:rPr>
              <a:t>relative lift in fund page to login (1.4% to 1.5-1.6%): about +2,000-4,000 login visits, +115-230 SIPs a month across 8 pages</a:t>
            </a:r>
            <a:endParaRPr lang="en-US" sz="1200" dirty="0"/>
          </a:p>
        </p:txBody>
      </p:sp>
      <p:sp>
        <p:nvSpPr>
          <p:cNvPr id="11" name="Mock placeholder"/>
          <p:cNvSpPr/>
          <p:nvPr/>
        </p:nvSpPr>
        <p:spPr>
          <a:xfrm>
            <a:off x="8321040" y="3474720"/>
            <a:ext cx="3154680" cy="2514600"/>
          </a:xfrm>
          <a:prstGeom prst="roundRect">
            <a:avLst>
              <a:gd name="adj" fmla="val 2909"/>
            </a:avLst>
          </a:prstGeom>
          <a:solidFill>
            <a:srgbClr val="FFFFFF"/>
          </a:solidFill>
          <a:ln w="12700">
            <a:solidFill>
              <a:schemeClr val="accent5"/>
            </a:solidFill>
            <a:prstDash val="dash"/>
          </a:ln>
        </p:spPr>
      </p:sp>
      <p:sp>
        <p:nvSpPr>
          <p:cNvPr id="12" name="Text 10"/>
          <p:cNvSpPr txBox="1"/>
          <p:nvPr/>
        </p:nvSpPr>
        <p:spPr>
          <a:xfrm>
            <a:off x="8321040" y="3474720"/>
            <a:ext cx="3154680" cy="2514600"/>
          </a:xfrm>
          <a:prstGeom prst="rect">
            <a:avLst/>
          </a:prstGeom>
          <a:noFill/>
          <a:ln/>
        </p:spPr>
        <p:txBody>
          <a:bodyPr wrap="square" lIns="0" tIns="0" rIns="0" bIns="0" rtlCol="0" anchor="ctr"/>
          <a:lstStyle/>
          <a:p>
            <a:pPr algn="ctr" indent="0" marL="0">
              <a:buNone/>
            </a:pPr>
            <a:r>
              <a:rPr lang="en-US" sz="1400" dirty="0">
                <a:solidFill>
                  <a:schemeClr val="accent5"/>
                </a:solidFill>
              </a:rPr>
              <a:t>Mock to add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T3  Login remembers the SIP the visitor wanted</a:t>
            </a:r>
            <a:endParaRPr lang="en-US" sz="2800" dirty="0"/>
          </a:p>
        </p:txBody>
      </p:sp>
      <p:sp>
        <p:nvSpPr>
          <p:cNvPr id="3" name="Text 1"/>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Post-login  |  Login pages to invest purchase</a:t>
            </a:r>
            <a:endParaRPr lang="en-US" sz="1200" dirty="0"/>
          </a:p>
        </p:txBody>
      </p:sp>
      <p:sp>
        <p:nvSpPr>
          <p:cNvPr id="4" name="Observation card"/>
          <p:cNvSpPr/>
          <p:nvPr/>
        </p:nvSpPr>
        <p:spPr>
          <a:xfrm>
            <a:off x="548640" y="1508760"/>
            <a:ext cx="3794760" cy="4480560"/>
          </a:xfrm>
          <a:prstGeom prst="roundRect">
            <a:avLst>
              <a:gd name="adj" fmla="val 1928"/>
            </a:avLst>
          </a:prstGeom>
          <a:solidFill>
            <a:schemeClr val="bg2"/>
          </a:solidFill>
          <a:ln/>
        </p:spPr>
      </p:sp>
      <p:sp>
        <p:nvSpPr>
          <p:cNvPr id="5" name="Text 3"/>
          <p:cNvSpPr txBox="1"/>
          <p:nvPr/>
        </p:nvSpPr>
        <p:spPr>
          <a:xfrm>
            <a:off x="731520" y="1645920"/>
            <a:ext cx="3429000" cy="420624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OBSERVATION</a:t>
            </a:r>
            <a:endParaRPr lang="en-US" sz="1200" dirty="0"/>
          </a:p>
          <a:p>
            <a:pPr indent="0" marL="0">
              <a:buNone/>
            </a:pPr>
            <a:r>
              <a:rPr lang="en-US" sz="1500" b="1" dirty="0">
                <a:solidFill>
                  <a:schemeClr val="tx2"/>
                </a:solidFill>
              </a:rPr>
              <a:t>Analytics</a:t>
            </a:r>
            <a:endParaRPr lang="en-US" sz="1200" dirty="0"/>
          </a:p>
          <a:p>
            <a:pPr indent="0" marL="0">
              <a:spcAft>
                <a:spcPts val="800"/>
              </a:spcAft>
              <a:buNone/>
            </a:pPr>
            <a:r>
              <a:rPr lang="en-US" sz="1500" dirty="0">
                <a:solidFill>
                  <a:schemeClr val="tx1"/>
                </a:solidFill>
              </a:rPr>
              <a:t>Login pages draw 117k + 62k views and 84k SSO views. Of users reaching login from fund pages, 7.8% (1,539 of 19,819) reach the SIP step. Web and apps use different login events.</a:t>
            </a:r>
            <a:endParaRPr lang="en-US" sz="1200" dirty="0"/>
          </a:p>
          <a:p>
            <a:pPr indent="0" marL="0">
              <a:buNone/>
            </a:pPr>
            <a:r>
              <a:rPr lang="en-US" sz="1500" b="1" dirty="0">
                <a:solidFill>
                  <a:schemeClr val="tx2"/>
                </a:solidFill>
              </a:rPr>
              <a:t>Competitors</a:t>
            </a:r>
            <a:endParaRPr lang="en-US" sz="1200" dirty="0"/>
          </a:p>
          <a:p>
            <a:pPr indent="0" marL="0">
              <a:buNone/>
            </a:pPr>
            <a:r>
              <a:rPr lang="en-US" sz="1500" dirty="0">
                <a:solidFill>
                  <a:schemeClr val="tx1"/>
                </a:solidFill>
              </a:rPr>
              <a:t>Axis and ICICI collect the SIP amount (plus debit day or dates) on the public fund page, so the plan exists before sign-in. ABSL offers one-click UPI AutoPay for SIPs.</a:t>
            </a:r>
            <a:endParaRPr lang="en-US" sz="1200" dirty="0"/>
          </a:p>
        </p:txBody>
      </p:sp>
      <p:sp>
        <p:nvSpPr>
          <p:cNvPr id="6" name="Text 4"/>
          <p:cNvSpPr txBox="1"/>
          <p:nvPr/>
        </p:nvSpPr>
        <p:spPr>
          <a:xfrm>
            <a:off x="4526280" y="1554480"/>
            <a:ext cx="3611880" cy="438912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HYPOTHESIS</a:t>
            </a:r>
            <a:endParaRPr lang="en-US" sz="1200" dirty="0"/>
          </a:p>
          <a:p>
            <a:pPr indent="0" marL="0">
              <a:spcAft>
                <a:spcPts val="1000"/>
              </a:spcAft>
              <a:buNone/>
            </a:pPr>
            <a:r>
              <a:rPr lang="en-US" sz="1500" dirty="0">
                <a:solidFill>
                  <a:schemeClr val="tx1"/>
                </a:solidFill>
              </a:rPr>
              <a:t>Remembering the fund, amount and SIP choice through login, and returning the visitor to that step with a 'Continue your SIP' message, cuts the drop between login and the SIP step.</a:t>
            </a:r>
            <a:endParaRPr lang="en-US" sz="1200" dirty="0"/>
          </a:p>
          <a:p>
            <a:pPr indent="0" marL="0">
              <a:spcAft>
                <a:spcPts val="400"/>
              </a:spcAft>
              <a:buNone/>
            </a:pPr>
            <a:r>
              <a:rPr lang="en-US" sz="1200" b="1" dirty="0">
                <a:solidFill>
                  <a:schemeClr val="accent1"/>
                </a:solidFill>
              </a:rPr>
              <a:t>TEST</a:t>
            </a:r>
            <a:endParaRPr lang="en-US" sz="1200" dirty="0"/>
          </a:p>
          <a:p>
            <a:pPr indent="0" marL="0">
              <a:buNone/>
            </a:pPr>
            <a:r>
              <a:rPr lang="en-US" sz="1500" dirty="0">
                <a:solidFill>
                  <a:schemeClr val="tx1"/>
                </a:solidFill>
              </a:rPr>
              <a:t>Control: generic login, lands on invest home. Variant: intent banner on login and a deep link to the prefilled SIP step after sign-in. Primary: login to SIP step. Needs developer work to carry parameters from www to invest.</a:t>
            </a:r>
            <a:endParaRPr lang="en-US" sz="1200" dirty="0"/>
          </a:p>
        </p:txBody>
      </p:sp>
      <p:sp>
        <p:nvSpPr>
          <p:cNvPr id="7" name="Uplift card"/>
          <p:cNvSpPr/>
          <p:nvPr/>
        </p:nvSpPr>
        <p:spPr>
          <a:xfrm>
            <a:off x="8321040" y="1508760"/>
            <a:ext cx="3154680" cy="1783080"/>
          </a:xfrm>
          <a:prstGeom prst="roundRect">
            <a:avLst>
              <a:gd name="adj" fmla="val 4103"/>
            </a:avLst>
          </a:prstGeom>
          <a:solidFill>
            <a:schemeClr val="tx2"/>
          </a:solidFill>
          <a:ln/>
        </p:spPr>
      </p:sp>
      <p:sp>
        <p:nvSpPr>
          <p:cNvPr id="8" name="Text 6"/>
          <p:cNvSpPr txBox="1"/>
          <p:nvPr/>
        </p:nvSpPr>
        <p:spPr>
          <a:xfrm>
            <a:off x="8503920" y="1618488"/>
            <a:ext cx="2788920" cy="274320"/>
          </a:xfrm>
          <a:prstGeom prst="rect">
            <a:avLst/>
          </a:prstGeom>
          <a:noFill/>
          <a:ln/>
        </p:spPr>
        <p:txBody>
          <a:bodyPr wrap="square" lIns="0" tIns="0" rIns="0" bIns="0" rtlCol="0" anchor="ctr"/>
          <a:lstStyle/>
          <a:p>
            <a:pPr indent="0" marL="0">
              <a:buNone/>
            </a:pPr>
            <a:r>
              <a:rPr lang="en-US" sz="1200" b="1" dirty="0">
                <a:solidFill>
                  <a:schemeClr val="bg2"/>
                </a:solidFill>
              </a:rPr>
              <a:t>EXPECTED UPLIFT</a:t>
            </a:r>
            <a:endParaRPr lang="en-US" sz="1200" dirty="0"/>
          </a:p>
        </p:txBody>
      </p:sp>
      <p:sp>
        <p:nvSpPr>
          <p:cNvPr id="9" name="Text 7"/>
          <p:cNvSpPr txBox="1"/>
          <p:nvPr/>
        </p:nvSpPr>
        <p:spPr>
          <a:xfrm>
            <a:off x="8503920" y="1892808"/>
            <a:ext cx="2788920" cy="59436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+1-2 pts</a:t>
            </a:r>
            <a:endParaRPr lang="en-US" sz="2800" dirty="0"/>
          </a:p>
        </p:txBody>
      </p:sp>
      <p:sp>
        <p:nvSpPr>
          <p:cNvPr id="10" name="Text 8"/>
          <p:cNvSpPr txBox="1"/>
          <p:nvPr/>
        </p:nvSpPr>
        <p:spPr>
          <a:xfrm>
            <a:off x="8503920" y="2514600"/>
            <a:ext cx="2788920" cy="731520"/>
          </a:xfrm>
          <a:prstGeom prst="rect">
            <a:avLst/>
          </a:prstGeom>
          <a:noFill/>
          <a:ln/>
        </p:spPr>
        <p:txBody>
          <a:bodyPr wrap="square" lIns="0" tIns="0" rIns="0" bIns="0" rtlCol="0" anchor="t"/>
          <a:lstStyle/>
          <a:p>
            <a:pPr indent="0" marL="0">
              <a:buNone/>
            </a:pPr>
            <a:r>
              <a:rPr lang="en-US" sz="1200" dirty="0">
                <a:solidFill>
                  <a:schemeClr val="bg2"/>
                </a:solidFill>
              </a:rPr>
              <a:t>on login to SIP step (7.8% to 8.8-9.8%): about +150-290 SIPs a month</a:t>
            </a:r>
            <a:endParaRPr lang="en-US" sz="1200" dirty="0"/>
          </a:p>
        </p:txBody>
      </p:sp>
      <p:sp>
        <p:nvSpPr>
          <p:cNvPr id="11" name="Mock placeholder"/>
          <p:cNvSpPr/>
          <p:nvPr/>
        </p:nvSpPr>
        <p:spPr>
          <a:xfrm>
            <a:off x="8321040" y="3474720"/>
            <a:ext cx="3154680" cy="2514600"/>
          </a:xfrm>
          <a:prstGeom prst="roundRect">
            <a:avLst>
              <a:gd name="adj" fmla="val 2909"/>
            </a:avLst>
          </a:prstGeom>
          <a:solidFill>
            <a:srgbClr val="FFFFFF"/>
          </a:solidFill>
          <a:ln w="12700">
            <a:solidFill>
              <a:schemeClr val="accent5"/>
            </a:solidFill>
            <a:prstDash val="dash"/>
          </a:ln>
        </p:spPr>
      </p:sp>
      <p:sp>
        <p:nvSpPr>
          <p:cNvPr id="12" name="Text 10"/>
          <p:cNvSpPr txBox="1"/>
          <p:nvPr/>
        </p:nvSpPr>
        <p:spPr>
          <a:xfrm>
            <a:off x="8321040" y="3474720"/>
            <a:ext cx="3154680" cy="2514600"/>
          </a:xfrm>
          <a:prstGeom prst="rect">
            <a:avLst/>
          </a:prstGeom>
          <a:noFill/>
          <a:ln/>
        </p:spPr>
        <p:txBody>
          <a:bodyPr wrap="square" lIns="0" tIns="0" rIns="0" bIns="0" rtlCol="0" anchor="ctr"/>
          <a:lstStyle/>
          <a:p>
            <a:pPr algn="ctr" indent="0" marL="0">
              <a:buNone/>
            </a:pPr>
            <a:r>
              <a:rPr lang="en-US" sz="1400" dirty="0">
                <a:solidFill>
                  <a:schemeClr val="accent5"/>
                </a:solidFill>
              </a:rPr>
              <a:t>Mock to add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T4  SIP preselected for SIP-intent visitors</a:t>
            </a:r>
            <a:endParaRPr lang="en-US" sz="2800" dirty="0"/>
          </a:p>
        </p:txBody>
      </p:sp>
      <p:sp>
        <p:nvSpPr>
          <p:cNvPr id="3" name="Text 1"/>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Post-login  |  Invest purchase start (website, m-site)</a:t>
            </a:r>
            <a:endParaRPr lang="en-US" sz="1200" dirty="0"/>
          </a:p>
        </p:txBody>
      </p:sp>
      <p:sp>
        <p:nvSpPr>
          <p:cNvPr id="4" name="Observation card"/>
          <p:cNvSpPr/>
          <p:nvPr/>
        </p:nvSpPr>
        <p:spPr>
          <a:xfrm>
            <a:off x="548640" y="1508760"/>
            <a:ext cx="3794760" cy="4480560"/>
          </a:xfrm>
          <a:prstGeom prst="roundRect">
            <a:avLst>
              <a:gd name="adj" fmla="val 1928"/>
            </a:avLst>
          </a:prstGeom>
          <a:solidFill>
            <a:schemeClr val="bg2"/>
          </a:solidFill>
          <a:ln/>
        </p:spPr>
      </p:sp>
      <p:sp>
        <p:nvSpPr>
          <p:cNvPr id="5" name="Text 3"/>
          <p:cNvSpPr txBox="1"/>
          <p:nvPr/>
        </p:nvSpPr>
        <p:spPr>
          <a:xfrm>
            <a:off x="731520" y="1645920"/>
            <a:ext cx="3429000" cy="420624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OBSERVATION</a:t>
            </a:r>
            <a:endParaRPr lang="en-US" sz="1200" dirty="0"/>
          </a:p>
          <a:p>
            <a:pPr indent="0" marL="0">
              <a:buNone/>
            </a:pPr>
            <a:r>
              <a:rPr lang="en-US" sz="1500" b="1" dirty="0">
                <a:solidFill>
                  <a:schemeClr val="tx2"/>
                </a:solidFill>
              </a:rPr>
              <a:t>Analytics</a:t>
            </a:r>
            <a:endParaRPr lang="en-US" sz="1200" dirty="0"/>
          </a:p>
          <a:p>
            <a:pPr indent="0" marL="0">
              <a:spcAft>
                <a:spcPts val="800"/>
              </a:spcAft>
              <a:buNone/>
            </a:pPr>
            <a:r>
              <a:rPr lang="en-US" sz="1500" dirty="0">
                <a:solidFill>
                  <a:schemeClr val="tx1"/>
                </a:solidFill>
              </a:rPr>
              <a:t>Only 15% of purchase starters reach the SIP step: website 24%, m-site 19%, apps 10-11%. Website and m-site add up to about 11,700 purchase starts a month.</a:t>
            </a:r>
            <a:endParaRPr lang="en-US" sz="1200" dirty="0"/>
          </a:p>
          <a:p>
            <a:pPr indent="0" marL="0">
              <a:buNone/>
            </a:pPr>
            <a:r>
              <a:rPr lang="en-US" sz="1500" b="1" dirty="0">
                <a:solidFill>
                  <a:schemeClr val="tx2"/>
                </a:solidFill>
              </a:rPr>
              <a:t>Competitors</a:t>
            </a:r>
            <a:endParaRPr lang="en-US" sz="1200" dirty="0"/>
          </a:p>
          <a:p>
            <a:pPr indent="0" marL="0">
              <a:buNone/>
            </a:pPr>
            <a:r>
              <a:rPr lang="en-US" sz="1500" dirty="0">
                <a:solidFill>
                  <a:schemeClr val="tx1"/>
                </a:solidFill>
              </a:rPr>
              <a:t>Axis's fund panel opens on the SIP tab with a debit-day field. ABSL lists the SIP amount above the lumpsum amount.</a:t>
            </a:r>
            <a:endParaRPr lang="en-US" sz="1200" dirty="0"/>
          </a:p>
        </p:txBody>
      </p:sp>
      <p:sp>
        <p:nvSpPr>
          <p:cNvPr id="6" name="Text 4"/>
          <p:cNvSpPr txBox="1"/>
          <p:nvPr/>
        </p:nvSpPr>
        <p:spPr>
          <a:xfrm>
            <a:off x="4526280" y="1554480"/>
            <a:ext cx="3611880" cy="438912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HYPOTHESIS</a:t>
            </a:r>
            <a:endParaRPr lang="en-US" sz="1200" dirty="0"/>
          </a:p>
          <a:p>
            <a:pPr indent="0" marL="0">
              <a:spcAft>
                <a:spcPts val="1000"/>
              </a:spcAft>
              <a:buNone/>
            </a:pPr>
            <a:r>
              <a:rPr lang="en-US" sz="1500" dirty="0">
                <a:solidFill>
                  <a:schemeClr val="tx1"/>
                </a:solidFill>
              </a:rPr>
              <a:t>Preselecting SIP, with lumpsum one tap away, for visitors who arrived from a SIP-intent entry (calculator, 'Start SIP' bar) raises SIP selection without lowering total purchases.</a:t>
            </a:r>
            <a:endParaRPr lang="en-US" sz="1200" dirty="0"/>
          </a:p>
          <a:p>
            <a:pPr indent="0" marL="0">
              <a:spcAft>
                <a:spcPts val="400"/>
              </a:spcAft>
              <a:buNone/>
            </a:pPr>
            <a:r>
              <a:rPr lang="en-US" sz="1200" b="1" dirty="0">
                <a:solidFill>
                  <a:schemeClr val="accent1"/>
                </a:solidFill>
              </a:rPr>
              <a:t>TEST</a:t>
            </a:r>
            <a:endParaRPr lang="en-US" sz="1200" dirty="0"/>
          </a:p>
          <a:p>
            <a:pPr indent="0" marL="0">
              <a:buNone/>
            </a:pPr>
            <a:r>
              <a:rPr lang="en-US" sz="1500" dirty="0">
                <a:solidFill>
                  <a:schemeClr val="tx1"/>
                </a:solidFill>
              </a:rPr>
              <a:t>Control: current default. Variant: SIP preselected for SIP-intent entries only. Primary: share choosing SIP. Guardrails: total purchase completion, lumpsum value.</a:t>
            </a:r>
            <a:endParaRPr lang="en-US" sz="1200" dirty="0"/>
          </a:p>
        </p:txBody>
      </p:sp>
      <p:sp>
        <p:nvSpPr>
          <p:cNvPr id="7" name="Uplift card"/>
          <p:cNvSpPr/>
          <p:nvPr/>
        </p:nvSpPr>
        <p:spPr>
          <a:xfrm>
            <a:off x="8321040" y="1508760"/>
            <a:ext cx="3154680" cy="1783080"/>
          </a:xfrm>
          <a:prstGeom prst="roundRect">
            <a:avLst>
              <a:gd name="adj" fmla="val 4103"/>
            </a:avLst>
          </a:prstGeom>
          <a:solidFill>
            <a:schemeClr val="tx2"/>
          </a:solidFill>
          <a:ln/>
        </p:spPr>
      </p:sp>
      <p:sp>
        <p:nvSpPr>
          <p:cNvPr id="8" name="Text 6"/>
          <p:cNvSpPr txBox="1"/>
          <p:nvPr/>
        </p:nvSpPr>
        <p:spPr>
          <a:xfrm>
            <a:off x="8503920" y="1618488"/>
            <a:ext cx="2788920" cy="274320"/>
          </a:xfrm>
          <a:prstGeom prst="rect">
            <a:avLst/>
          </a:prstGeom>
          <a:noFill/>
          <a:ln/>
        </p:spPr>
        <p:txBody>
          <a:bodyPr wrap="square" lIns="0" tIns="0" rIns="0" bIns="0" rtlCol="0" anchor="ctr"/>
          <a:lstStyle/>
          <a:p>
            <a:pPr indent="0" marL="0">
              <a:buNone/>
            </a:pPr>
            <a:r>
              <a:rPr lang="en-US" sz="1200" b="1" dirty="0">
                <a:solidFill>
                  <a:schemeClr val="bg2"/>
                </a:solidFill>
              </a:rPr>
              <a:t>EXPECTED UPLIFT</a:t>
            </a:r>
            <a:endParaRPr lang="en-US" sz="1200" dirty="0"/>
          </a:p>
        </p:txBody>
      </p:sp>
      <p:sp>
        <p:nvSpPr>
          <p:cNvPr id="9" name="Text 7"/>
          <p:cNvSpPr txBox="1"/>
          <p:nvPr/>
        </p:nvSpPr>
        <p:spPr>
          <a:xfrm>
            <a:off x="8503920" y="1892808"/>
            <a:ext cx="2788920" cy="59436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+3-5 pts</a:t>
            </a:r>
            <a:endParaRPr lang="en-US" sz="2800" dirty="0"/>
          </a:p>
        </p:txBody>
      </p:sp>
      <p:sp>
        <p:nvSpPr>
          <p:cNvPr id="10" name="Text 8"/>
          <p:cNvSpPr txBox="1"/>
          <p:nvPr/>
        </p:nvSpPr>
        <p:spPr>
          <a:xfrm>
            <a:off x="8503920" y="2514600"/>
            <a:ext cx="2788920" cy="731520"/>
          </a:xfrm>
          <a:prstGeom prst="rect">
            <a:avLst/>
          </a:prstGeom>
          <a:noFill/>
          <a:ln/>
        </p:spPr>
        <p:txBody>
          <a:bodyPr wrap="square" lIns="0" tIns="0" rIns="0" bIns="0" rtlCol="0" anchor="t"/>
          <a:lstStyle/>
          <a:p>
            <a:pPr indent="0" marL="0">
              <a:buNone/>
            </a:pPr>
            <a:r>
              <a:rPr lang="en-US" sz="1200" dirty="0">
                <a:solidFill>
                  <a:schemeClr val="bg2"/>
                </a:solidFill>
              </a:rPr>
              <a:t>on SIP choice (22.7% to 25.7-27.7%): about +350-585 SIP-step users, +205-340 SIPs a month</a:t>
            </a:r>
            <a:endParaRPr lang="en-US" sz="1200" dirty="0"/>
          </a:p>
        </p:txBody>
      </p:sp>
      <p:sp>
        <p:nvSpPr>
          <p:cNvPr id="11" name="Mock placeholder"/>
          <p:cNvSpPr/>
          <p:nvPr/>
        </p:nvSpPr>
        <p:spPr>
          <a:xfrm>
            <a:off x="8321040" y="3474720"/>
            <a:ext cx="3154680" cy="2514600"/>
          </a:xfrm>
          <a:prstGeom prst="roundRect">
            <a:avLst>
              <a:gd name="adj" fmla="val 2909"/>
            </a:avLst>
          </a:prstGeom>
          <a:solidFill>
            <a:srgbClr val="FFFFFF"/>
          </a:solidFill>
          <a:ln w="12700">
            <a:solidFill>
              <a:schemeClr val="accent5"/>
            </a:solidFill>
            <a:prstDash val="dash"/>
          </a:ln>
        </p:spPr>
      </p:sp>
      <p:sp>
        <p:nvSpPr>
          <p:cNvPr id="12" name="Text 10"/>
          <p:cNvSpPr txBox="1"/>
          <p:nvPr/>
        </p:nvSpPr>
        <p:spPr>
          <a:xfrm>
            <a:off x="8321040" y="3474720"/>
            <a:ext cx="3154680" cy="2514600"/>
          </a:xfrm>
          <a:prstGeom prst="rect">
            <a:avLst/>
          </a:prstGeom>
          <a:noFill/>
          <a:ln/>
        </p:spPr>
        <p:txBody>
          <a:bodyPr wrap="square" lIns="0" tIns="0" rIns="0" bIns="0" rtlCol="0" anchor="ctr"/>
          <a:lstStyle/>
          <a:p>
            <a:pPr algn="ctr" indent="0" marL="0">
              <a:buNone/>
            </a:pPr>
            <a:r>
              <a:rPr lang="en-US" sz="1400" dirty="0">
                <a:solidFill>
                  <a:schemeClr val="accent5"/>
                </a:solidFill>
              </a:rPr>
              <a:t>Mock to add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T5  Recover failed autopay mandates</a:t>
            </a:r>
            <a:endParaRPr lang="en-US" sz="2800" dirty="0"/>
          </a:p>
        </p:txBody>
      </p:sp>
      <p:sp>
        <p:nvSpPr>
          <p:cNvPr id="3" name="Text 1"/>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Post-login  |  Register autopay and journey</a:t>
            </a:r>
            <a:endParaRPr lang="en-US" sz="1200" dirty="0"/>
          </a:p>
        </p:txBody>
      </p:sp>
      <p:sp>
        <p:nvSpPr>
          <p:cNvPr id="4" name="Observation card"/>
          <p:cNvSpPr/>
          <p:nvPr/>
        </p:nvSpPr>
        <p:spPr>
          <a:xfrm>
            <a:off x="548640" y="1508760"/>
            <a:ext cx="3794760" cy="4480560"/>
          </a:xfrm>
          <a:prstGeom prst="roundRect">
            <a:avLst>
              <a:gd name="adj" fmla="val 1928"/>
            </a:avLst>
          </a:prstGeom>
          <a:solidFill>
            <a:schemeClr val="bg2"/>
          </a:solidFill>
          <a:ln/>
        </p:spPr>
      </p:sp>
      <p:sp>
        <p:nvSpPr>
          <p:cNvPr id="5" name="Text 3"/>
          <p:cNvSpPr txBox="1"/>
          <p:nvPr/>
        </p:nvSpPr>
        <p:spPr>
          <a:xfrm>
            <a:off x="731520" y="1645920"/>
            <a:ext cx="3429000" cy="420624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OBSERVATION</a:t>
            </a:r>
            <a:endParaRPr lang="en-US" sz="1200" dirty="0"/>
          </a:p>
          <a:p>
            <a:pPr indent="0" marL="0">
              <a:buNone/>
            </a:pPr>
            <a:r>
              <a:rPr lang="en-US" sz="1500" b="1" dirty="0">
                <a:solidFill>
                  <a:schemeClr val="tx2"/>
                </a:solidFill>
              </a:rPr>
              <a:t>Analytics</a:t>
            </a:r>
            <a:endParaRPr lang="en-US" sz="1200" dirty="0"/>
          </a:p>
          <a:p>
            <a:pPr indent="0" marL="0">
              <a:spcAft>
                <a:spcPts val="800"/>
              </a:spcAft>
              <a:buNone/>
            </a:pPr>
            <a:r>
              <a:rPr lang="en-US" sz="1500" dirty="0">
                <a:solidFill>
                  <a:schemeClr val="tx1"/>
                </a:solidFill>
              </a:rPr>
              <a:t>1,351 users hit an autopay failure in 30 days. Failure rate is about 40-60% in apps against about 24% on web. Only 37% finish the web bank-mandate flow (527 of 1,434).</a:t>
            </a:r>
            <a:endParaRPr lang="en-US" sz="1200" dirty="0"/>
          </a:p>
          <a:p>
            <a:pPr indent="0" marL="0">
              <a:buNone/>
            </a:pPr>
            <a:r>
              <a:rPr lang="en-US" sz="1500" b="1" dirty="0">
                <a:solidFill>
                  <a:schemeClr val="tx2"/>
                </a:solidFill>
              </a:rPr>
              <a:t>Competitors</a:t>
            </a:r>
            <a:endParaRPr lang="en-US" sz="1200" dirty="0"/>
          </a:p>
          <a:p>
            <a:pPr indent="0" marL="0">
              <a:buNone/>
            </a:pPr>
            <a:r>
              <a:rPr lang="en-US" sz="1500" dirty="0">
                <a:solidFill>
                  <a:schemeClr val="tx1"/>
                </a:solidFill>
              </a:rPr>
              <a:t>ABSL launched one-click UPI AutoPay for SIPs (Dec 2023); UTI MF added SIP mandates through UPI apps (2025); AssetPlus defaults to Rs 15,000 per SIP.</a:t>
            </a:r>
            <a:endParaRPr lang="en-US" sz="1200" dirty="0"/>
          </a:p>
        </p:txBody>
      </p:sp>
      <p:sp>
        <p:nvSpPr>
          <p:cNvPr id="6" name="Text 4"/>
          <p:cNvSpPr txBox="1"/>
          <p:nvPr/>
        </p:nvSpPr>
        <p:spPr>
          <a:xfrm>
            <a:off x="4526280" y="1554480"/>
            <a:ext cx="3611880" cy="438912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HYPOTHESIS</a:t>
            </a:r>
            <a:endParaRPr lang="en-US" sz="1200" dirty="0"/>
          </a:p>
          <a:p>
            <a:pPr indent="0" marL="0">
              <a:spcAft>
                <a:spcPts val="1000"/>
              </a:spcAft>
              <a:buNone/>
            </a:pPr>
            <a:r>
              <a:rPr lang="en-US" sz="1500" dirty="0">
                <a:solidFill>
                  <a:schemeClr val="tx1"/>
                </a:solidFill>
              </a:rPr>
              <a:t>Offering UPI AutoPay first, with a one-tap retry or alternative right after a failure, recovers users who would otherwise abandon the SIP.</a:t>
            </a:r>
            <a:endParaRPr lang="en-US" sz="1200" dirty="0"/>
          </a:p>
          <a:p>
            <a:pPr indent="0" marL="0">
              <a:spcAft>
                <a:spcPts val="400"/>
              </a:spcAft>
              <a:buNone/>
            </a:pPr>
            <a:r>
              <a:rPr lang="en-US" sz="1200" b="1" dirty="0">
                <a:solidFill>
                  <a:schemeClr val="accent1"/>
                </a:solidFill>
              </a:rPr>
              <a:t>TEST</a:t>
            </a:r>
            <a:endParaRPr lang="en-US" sz="1200" dirty="0"/>
          </a:p>
          <a:p>
            <a:pPr indent="0" marL="0">
              <a:buNone/>
            </a:pPr>
            <a:r>
              <a:rPr lang="en-US" sz="1500" dirty="0">
                <a:solidFill>
                  <a:schemeClr val="tx1"/>
                </a:solidFill>
              </a:rPr>
              <a:t>Control: current mandate screen and error. Variant: UPI AutoPay first, 'Try another way' retry, and a WhatsApp or push nudge within 30 minutes. Primary: mandate success per attempt. Guardrails: payment errors, support tickets.</a:t>
            </a:r>
            <a:endParaRPr lang="en-US" sz="1200" dirty="0"/>
          </a:p>
        </p:txBody>
      </p:sp>
      <p:sp>
        <p:nvSpPr>
          <p:cNvPr id="7" name="Uplift card"/>
          <p:cNvSpPr/>
          <p:nvPr/>
        </p:nvSpPr>
        <p:spPr>
          <a:xfrm>
            <a:off x="8321040" y="1508760"/>
            <a:ext cx="3154680" cy="1783080"/>
          </a:xfrm>
          <a:prstGeom prst="roundRect">
            <a:avLst>
              <a:gd name="adj" fmla="val 4103"/>
            </a:avLst>
          </a:prstGeom>
          <a:solidFill>
            <a:schemeClr val="tx2"/>
          </a:solidFill>
          <a:ln/>
        </p:spPr>
      </p:sp>
      <p:sp>
        <p:nvSpPr>
          <p:cNvPr id="8" name="Text 6"/>
          <p:cNvSpPr txBox="1"/>
          <p:nvPr/>
        </p:nvSpPr>
        <p:spPr>
          <a:xfrm>
            <a:off x="8503920" y="1618488"/>
            <a:ext cx="2788920" cy="274320"/>
          </a:xfrm>
          <a:prstGeom prst="rect">
            <a:avLst/>
          </a:prstGeom>
          <a:noFill/>
          <a:ln/>
        </p:spPr>
        <p:txBody>
          <a:bodyPr wrap="square" lIns="0" tIns="0" rIns="0" bIns="0" rtlCol="0" anchor="ctr"/>
          <a:lstStyle/>
          <a:p>
            <a:pPr indent="0" marL="0">
              <a:buNone/>
            </a:pPr>
            <a:r>
              <a:rPr lang="en-US" sz="1200" b="1" dirty="0">
                <a:solidFill>
                  <a:schemeClr val="bg2"/>
                </a:solidFill>
              </a:rPr>
              <a:t>EXPECTED UPLIFT</a:t>
            </a:r>
            <a:endParaRPr lang="en-US" sz="1200" dirty="0"/>
          </a:p>
        </p:txBody>
      </p:sp>
      <p:sp>
        <p:nvSpPr>
          <p:cNvPr id="9" name="Text 7"/>
          <p:cNvSpPr txBox="1"/>
          <p:nvPr/>
        </p:nvSpPr>
        <p:spPr>
          <a:xfrm>
            <a:off x="8503920" y="1892808"/>
            <a:ext cx="2788920" cy="59436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20-30%</a:t>
            </a:r>
            <a:endParaRPr lang="en-US" sz="2800" dirty="0"/>
          </a:p>
        </p:txBody>
      </p:sp>
      <p:sp>
        <p:nvSpPr>
          <p:cNvPr id="10" name="Text 8"/>
          <p:cNvSpPr txBox="1"/>
          <p:nvPr/>
        </p:nvSpPr>
        <p:spPr>
          <a:xfrm>
            <a:off x="8503920" y="2514600"/>
            <a:ext cx="2788920" cy="731520"/>
          </a:xfrm>
          <a:prstGeom prst="rect">
            <a:avLst/>
          </a:prstGeom>
          <a:noFill/>
          <a:ln/>
        </p:spPr>
        <p:txBody>
          <a:bodyPr wrap="square" lIns="0" tIns="0" rIns="0" bIns="0" rtlCol="0" anchor="t"/>
          <a:lstStyle/>
          <a:p>
            <a:pPr indent="0" marL="0">
              <a:buNone/>
            </a:pPr>
            <a:r>
              <a:rPr lang="en-US" sz="1200" dirty="0">
                <a:solidFill>
                  <a:schemeClr val="bg2"/>
                </a:solidFill>
              </a:rPr>
              <a:t>of failed mandates recovered: about +270-400 mandates a month</a:t>
            </a:r>
            <a:endParaRPr lang="en-US" sz="1200" dirty="0"/>
          </a:p>
        </p:txBody>
      </p:sp>
      <p:sp>
        <p:nvSpPr>
          <p:cNvPr id="11" name="Mock placeholder"/>
          <p:cNvSpPr/>
          <p:nvPr/>
        </p:nvSpPr>
        <p:spPr>
          <a:xfrm>
            <a:off x="8321040" y="3474720"/>
            <a:ext cx="3154680" cy="2514600"/>
          </a:xfrm>
          <a:prstGeom prst="roundRect">
            <a:avLst>
              <a:gd name="adj" fmla="val 2909"/>
            </a:avLst>
          </a:prstGeom>
          <a:solidFill>
            <a:srgbClr val="FFFFFF"/>
          </a:solidFill>
          <a:ln w="12700">
            <a:solidFill>
              <a:schemeClr val="accent5"/>
            </a:solidFill>
            <a:prstDash val="dash"/>
          </a:ln>
        </p:spPr>
      </p:sp>
      <p:sp>
        <p:nvSpPr>
          <p:cNvPr id="12" name="Text 10"/>
          <p:cNvSpPr txBox="1"/>
          <p:nvPr/>
        </p:nvSpPr>
        <p:spPr>
          <a:xfrm>
            <a:off x="8321040" y="3474720"/>
            <a:ext cx="3154680" cy="2514600"/>
          </a:xfrm>
          <a:prstGeom prst="rect">
            <a:avLst/>
          </a:prstGeom>
          <a:noFill/>
          <a:ln/>
        </p:spPr>
        <p:txBody>
          <a:bodyPr wrap="square" lIns="0" tIns="0" rIns="0" bIns="0" rtlCol="0" anchor="ctr"/>
          <a:lstStyle/>
          <a:p>
            <a:pPr algn="ctr" indent="0" marL="0">
              <a:buNone/>
            </a:pPr>
            <a:r>
              <a:rPr lang="en-US" sz="1400" dirty="0">
                <a:solidFill>
                  <a:schemeClr val="accent5"/>
                </a:solidFill>
              </a:rPr>
              <a:t>Mock to add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T6  Offer pause or a lower amount before cancel</a:t>
            </a:r>
            <a:endParaRPr lang="en-US" sz="2800" dirty="0"/>
          </a:p>
        </p:txBody>
      </p:sp>
      <p:sp>
        <p:nvSpPr>
          <p:cNvPr id="3" name="Text 1"/>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Post-login  |  Cancel subscription page</a:t>
            </a:r>
            <a:endParaRPr lang="en-US" sz="1200" dirty="0"/>
          </a:p>
        </p:txBody>
      </p:sp>
      <p:sp>
        <p:nvSpPr>
          <p:cNvPr id="4" name="Observation card"/>
          <p:cNvSpPr/>
          <p:nvPr/>
        </p:nvSpPr>
        <p:spPr>
          <a:xfrm>
            <a:off x="548640" y="1508760"/>
            <a:ext cx="3794760" cy="4480560"/>
          </a:xfrm>
          <a:prstGeom prst="roundRect">
            <a:avLst>
              <a:gd name="adj" fmla="val 1928"/>
            </a:avLst>
          </a:prstGeom>
          <a:solidFill>
            <a:schemeClr val="bg2"/>
          </a:solidFill>
          <a:ln/>
        </p:spPr>
      </p:sp>
      <p:sp>
        <p:nvSpPr>
          <p:cNvPr id="5" name="Text 3"/>
          <p:cNvSpPr txBox="1"/>
          <p:nvPr/>
        </p:nvSpPr>
        <p:spPr>
          <a:xfrm>
            <a:off x="731520" y="1645920"/>
            <a:ext cx="3429000" cy="420624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OBSERVATION</a:t>
            </a:r>
            <a:endParaRPr lang="en-US" sz="1200" dirty="0"/>
          </a:p>
          <a:p>
            <a:pPr indent="0" marL="0">
              <a:buNone/>
            </a:pPr>
            <a:r>
              <a:rPr lang="en-US" sz="1500" b="1" dirty="0">
                <a:solidFill>
                  <a:schemeClr val="tx2"/>
                </a:solidFill>
              </a:rPr>
              <a:t>Analytics</a:t>
            </a:r>
            <a:endParaRPr lang="en-US" sz="1200" dirty="0"/>
          </a:p>
          <a:p>
            <a:pPr indent="0" marL="0">
              <a:spcAft>
                <a:spcPts val="800"/>
              </a:spcAft>
              <a:buNone/>
            </a:pPr>
            <a:r>
              <a:rPr lang="en-US" sz="1500" dirty="0">
                <a:solidFill>
                  <a:schemeClr val="tx1"/>
                </a:solidFill>
              </a:rPr>
              <a:t>2,253 users cancelled a SIP in 30 days against 483 pauses (about 5 to 1). The cancel page has 3,038 views. Over 90 days, 4,306 cancels against 5,213 autopay successes.</a:t>
            </a:r>
            <a:endParaRPr lang="en-US" sz="1200" dirty="0"/>
          </a:p>
          <a:p>
            <a:pPr indent="0" marL="0">
              <a:buNone/>
            </a:pPr>
            <a:r>
              <a:rPr lang="en-US" sz="1500" b="1" dirty="0">
                <a:solidFill>
                  <a:schemeClr val="tx2"/>
                </a:solidFill>
              </a:rPr>
              <a:t>Competitors</a:t>
            </a:r>
            <a:endParaRPr lang="en-US" sz="1200" dirty="0"/>
          </a:p>
          <a:p>
            <a:pPr indent="0" marL="0">
              <a:buNone/>
            </a:pPr>
            <a:r>
              <a:rPr lang="en-US" sz="1500" dirty="0">
                <a:solidFill>
                  <a:schemeClr val="tx1"/>
                </a:solidFill>
              </a:rPr>
              <a:t>Post-login flows are not visible to our page snapshots, so there is no peer reference yet. A hands-on walkthrough of peer apps would fill this gap.</a:t>
            </a:r>
            <a:endParaRPr lang="en-US" sz="1200" dirty="0"/>
          </a:p>
        </p:txBody>
      </p:sp>
      <p:sp>
        <p:nvSpPr>
          <p:cNvPr id="6" name="Text 4"/>
          <p:cNvSpPr txBox="1"/>
          <p:nvPr/>
        </p:nvSpPr>
        <p:spPr>
          <a:xfrm>
            <a:off x="4526280" y="1554480"/>
            <a:ext cx="3611880" cy="438912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HYPOTHESIS</a:t>
            </a:r>
            <a:endParaRPr lang="en-US" sz="1200" dirty="0"/>
          </a:p>
          <a:p>
            <a:pPr indent="0" marL="0">
              <a:spcAft>
                <a:spcPts val="1000"/>
              </a:spcAft>
              <a:buNone/>
            </a:pPr>
            <a:r>
              <a:rPr lang="en-US" sz="1500" dirty="0">
                <a:solidFill>
                  <a:schemeClr val="tx1"/>
                </a:solidFill>
              </a:rPr>
              <a:t>Many cancels come from a temporary cash-flow or amount problem, not loss of intent. Showing pause, reduce-amount and change-date options before the final cancel turns some cancels into pauses.</a:t>
            </a:r>
            <a:endParaRPr lang="en-US" sz="1200" dirty="0"/>
          </a:p>
          <a:p>
            <a:pPr indent="0" marL="0">
              <a:spcAft>
                <a:spcPts val="400"/>
              </a:spcAft>
              <a:buNone/>
            </a:pPr>
            <a:r>
              <a:rPr lang="en-US" sz="1200" b="1" dirty="0">
                <a:solidFill>
                  <a:schemeClr val="accent1"/>
                </a:solidFill>
              </a:rPr>
              <a:t>TEST</a:t>
            </a:r>
            <a:endParaRPr lang="en-US" sz="1200" dirty="0"/>
          </a:p>
          <a:p>
            <a:pPr indent="0" marL="0">
              <a:buNone/>
            </a:pPr>
            <a:r>
              <a:rPr lang="en-US" sz="1500" dirty="0">
                <a:solidFill>
                  <a:schemeClr val="tx1"/>
                </a:solidFill>
              </a:rPr>
              <a:t>Control: current cancel confirmation. Variant: three-option step (pause 1-3 months, lower amount, change date) with 'Cancel anyway' kept. Primary: cancel completion rate among cancel-page visitors. Guardrail: complaints, compliance wording.</a:t>
            </a:r>
            <a:endParaRPr lang="en-US" sz="1200" dirty="0"/>
          </a:p>
        </p:txBody>
      </p:sp>
      <p:sp>
        <p:nvSpPr>
          <p:cNvPr id="7" name="Uplift card"/>
          <p:cNvSpPr/>
          <p:nvPr/>
        </p:nvSpPr>
        <p:spPr>
          <a:xfrm>
            <a:off x="8321040" y="1508760"/>
            <a:ext cx="3154680" cy="1783080"/>
          </a:xfrm>
          <a:prstGeom prst="roundRect">
            <a:avLst>
              <a:gd name="adj" fmla="val 4103"/>
            </a:avLst>
          </a:prstGeom>
          <a:solidFill>
            <a:schemeClr val="tx2"/>
          </a:solidFill>
          <a:ln/>
        </p:spPr>
      </p:sp>
      <p:sp>
        <p:nvSpPr>
          <p:cNvPr id="8" name="Text 6"/>
          <p:cNvSpPr txBox="1"/>
          <p:nvPr/>
        </p:nvSpPr>
        <p:spPr>
          <a:xfrm>
            <a:off x="8503920" y="1618488"/>
            <a:ext cx="2788920" cy="274320"/>
          </a:xfrm>
          <a:prstGeom prst="rect">
            <a:avLst/>
          </a:prstGeom>
          <a:noFill/>
          <a:ln/>
        </p:spPr>
        <p:txBody>
          <a:bodyPr wrap="square" lIns="0" tIns="0" rIns="0" bIns="0" rtlCol="0" anchor="ctr"/>
          <a:lstStyle/>
          <a:p>
            <a:pPr indent="0" marL="0">
              <a:buNone/>
            </a:pPr>
            <a:r>
              <a:rPr lang="en-US" sz="1200" b="1" dirty="0">
                <a:solidFill>
                  <a:schemeClr val="bg2"/>
                </a:solidFill>
              </a:rPr>
              <a:t>EXPECTED UPLIFT</a:t>
            </a:r>
            <a:endParaRPr lang="en-US" sz="1200" dirty="0"/>
          </a:p>
        </p:txBody>
      </p:sp>
      <p:sp>
        <p:nvSpPr>
          <p:cNvPr id="9" name="Text 7"/>
          <p:cNvSpPr txBox="1"/>
          <p:nvPr/>
        </p:nvSpPr>
        <p:spPr>
          <a:xfrm>
            <a:off x="8503920" y="1892808"/>
            <a:ext cx="2788920" cy="59436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10-15%</a:t>
            </a:r>
            <a:endParaRPr lang="en-US" sz="2800" dirty="0"/>
          </a:p>
        </p:txBody>
      </p:sp>
      <p:sp>
        <p:nvSpPr>
          <p:cNvPr id="10" name="Text 8"/>
          <p:cNvSpPr txBox="1"/>
          <p:nvPr/>
        </p:nvSpPr>
        <p:spPr>
          <a:xfrm>
            <a:off x="8503920" y="2514600"/>
            <a:ext cx="2788920" cy="731520"/>
          </a:xfrm>
          <a:prstGeom prst="rect">
            <a:avLst/>
          </a:prstGeom>
          <a:noFill/>
          <a:ln/>
        </p:spPr>
        <p:txBody>
          <a:bodyPr wrap="square" lIns="0" tIns="0" rIns="0" bIns="0" rtlCol="0" anchor="t"/>
          <a:lstStyle/>
          <a:p>
            <a:pPr indent="0" marL="0">
              <a:buNone/>
            </a:pPr>
            <a:r>
              <a:rPr lang="en-US" sz="1200" dirty="0">
                <a:solidFill>
                  <a:schemeClr val="bg2"/>
                </a:solidFill>
              </a:rPr>
              <a:t>of cancels saved: about +225-340 SIPs kept a month</a:t>
            </a:r>
            <a:endParaRPr lang="en-US" sz="1200" dirty="0"/>
          </a:p>
        </p:txBody>
      </p:sp>
      <p:sp>
        <p:nvSpPr>
          <p:cNvPr id="11" name="Mock placeholder"/>
          <p:cNvSpPr/>
          <p:nvPr/>
        </p:nvSpPr>
        <p:spPr>
          <a:xfrm>
            <a:off x="8321040" y="3474720"/>
            <a:ext cx="3154680" cy="2514600"/>
          </a:xfrm>
          <a:prstGeom prst="roundRect">
            <a:avLst>
              <a:gd name="adj" fmla="val 2909"/>
            </a:avLst>
          </a:prstGeom>
          <a:solidFill>
            <a:srgbClr val="FFFFFF"/>
          </a:solidFill>
          <a:ln w="12700">
            <a:solidFill>
              <a:schemeClr val="accent5"/>
            </a:solidFill>
            <a:prstDash val="dash"/>
          </a:ln>
        </p:spPr>
      </p:sp>
      <p:sp>
        <p:nvSpPr>
          <p:cNvPr id="12" name="Text 10"/>
          <p:cNvSpPr txBox="1"/>
          <p:nvPr/>
        </p:nvSpPr>
        <p:spPr>
          <a:xfrm>
            <a:off x="8321040" y="3474720"/>
            <a:ext cx="3154680" cy="2514600"/>
          </a:xfrm>
          <a:prstGeom prst="rect">
            <a:avLst/>
          </a:prstGeom>
          <a:noFill/>
          <a:ln/>
        </p:spPr>
        <p:txBody>
          <a:bodyPr wrap="square" lIns="0" tIns="0" rIns="0" bIns="0" rtlCol="0" anchor="ctr"/>
          <a:lstStyle/>
          <a:p>
            <a:pPr algn="ctr" indent="0" marL="0">
              <a:buNone/>
            </a:pPr>
            <a:r>
              <a:rPr lang="en-US" sz="1400" dirty="0">
                <a:solidFill>
                  <a:schemeClr val="accent5"/>
                </a:solidFill>
              </a:rPr>
              <a:t>Mock to add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T7  Prompt a first SIP right after folio creation</a:t>
            </a:r>
            <a:endParaRPr lang="en-US" sz="2800" dirty="0"/>
          </a:p>
        </p:txBody>
      </p:sp>
      <p:sp>
        <p:nvSpPr>
          <p:cNvPr id="3" name="Text 1"/>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200" b="1" dirty="0">
                <a:solidFill>
                  <a:schemeClr val="accent1"/>
                </a:solidFill>
              </a:rPr>
              <a:t>Post-login  |  Folio confirmation and journeys</a:t>
            </a:r>
            <a:endParaRPr lang="en-US" sz="1200" dirty="0"/>
          </a:p>
        </p:txBody>
      </p:sp>
      <p:sp>
        <p:nvSpPr>
          <p:cNvPr id="4" name="Observation card"/>
          <p:cNvSpPr/>
          <p:nvPr/>
        </p:nvSpPr>
        <p:spPr>
          <a:xfrm>
            <a:off x="548640" y="1508760"/>
            <a:ext cx="3794760" cy="4480560"/>
          </a:xfrm>
          <a:prstGeom prst="roundRect">
            <a:avLst>
              <a:gd name="adj" fmla="val 1928"/>
            </a:avLst>
          </a:prstGeom>
          <a:solidFill>
            <a:schemeClr val="bg2"/>
          </a:solidFill>
          <a:ln/>
        </p:spPr>
      </p:sp>
      <p:sp>
        <p:nvSpPr>
          <p:cNvPr id="5" name="Text 3"/>
          <p:cNvSpPr txBox="1"/>
          <p:nvPr/>
        </p:nvSpPr>
        <p:spPr>
          <a:xfrm>
            <a:off x="731520" y="1645920"/>
            <a:ext cx="3429000" cy="420624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OBSERVATION</a:t>
            </a:r>
            <a:endParaRPr lang="en-US" sz="1200" dirty="0"/>
          </a:p>
          <a:p>
            <a:pPr indent="0" marL="0">
              <a:buNone/>
            </a:pPr>
            <a:r>
              <a:rPr lang="en-US" sz="1500" b="1" dirty="0">
                <a:solidFill>
                  <a:schemeClr val="tx2"/>
                </a:solidFill>
              </a:rPr>
              <a:t>Analytics</a:t>
            </a:r>
            <a:endParaRPr lang="en-US" sz="1200" dirty="0"/>
          </a:p>
          <a:p>
            <a:pPr indent="0" marL="0">
              <a:spcAft>
                <a:spcPts val="800"/>
              </a:spcAft>
              <a:buNone/>
            </a:pPr>
            <a:r>
              <a:rPr lang="en-US" sz="1500" dirty="0">
                <a:solidFill>
                  <a:schemeClr val="tx1"/>
                </a:solidFill>
              </a:rPr>
              <a:t>1,811 new folios in 30 days; 32% make a first SIP within 7 days (583) and 52% make any first transaction. The average time to first SIP is 12.4 hours.</a:t>
            </a:r>
            <a:endParaRPr lang="en-US" sz="1200" dirty="0"/>
          </a:p>
          <a:p>
            <a:pPr indent="0" marL="0">
              <a:buNone/>
            </a:pPr>
            <a:r>
              <a:rPr lang="en-US" sz="1500" b="1" dirty="0">
                <a:solidFill>
                  <a:schemeClr val="tx2"/>
                </a:solidFill>
              </a:rPr>
              <a:t>Competitors</a:t>
            </a:r>
            <a:endParaRPr lang="en-US" sz="1200" dirty="0"/>
          </a:p>
          <a:p>
            <a:pPr indent="0" marL="0">
              <a:buNone/>
            </a:pPr>
            <a:r>
              <a:rPr lang="en-US" sz="1500" dirty="0">
                <a:solidFill>
                  <a:schemeClr val="tx1"/>
                </a:solidFill>
              </a:rPr>
              <a:t>Axis home carries 'Great for Beginners' and 'Start Here'; ABSL home has 'Get Investment Plan' and 'Start Planning'. Axis also publishes a guide to starting a SIP with Rs 100.</a:t>
            </a:r>
            <a:endParaRPr lang="en-US" sz="1200" dirty="0"/>
          </a:p>
        </p:txBody>
      </p:sp>
      <p:sp>
        <p:nvSpPr>
          <p:cNvPr id="6" name="Text 4"/>
          <p:cNvSpPr txBox="1"/>
          <p:nvPr/>
        </p:nvSpPr>
        <p:spPr>
          <a:xfrm>
            <a:off x="4526280" y="1554480"/>
            <a:ext cx="3611880" cy="4389120"/>
          </a:xfrm>
          <a:prstGeom prst="rect">
            <a:avLst/>
          </a:prstGeom>
          <a:noFill/>
          <a:ln/>
        </p:spPr>
        <p:txBody>
          <a:bodyPr wrap="square" lIns="0" tIns="0" rIns="0" bIns="0" rtlCol="0" anchor="t"/>
          <a:lstStyle/>
          <a:p>
            <a:pPr indent="0" marL="0">
              <a:spcAft>
                <a:spcPts val="400"/>
              </a:spcAft>
              <a:buNone/>
            </a:pPr>
            <a:r>
              <a:rPr lang="en-US" sz="1200" b="1" dirty="0">
                <a:solidFill>
                  <a:schemeClr val="accent1"/>
                </a:solidFill>
              </a:rPr>
              <a:t>HYPOTHESIS</a:t>
            </a:r>
            <a:endParaRPr lang="en-US" sz="1200" dirty="0"/>
          </a:p>
          <a:p>
            <a:pPr indent="0" marL="0">
              <a:spcAft>
                <a:spcPts val="1000"/>
              </a:spcAft>
              <a:buNone/>
            </a:pPr>
            <a:r>
              <a:rPr lang="en-US" sz="1500" dirty="0">
                <a:solidFill>
                  <a:schemeClr val="tx1"/>
                </a:solidFill>
              </a:rPr>
              <a:t>A first-SIP prompt shown on folio confirmation, then repeated by WhatsApp or push within 24 hours, converts early intent into SIPs.</a:t>
            </a:r>
            <a:endParaRPr lang="en-US" sz="1200" dirty="0"/>
          </a:p>
          <a:p>
            <a:pPr indent="0" marL="0">
              <a:spcAft>
                <a:spcPts val="400"/>
              </a:spcAft>
              <a:buNone/>
            </a:pPr>
            <a:r>
              <a:rPr lang="en-US" sz="1200" b="1" dirty="0">
                <a:solidFill>
                  <a:schemeClr val="accent1"/>
                </a:solidFill>
              </a:rPr>
              <a:t>TEST</a:t>
            </a:r>
            <a:endParaRPr lang="en-US" sz="1200" dirty="0"/>
          </a:p>
          <a:p>
            <a:pPr indent="0" marL="0">
              <a:buNone/>
            </a:pPr>
            <a:r>
              <a:rPr lang="en-US" sz="1500" dirty="0">
                <a:solidFill>
                  <a:schemeClr val="tx1"/>
                </a:solidFill>
              </a:rPr>
              <a:t>Control: folio confirmation then invest home. Variant: 'Start your first SIP' card with a preset amount, plus messages at 1, 12 and 24 hours. Primary: first SIP within 7 days.</a:t>
            </a:r>
            <a:endParaRPr lang="en-US" sz="1200" dirty="0"/>
          </a:p>
        </p:txBody>
      </p:sp>
      <p:sp>
        <p:nvSpPr>
          <p:cNvPr id="7" name="Uplift card"/>
          <p:cNvSpPr/>
          <p:nvPr/>
        </p:nvSpPr>
        <p:spPr>
          <a:xfrm>
            <a:off x="8321040" y="1508760"/>
            <a:ext cx="3154680" cy="1783080"/>
          </a:xfrm>
          <a:prstGeom prst="roundRect">
            <a:avLst>
              <a:gd name="adj" fmla="val 4103"/>
            </a:avLst>
          </a:prstGeom>
          <a:solidFill>
            <a:schemeClr val="tx2"/>
          </a:solidFill>
          <a:ln/>
        </p:spPr>
      </p:sp>
      <p:sp>
        <p:nvSpPr>
          <p:cNvPr id="8" name="Text 6"/>
          <p:cNvSpPr txBox="1"/>
          <p:nvPr/>
        </p:nvSpPr>
        <p:spPr>
          <a:xfrm>
            <a:off x="8503920" y="1618488"/>
            <a:ext cx="2788920" cy="274320"/>
          </a:xfrm>
          <a:prstGeom prst="rect">
            <a:avLst/>
          </a:prstGeom>
          <a:noFill/>
          <a:ln/>
        </p:spPr>
        <p:txBody>
          <a:bodyPr wrap="square" lIns="0" tIns="0" rIns="0" bIns="0" rtlCol="0" anchor="ctr"/>
          <a:lstStyle/>
          <a:p>
            <a:pPr indent="0" marL="0">
              <a:buNone/>
            </a:pPr>
            <a:r>
              <a:rPr lang="en-US" sz="1200" b="1" dirty="0">
                <a:solidFill>
                  <a:schemeClr val="bg2"/>
                </a:solidFill>
              </a:rPr>
              <a:t>EXPECTED UPLIFT</a:t>
            </a:r>
            <a:endParaRPr lang="en-US" sz="1200" dirty="0"/>
          </a:p>
        </p:txBody>
      </p:sp>
      <p:sp>
        <p:nvSpPr>
          <p:cNvPr id="9" name="Text 7"/>
          <p:cNvSpPr txBox="1"/>
          <p:nvPr/>
        </p:nvSpPr>
        <p:spPr>
          <a:xfrm>
            <a:off x="8503920" y="1892808"/>
            <a:ext cx="2788920" cy="59436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+4-8 pts</a:t>
            </a:r>
            <a:endParaRPr lang="en-US" sz="2800" dirty="0"/>
          </a:p>
        </p:txBody>
      </p:sp>
      <p:sp>
        <p:nvSpPr>
          <p:cNvPr id="10" name="Text 8"/>
          <p:cNvSpPr txBox="1"/>
          <p:nvPr/>
        </p:nvSpPr>
        <p:spPr>
          <a:xfrm>
            <a:off x="8503920" y="2514600"/>
            <a:ext cx="2788920" cy="731520"/>
          </a:xfrm>
          <a:prstGeom prst="rect">
            <a:avLst/>
          </a:prstGeom>
          <a:noFill/>
          <a:ln/>
        </p:spPr>
        <p:txBody>
          <a:bodyPr wrap="square" lIns="0" tIns="0" rIns="0" bIns="0" rtlCol="0" anchor="t"/>
          <a:lstStyle/>
          <a:p>
            <a:pPr indent="0" marL="0">
              <a:buNone/>
            </a:pPr>
            <a:r>
              <a:rPr lang="en-US" sz="1200" dirty="0">
                <a:solidFill>
                  <a:schemeClr val="bg2"/>
                </a:solidFill>
              </a:rPr>
              <a:t>on first SIP within 7 days (32% to 36-40%): about +70-145 SIPs a month</a:t>
            </a:r>
            <a:endParaRPr lang="en-US" sz="1200" dirty="0"/>
          </a:p>
        </p:txBody>
      </p:sp>
      <p:sp>
        <p:nvSpPr>
          <p:cNvPr id="11" name="Mock placeholder"/>
          <p:cNvSpPr/>
          <p:nvPr/>
        </p:nvSpPr>
        <p:spPr>
          <a:xfrm>
            <a:off x="8321040" y="3474720"/>
            <a:ext cx="3154680" cy="2514600"/>
          </a:xfrm>
          <a:prstGeom prst="roundRect">
            <a:avLst>
              <a:gd name="adj" fmla="val 2909"/>
            </a:avLst>
          </a:prstGeom>
          <a:solidFill>
            <a:srgbClr val="FFFFFF"/>
          </a:solidFill>
          <a:ln w="12700">
            <a:solidFill>
              <a:schemeClr val="accent5"/>
            </a:solidFill>
            <a:prstDash val="dash"/>
          </a:ln>
        </p:spPr>
      </p:sp>
      <p:sp>
        <p:nvSpPr>
          <p:cNvPr id="12" name="Text 10"/>
          <p:cNvSpPr txBox="1"/>
          <p:nvPr/>
        </p:nvSpPr>
        <p:spPr>
          <a:xfrm>
            <a:off x="8321040" y="3474720"/>
            <a:ext cx="3154680" cy="2514600"/>
          </a:xfrm>
          <a:prstGeom prst="rect">
            <a:avLst/>
          </a:prstGeom>
          <a:noFill/>
          <a:ln/>
        </p:spPr>
        <p:txBody>
          <a:bodyPr wrap="square" lIns="0" tIns="0" rIns="0" bIns="0" rtlCol="0" anchor="ctr"/>
          <a:lstStyle/>
          <a:p>
            <a:pPr algn="ctr" indent="0" marL="0">
              <a:buNone/>
            </a:pPr>
            <a:r>
              <a:rPr lang="en-US" sz="1400" dirty="0">
                <a:solidFill>
                  <a:schemeClr val="accent5"/>
                </a:solidFill>
              </a:rPr>
              <a:t>Mock to add</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Nine tracking fixes, in plain language, to do before testing</a:t>
            </a:r>
            <a:endParaRPr lang="en-US" sz="28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914400"/>
        </p:xfrm>
        <a:graphic>
          <a:graphicData uri="http://schemas.openxmlformats.org/drawingml/2006/table">
            <a:tbl>
              <a:tblPr/>
              <a:tblGrid>
                <a:gridCol w="2743200"/>
                <a:gridCol w="5760720"/>
                <a:gridCol w="2560320"/>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is wrong and the simple fix</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unlocks</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F2A43"/>
                    </a:solidFill>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1. Know who is logged in</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Only 2.6% of visitors are identified. Tell the tracker who the user is right after login on the invest site.</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Joins calculator visits to purchases</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2. One login event</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Web sends login_completed, apps send login_with_otp. Use one event plus a platform tag.</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Clean login rates</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3. One payment-success event</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Web OTP to success looks like 35% on one event and 89% on Charged. Send the same success event everywhere.</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Removes a false web drop-off</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4. Label every purchase</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Charged has no platform and does not say SIP or lumpsum. Add both, plus fund and amount.</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SIP count by source</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5. Add detail to SIP events</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SIP events carry no fund, amount, frequency or step-up flag.</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SIPs by fund and amount</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6. One mandate result event</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Bank mandate and UPI autopay report differently. Add mandate type and failure reason.</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True failure rate, recovery</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7. Keep campaign source across sites</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Carry UTM and click ids from www to invest.</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Credits SIPs to paid search</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8. Record the test variant</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Add experiment id and variant to key events.</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Needed to read any test</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r h="457200">
                <a:tc>
                  <a:txBody>
                    <a:bodyPr/>
                    <a:lstStyle/>
                    <a:p>
                      <a:pPr indent="0" marL="0">
                        <a:buNone/>
                      </a:pPr>
                      <a:r>
                        <a:rPr lang="en-US" sz="1200" b="1" dirty="0">
                          <a:solidFill>
                            <a:srgbClr val="1B2733"/>
                          </a:solidFill>
                          <a:latin typeface="Calibri" pitchFamily="34" charset="0"/>
                          <a:ea typeface="Calibri" pitchFamily="34" charset="-122"/>
                          <a:cs typeface="Calibri" pitchFamily="34" charset="-120"/>
                        </a:rPr>
                        <a:t>9. Check guest tracking</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EF3F7"/>
                    </a:solidFill>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Guest pages show about 500 users, too few for 90% mobile traffic. Verify the tags fire.</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pPr indent="0" marL="0">
                        <a:buNone/>
                      </a:pPr>
                      <a:r>
                        <a:rPr lang="en-US" sz="1200" dirty="0">
                          <a:solidFill>
                            <a:srgbClr val="1B2733"/>
                          </a:solidFill>
                          <a:latin typeface="Calibri" pitchFamily="34" charset="0"/>
                          <a:ea typeface="Calibri" pitchFamily="34" charset="-122"/>
                          <a:cs typeface="Calibri" pitchFamily="34" charset="-120"/>
                        </a:rPr>
                        <a:t>Pre-login visibility</a:t>
                      </a:r>
                      <a:endParaRPr lang="en-US" sz="1200" dirty="0">
                        <a:latin typeface="Calibri" charset="0"/>
                        <a:ea typeface="Calibri" charset="0"/>
                        <a:cs typeface="Calibri" charset="0"/>
                      </a:endParaRPr>
                    </a:p>
                  </a:txBody>
                  <a:tcPr marL="54864" marR="54864" marT="27432" marB="27432"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r>
            </a:tbl>
          </a:graphicData>
        </a:graphic>
      </p:graphicFrame>
      <p:sp>
        <p:nvSpPr>
          <p:cNvPr id="4"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Evidence: NVECTA user type, platform and event breakdowns, 14 Sep to 14 Oct 2026; saved funnels 3137 and 3178.</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Before testing after login, we need three answers</a:t>
            </a:r>
            <a:endParaRPr lang="en-US" sz="2800" dirty="0"/>
          </a:p>
        </p:txBody>
      </p:sp>
      <p:sp>
        <p:nvSpPr>
          <p:cNvPr id="3" name="Question card"/>
          <p:cNvSpPr/>
          <p:nvPr/>
        </p:nvSpPr>
        <p:spPr>
          <a:xfrm>
            <a:off x="548640" y="1371600"/>
            <a:ext cx="5394960" cy="4389120"/>
          </a:xfrm>
          <a:prstGeom prst="roundRect">
            <a:avLst>
              <a:gd name="adj" fmla="val 1667"/>
            </a:avLst>
          </a:prstGeom>
          <a:solidFill>
            <a:schemeClr val="bg2"/>
          </a:solidFill>
          <a:ln/>
        </p:spPr>
      </p:sp>
      <p:sp>
        <p:nvSpPr>
          <p:cNvPr id="4" name="Text 2"/>
          <p:cNvSpPr txBox="1"/>
          <p:nvPr/>
        </p:nvSpPr>
        <p:spPr>
          <a:xfrm>
            <a:off x="777240" y="1508760"/>
            <a:ext cx="49377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For NVECTA</a:t>
            </a:r>
            <a:endParaRPr lang="en-US" sz="1800" dirty="0"/>
          </a:p>
        </p:txBody>
      </p:sp>
      <p:sp>
        <p:nvSpPr>
          <p:cNvPr id="5" name="Text 3"/>
          <p:cNvSpPr txBox="1"/>
          <p:nvPr/>
        </p:nvSpPr>
        <p:spPr>
          <a:xfrm>
            <a:off x="777240" y="2011680"/>
            <a:ext cx="49377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Can web campaigns or A/B tests render on the invest site, which is a single-page app? Is a visual editor supported, or do variants need developer work?</a:t>
            </a:r>
            <a:endParaRPr lang="en-US" sz="1400" dirty="0"/>
          </a:p>
          <a:p>
            <a:pPr marL="342900" indent="-342900">
              <a:spcAft>
                <a:spcPts val="800"/>
              </a:spcAft>
              <a:buSzPct val="100000"/>
              <a:buChar char="•"/>
            </a:pPr>
            <a:r>
              <a:rPr lang="en-US" sz="1400" dirty="0">
                <a:solidFill>
                  <a:schemeClr val="tx1"/>
                </a:solidFill>
              </a:rPr>
              <a:t>Can a variant be assigned by segment or traffic split and reported against SIP events?</a:t>
            </a:r>
            <a:endParaRPr lang="en-US" sz="1400" dirty="0"/>
          </a:p>
          <a:p>
            <a:pPr marL="342900" indent="-342900">
              <a:spcAft>
                <a:spcPts val="800"/>
              </a:spcAft>
              <a:buSzPct val="100000"/>
              <a:buChar char="•"/>
            </a:pPr>
            <a:r>
              <a:rPr lang="en-US" sz="1400" dirty="0">
                <a:solidFill>
                  <a:schemeClr val="tx1"/>
                </a:solidFill>
              </a:rPr>
              <a:t>Can identity carry across the www and invest sites without a second login?</a:t>
            </a:r>
            <a:endParaRPr lang="en-US" sz="1400" dirty="0"/>
          </a:p>
        </p:txBody>
      </p:sp>
      <p:sp>
        <p:nvSpPr>
          <p:cNvPr id="6" name="Question card"/>
          <p:cNvSpPr/>
          <p:nvPr/>
        </p:nvSpPr>
        <p:spPr>
          <a:xfrm>
            <a:off x="6217920" y="1371600"/>
            <a:ext cx="5394960" cy="4389120"/>
          </a:xfrm>
          <a:prstGeom prst="roundRect">
            <a:avLst>
              <a:gd name="adj" fmla="val 1667"/>
            </a:avLst>
          </a:prstGeom>
          <a:solidFill>
            <a:schemeClr val="bg2"/>
          </a:solidFill>
          <a:ln/>
        </p:spPr>
      </p:sp>
      <p:sp>
        <p:nvSpPr>
          <p:cNvPr id="7" name="Text 5"/>
          <p:cNvSpPr txBox="1"/>
          <p:nvPr/>
        </p:nvSpPr>
        <p:spPr>
          <a:xfrm>
            <a:off x="6446520" y="1508760"/>
            <a:ext cx="4937760" cy="365760"/>
          </a:xfrm>
          <a:prstGeom prst="rect">
            <a:avLst/>
          </a:prstGeom>
          <a:noFill/>
          <a:ln/>
        </p:spPr>
        <p:txBody>
          <a:bodyPr wrap="square" lIns="0" tIns="0" rIns="0" bIns="0" rtlCol="0" anchor="ctr"/>
          <a:lstStyle/>
          <a:p>
            <a:pPr indent="0" marL="0">
              <a:buNone/>
            </a:pPr>
            <a:r>
              <a:rPr lang="en-US" sz="1800" b="1" dirty="0">
                <a:solidFill>
                  <a:schemeClr val="tx2"/>
                </a:solidFill>
                <a:latin typeface="Cambria" pitchFamily="34" charset="0"/>
                <a:ea typeface="Cambria" pitchFamily="34" charset="-122"/>
                <a:cs typeface="Cambria" pitchFamily="34" charset="-120"/>
              </a:rPr>
              <a:t>For Motilal Oswal AMC</a:t>
            </a:r>
            <a:endParaRPr lang="en-US" sz="1800" dirty="0"/>
          </a:p>
        </p:txBody>
      </p:sp>
      <p:sp>
        <p:nvSpPr>
          <p:cNvPr id="8" name="Text 6"/>
          <p:cNvSpPr txBox="1"/>
          <p:nvPr/>
        </p:nvSpPr>
        <p:spPr>
          <a:xfrm>
            <a:off x="6446520" y="2011680"/>
            <a:ext cx="4937760" cy="3657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Is the tracking code on every invest route, and is the user id sent right after login? Why are only 2.6% of users identified?</a:t>
            </a:r>
            <a:endParaRPr lang="en-US" sz="1400" dirty="0"/>
          </a:p>
          <a:p>
            <a:pPr marL="342900" indent="-342900">
              <a:spcAft>
                <a:spcPts val="800"/>
              </a:spcAft>
              <a:buSzPct val="100000"/>
              <a:buChar char="•"/>
            </a:pPr>
            <a:r>
              <a:rPr lang="en-US" sz="1400" dirty="0">
                <a:solidFill>
                  <a:schemeClr val="tx1"/>
                </a:solidFill>
              </a:rPr>
              <a:t>Can the team add the missing properties (fund, amount, platform, SIP or lumpsum, mandate type) to the SIP and payment events?</a:t>
            </a:r>
            <a:endParaRPr lang="en-US" sz="1400" dirty="0"/>
          </a:p>
          <a:p>
            <a:pPr marL="342900" indent="-342900">
              <a:spcAft>
                <a:spcPts val="800"/>
              </a:spcAft>
              <a:buSzPct val="100000"/>
              <a:buChar char="•"/>
            </a:pPr>
            <a:r>
              <a:rPr lang="en-US" sz="1400" dirty="0">
                <a:solidFill>
                  <a:schemeClr val="tx1"/>
                </a:solidFill>
              </a:rPr>
              <a:t>Who owns the invest release cycle, and what is the earliest slot for tests 3 to 7?</a:t>
            </a:r>
            <a:endParaRPr lang="en-US" sz="1400" dirty="0"/>
          </a:p>
        </p:txBody>
      </p:sp>
      <p:sp>
        <p:nvSpPr>
          <p:cNvPr id="9"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Pre-login tests (1 and 2) need none of this and can start as soon as the tracking fixes for variant and source are live.</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914400"/>
          </a:xfrm>
          <a:prstGeom prst="rect">
            <a:avLst/>
          </a:prstGeom>
          <a:noFill/>
          <a:ln/>
        </p:spPr>
        <p:txBody>
          <a:bodyPr wrap="square" lIns="0" tIns="0" rIns="0" bIns="0" rtlCol="0" anchor="t"/>
          <a:lstStyle/>
          <a:p>
            <a:pPr algn="l" indent="0" marL="0">
              <a:buNone/>
            </a:pPr>
            <a:r>
              <a:rPr lang="en-US" sz="2800" b="1" dirty="0">
                <a:solidFill>
                  <a:schemeClr val="tx2"/>
                </a:solidFill>
              </a:rPr>
              <a:t>Next steps: fix tracking, launch two pre-login tests, unlock the rest</a:t>
            </a:r>
            <a:endParaRPr lang="en-US" sz="2800" dirty="0"/>
          </a:p>
        </p:txBody>
      </p:sp>
      <p:sp>
        <p:nvSpPr>
          <p:cNvPr id="3" name="Step card"/>
          <p:cNvSpPr/>
          <p:nvPr/>
        </p:nvSpPr>
        <p:spPr>
          <a:xfrm>
            <a:off x="548640" y="1554480"/>
            <a:ext cx="2606040" cy="3566160"/>
          </a:xfrm>
          <a:prstGeom prst="roundRect">
            <a:avLst>
              <a:gd name="adj" fmla="val 2807"/>
            </a:avLst>
          </a:prstGeom>
          <a:solidFill>
            <a:schemeClr val="bg2"/>
          </a:solidFill>
          <a:ln/>
        </p:spPr>
      </p:sp>
      <p:sp>
        <p:nvSpPr>
          <p:cNvPr id="4" name="Step number"/>
          <p:cNvSpPr/>
          <p:nvPr/>
        </p:nvSpPr>
        <p:spPr>
          <a:xfrm>
            <a:off x="777240" y="1783080"/>
            <a:ext cx="502920" cy="502920"/>
          </a:xfrm>
          <a:prstGeom prst="ellipse">
            <a:avLst/>
          </a:prstGeom>
          <a:solidFill>
            <a:schemeClr val="tx2"/>
          </a:solidFill>
          <a:ln w="12700">
            <a:solidFill>
              <a:schemeClr val="tx2"/>
            </a:solidFill>
            <a:prstDash val="solid"/>
          </a:ln>
        </p:spPr>
      </p:sp>
      <p:sp>
        <p:nvSpPr>
          <p:cNvPr id="5" name="Text 3"/>
          <p:cNvSpPr txBox="1"/>
          <p:nvPr/>
        </p:nvSpPr>
        <p:spPr>
          <a:xfrm>
            <a:off x="77724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777240" y="2468880"/>
            <a:ext cx="214884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Week 1</a:t>
            </a:r>
            <a:endParaRPr lang="en-US" sz="2000" dirty="0"/>
          </a:p>
        </p:txBody>
      </p:sp>
      <p:sp>
        <p:nvSpPr>
          <p:cNvPr id="7" name="Text 5"/>
          <p:cNvSpPr txBox="1"/>
          <p:nvPr/>
        </p:nvSpPr>
        <p:spPr>
          <a:xfrm>
            <a:off x="777240" y="2926080"/>
            <a:ext cx="2148840" cy="2103120"/>
          </a:xfrm>
          <a:prstGeom prst="rect">
            <a:avLst/>
          </a:prstGeom>
          <a:noFill/>
          <a:ln/>
        </p:spPr>
        <p:txBody>
          <a:bodyPr wrap="square" lIns="0" tIns="0" rIns="0" bIns="0" rtlCol="0" anchor="t"/>
          <a:lstStyle/>
          <a:p>
            <a:pPr indent="0" marL="0">
              <a:buNone/>
            </a:pPr>
            <a:r>
              <a:rPr lang="en-US" sz="1400" dirty="0">
                <a:solidFill>
                  <a:schemeClr val="tx1"/>
                </a:solidFill>
              </a:rPr>
              <a:t>Agree tracking fixes with dev; get answers on post-login testing; capture a hands-on SIP walkthrough on mobile web</a:t>
            </a:r>
            <a:endParaRPr lang="en-US" sz="1400" dirty="0"/>
          </a:p>
        </p:txBody>
      </p:sp>
      <p:sp>
        <p:nvSpPr>
          <p:cNvPr id="8" name="Step card"/>
          <p:cNvSpPr/>
          <p:nvPr/>
        </p:nvSpPr>
        <p:spPr>
          <a:xfrm>
            <a:off x="3367735" y="1554480"/>
            <a:ext cx="2606040" cy="3566160"/>
          </a:xfrm>
          <a:prstGeom prst="roundRect">
            <a:avLst>
              <a:gd name="adj" fmla="val 2807"/>
            </a:avLst>
          </a:prstGeom>
          <a:solidFill>
            <a:schemeClr val="bg2"/>
          </a:solidFill>
          <a:ln/>
        </p:spPr>
      </p:sp>
      <p:sp>
        <p:nvSpPr>
          <p:cNvPr id="9" name="Step number"/>
          <p:cNvSpPr/>
          <p:nvPr/>
        </p:nvSpPr>
        <p:spPr>
          <a:xfrm>
            <a:off x="3596335" y="1783080"/>
            <a:ext cx="502920" cy="502920"/>
          </a:xfrm>
          <a:prstGeom prst="ellipse">
            <a:avLst/>
          </a:prstGeom>
          <a:solidFill>
            <a:schemeClr val="tx2"/>
          </a:solidFill>
          <a:ln w="12700">
            <a:solidFill>
              <a:schemeClr val="tx2"/>
            </a:solidFill>
            <a:prstDash val="solid"/>
          </a:ln>
        </p:spPr>
      </p:sp>
      <p:sp>
        <p:nvSpPr>
          <p:cNvPr id="10" name="Text 8"/>
          <p:cNvSpPr txBox="1"/>
          <p:nvPr/>
        </p:nvSpPr>
        <p:spPr>
          <a:xfrm>
            <a:off x="3596335"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1" name="Text 9"/>
          <p:cNvSpPr txBox="1"/>
          <p:nvPr/>
        </p:nvSpPr>
        <p:spPr>
          <a:xfrm>
            <a:off x="3596335" y="2468880"/>
            <a:ext cx="214884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Weeks 2-3</a:t>
            </a:r>
            <a:endParaRPr lang="en-US" sz="2000" dirty="0"/>
          </a:p>
        </p:txBody>
      </p:sp>
      <p:sp>
        <p:nvSpPr>
          <p:cNvPr id="12" name="Text 10"/>
          <p:cNvSpPr txBox="1"/>
          <p:nvPr/>
        </p:nvSpPr>
        <p:spPr>
          <a:xfrm>
            <a:off x="3596335" y="2926080"/>
            <a:ext cx="2148840" cy="2103120"/>
          </a:xfrm>
          <a:prstGeom prst="rect">
            <a:avLst/>
          </a:prstGeom>
          <a:noFill/>
          <a:ln/>
        </p:spPr>
        <p:txBody>
          <a:bodyPr wrap="square" lIns="0" tIns="0" rIns="0" bIns="0" rtlCol="0" anchor="t"/>
          <a:lstStyle/>
          <a:p>
            <a:pPr indent="0" marL="0">
              <a:buNone/>
            </a:pPr>
            <a:r>
              <a:rPr lang="en-US" sz="1400" dirty="0">
                <a:solidFill>
                  <a:schemeClr val="tx1"/>
                </a:solidFill>
              </a:rPr>
              <a:t>Launch T1 (calculator) and T2 (Defence fund page); confirm baselines and sample sizes</a:t>
            </a:r>
            <a:endParaRPr lang="en-US" sz="1400" dirty="0"/>
          </a:p>
        </p:txBody>
      </p:sp>
      <p:sp>
        <p:nvSpPr>
          <p:cNvPr id="13" name="Step card"/>
          <p:cNvSpPr/>
          <p:nvPr/>
        </p:nvSpPr>
        <p:spPr>
          <a:xfrm>
            <a:off x="6186830" y="1554480"/>
            <a:ext cx="2606040" cy="3566160"/>
          </a:xfrm>
          <a:prstGeom prst="roundRect">
            <a:avLst>
              <a:gd name="adj" fmla="val 2807"/>
            </a:avLst>
          </a:prstGeom>
          <a:solidFill>
            <a:schemeClr val="bg2"/>
          </a:solidFill>
          <a:ln/>
        </p:spPr>
      </p:sp>
      <p:sp>
        <p:nvSpPr>
          <p:cNvPr id="14" name="Step number"/>
          <p:cNvSpPr/>
          <p:nvPr/>
        </p:nvSpPr>
        <p:spPr>
          <a:xfrm>
            <a:off x="6415430" y="1783080"/>
            <a:ext cx="502920" cy="502920"/>
          </a:xfrm>
          <a:prstGeom prst="ellipse">
            <a:avLst/>
          </a:prstGeom>
          <a:solidFill>
            <a:schemeClr val="tx2"/>
          </a:solidFill>
          <a:ln w="12700">
            <a:solidFill>
              <a:schemeClr val="tx2"/>
            </a:solidFill>
            <a:prstDash val="solid"/>
          </a:ln>
        </p:spPr>
      </p:sp>
      <p:sp>
        <p:nvSpPr>
          <p:cNvPr id="15" name="Text 13"/>
          <p:cNvSpPr txBox="1"/>
          <p:nvPr/>
        </p:nvSpPr>
        <p:spPr>
          <a:xfrm>
            <a:off x="6415430"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4"/>
          <p:cNvSpPr txBox="1"/>
          <p:nvPr/>
        </p:nvSpPr>
        <p:spPr>
          <a:xfrm>
            <a:off x="6415430" y="2468880"/>
            <a:ext cx="214884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Weeks 3-5</a:t>
            </a:r>
            <a:endParaRPr lang="en-US" sz="2000" dirty="0"/>
          </a:p>
        </p:txBody>
      </p:sp>
      <p:sp>
        <p:nvSpPr>
          <p:cNvPr id="17" name="Text 15"/>
          <p:cNvSpPr txBox="1"/>
          <p:nvPr/>
        </p:nvSpPr>
        <p:spPr>
          <a:xfrm>
            <a:off x="6415430" y="2926080"/>
            <a:ext cx="2148840" cy="2103120"/>
          </a:xfrm>
          <a:prstGeom prst="rect">
            <a:avLst/>
          </a:prstGeom>
          <a:noFill/>
          <a:ln/>
        </p:spPr>
        <p:txBody>
          <a:bodyPr wrap="square" lIns="0" tIns="0" rIns="0" bIns="0" rtlCol="0" anchor="t"/>
          <a:lstStyle/>
          <a:p>
            <a:pPr indent="0" marL="0">
              <a:buNone/>
            </a:pPr>
            <a:r>
              <a:rPr lang="en-US" sz="1400" dirty="0">
                <a:solidFill>
                  <a:schemeClr val="tx1"/>
                </a:solidFill>
              </a:rPr>
              <a:t>Build T3 to T5 once identity and variant tracking are live; start T6 and T7 journeys</a:t>
            </a:r>
            <a:endParaRPr lang="en-US" sz="1400" dirty="0"/>
          </a:p>
        </p:txBody>
      </p:sp>
      <p:sp>
        <p:nvSpPr>
          <p:cNvPr id="18" name="Step card"/>
          <p:cNvSpPr/>
          <p:nvPr/>
        </p:nvSpPr>
        <p:spPr>
          <a:xfrm>
            <a:off x="9005926" y="1554480"/>
            <a:ext cx="2606040" cy="3566160"/>
          </a:xfrm>
          <a:prstGeom prst="roundRect">
            <a:avLst>
              <a:gd name="adj" fmla="val 2807"/>
            </a:avLst>
          </a:prstGeom>
          <a:solidFill>
            <a:schemeClr val="bg2"/>
          </a:solidFill>
          <a:ln/>
        </p:spPr>
      </p:sp>
      <p:sp>
        <p:nvSpPr>
          <p:cNvPr id="19" name="Step number"/>
          <p:cNvSpPr/>
          <p:nvPr/>
        </p:nvSpPr>
        <p:spPr>
          <a:xfrm>
            <a:off x="9234526" y="1783080"/>
            <a:ext cx="502920" cy="502920"/>
          </a:xfrm>
          <a:prstGeom prst="ellipse">
            <a:avLst/>
          </a:prstGeom>
          <a:solidFill>
            <a:schemeClr val="tx2"/>
          </a:solidFill>
          <a:ln w="12700">
            <a:solidFill>
              <a:schemeClr val="tx2"/>
            </a:solidFill>
            <a:prstDash val="solid"/>
          </a:ln>
        </p:spPr>
      </p:sp>
      <p:sp>
        <p:nvSpPr>
          <p:cNvPr id="20" name="Text 18"/>
          <p:cNvSpPr txBox="1"/>
          <p:nvPr/>
        </p:nvSpPr>
        <p:spPr>
          <a:xfrm>
            <a:off x="9234526" y="17830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1" name="Text 19"/>
          <p:cNvSpPr txBox="1"/>
          <p:nvPr/>
        </p:nvSpPr>
        <p:spPr>
          <a:xfrm>
            <a:off x="9234526" y="2468880"/>
            <a:ext cx="2148840" cy="36576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Week 6+</a:t>
            </a:r>
            <a:endParaRPr lang="en-US" sz="2000" dirty="0"/>
          </a:p>
        </p:txBody>
      </p:sp>
      <p:sp>
        <p:nvSpPr>
          <p:cNvPr id="22" name="Text 20"/>
          <p:cNvSpPr txBox="1"/>
          <p:nvPr/>
        </p:nvSpPr>
        <p:spPr>
          <a:xfrm>
            <a:off x="9234526" y="2926080"/>
            <a:ext cx="2148840" cy="2103120"/>
          </a:xfrm>
          <a:prstGeom prst="rect">
            <a:avLst/>
          </a:prstGeom>
          <a:noFill/>
          <a:ln/>
        </p:spPr>
        <p:txBody>
          <a:bodyPr wrap="square" lIns="0" tIns="0" rIns="0" bIns="0" rtlCol="0" anchor="t"/>
          <a:lstStyle/>
          <a:p>
            <a:pPr indent="0" marL="0">
              <a:buNone/>
            </a:pPr>
            <a:r>
              <a:rPr lang="en-US" sz="1400" dirty="0">
                <a:solidFill>
                  <a:schemeClr val="tx1"/>
                </a:solidFill>
              </a:rPr>
              <a:t>Read results, scale winners to other fund pages and to the apps</a:t>
            </a:r>
            <a:endParaRPr lang="en-US" sz="1400" dirty="0"/>
          </a:p>
        </p:txBody>
      </p:sp>
      <p:sp>
        <p:nvSpPr>
          <p:cNvPr id="23" name="Source note"/>
          <p:cNvSpPr txBox="1"/>
          <p:nvPr/>
        </p:nvSpPr>
        <p:spPr>
          <a:xfrm>
            <a:off x="548640" y="6053328"/>
            <a:ext cx="10424160" cy="310896"/>
          </a:xfrm>
          <a:prstGeom prst="rect">
            <a:avLst/>
          </a:prstGeom>
          <a:noFill/>
          <a:ln/>
        </p:spPr>
        <p:txBody>
          <a:bodyPr wrap="square" lIns="0" tIns="0" rIns="0" bIns="0" rtlCol="0" anchor="t"/>
          <a:lstStyle/>
          <a:p>
            <a:pPr indent="0" marL="0">
              <a:buNone/>
            </a:pPr>
            <a:r>
              <a:rPr lang="en-US" sz="1000" dirty="0">
                <a:solidFill>
                  <a:schemeClr val="accent5"/>
                </a:solidFill>
              </a:rPr>
              <a:t>Timeline is indicative and depends on the answers to the post-login questions.</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CA3"/>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SIP Growth Review">
  <a:themeElements>
    <a:clrScheme name="SIP Growth Review">
      <a:dk1>
        <a:srgbClr val="1B2733"/>
      </a:dk1>
      <a:lt1>
        <a:srgbClr val="FFFFFF"/>
      </a:lt1>
      <a:dk2>
        <a:srgbClr val="0F2A43"/>
      </a:dk2>
      <a:lt2>
        <a:srgbClr val="EEF3F7"/>
      </a:lt2>
      <a:accent1>
        <a:srgbClr val="1F6F8B"/>
      </a:accent1>
      <a:accent2>
        <a:srgbClr val="F2A33A"/>
      </a:accent2>
      <a:accent3>
        <a:srgbClr val="D8504D"/>
      </a:accent3>
      <a:accent4>
        <a:srgbClr val="2E8B6A"/>
      </a:accent4>
      <a:accent5>
        <a:srgbClr val="7A8CA3"/>
      </a:accent5>
      <a:accent6>
        <a:srgbClr val="5B4B8A"/>
      </a:accent6>
      <a:hlink>
        <a:srgbClr val="1F6F8B"/>
      </a:hlink>
      <a:folHlink>
        <a:srgbClr val="5B4B8A"/>
      </a:folHlink>
    </a:clrScheme>
    <a:fontScheme name="SIP Growth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SIP growth: analytics, competitors and test recommendations</dc:title>
  <dc:subject>PptxGenJS Presentation</dc:subject>
  <dc:creator>Motilal Oswal AMC - digital optimisation</dc:creator>
  <cp:lastModifiedBy>Motilal Oswal AMC - digital optimisation</cp:lastModifiedBy>
  <cp:revision>1</cp:revision>
  <dcterms:created xsi:type="dcterms:W3CDTF">2026-10-14T02:28:48Z</dcterms:created>
  <dcterms:modified xsi:type="dcterms:W3CDTF">2026-10-14T02:28:48Z</dcterms:modified>
</cp:coreProperties>
</file>